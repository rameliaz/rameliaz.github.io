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 id="2147483670" r:id="rId2"/>
    <p:sldMasterId id="2147483662" r:id="rId3"/>
    <p:sldMasterId id="2147483665" r:id="rId4"/>
    <p:sldMasterId id="2147483663" r:id="rId5"/>
  </p:sldMasterIdLst>
  <p:notesMasterIdLst>
    <p:notesMasterId r:id="rId24"/>
  </p:notesMasterIdLst>
  <p:sldIdLst>
    <p:sldId id="256" r:id="rId6"/>
    <p:sldId id="366" r:id="rId7"/>
    <p:sldId id="367" r:id="rId8"/>
    <p:sldId id="355" r:id="rId9"/>
    <p:sldId id="348" r:id="rId10"/>
    <p:sldId id="340" r:id="rId11"/>
    <p:sldId id="341" r:id="rId12"/>
    <p:sldId id="344" r:id="rId13"/>
    <p:sldId id="342" r:id="rId14"/>
    <p:sldId id="347" r:id="rId15"/>
    <p:sldId id="359" r:id="rId16"/>
    <p:sldId id="360" r:id="rId17"/>
    <p:sldId id="361" r:id="rId18"/>
    <p:sldId id="362" r:id="rId19"/>
    <p:sldId id="363" r:id="rId20"/>
    <p:sldId id="263" r:id="rId21"/>
    <p:sldId id="364" r:id="rId22"/>
    <p:sldId id="365" r:id="rId23"/>
  </p:sldIdLst>
  <p:sldSz cx="12192000" cy="6858000"/>
  <p:notesSz cx="9940925" cy="680878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000000"/>
    <a:srgbClr val="F18700"/>
    <a:srgbClr val="FFC000"/>
    <a:srgbClr val="FFFFFF"/>
    <a:srgbClr val="CCECFF"/>
    <a:srgbClr val="FFFF00"/>
    <a:srgbClr val="FF9933"/>
    <a:srgbClr val="0099FF"/>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45"/>
    <p:restoredTop sz="81235" autoAdjust="0"/>
  </p:normalViewPr>
  <p:slideViewPr>
    <p:cSldViewPr snapToGrid="0" snapToObjects="1" showGuides="1">
      <p:cViewPr varScale="1">
        <p:scale>
          <a:sx n="77" d="100"/>
          <a:sy n="77" d="100"/>
        </p:scale>
        <p:origin x="1037" y="72"/>
      </p:cViewPr>
      <p:guideLst/>
    </p:cSldViewPr>
  </p:slideViewPr>
  <p:notesTextViewPr>
    <p:cViewPr>
      <p:scale>
        <a:sx n="1" d="1"/>
        <a:sy n="1" d="1"/>
      </p:scale>
      <p:origin x="0" y="0"/>
    </p:cViewPr>
  </p:notesTextViewPr>
  <p:notesViewPr>
    <p:cSldViewPr snapToGrid="0" snapToObjects="1">
      <p:cViewPr varScale="1">
        <p:scale>
          <a:sx n="121" d="100"/>
          <a:sy n="121" d="100"/>
        </p:scale>
        <p:origin x="493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4307734" cy="341622"/>
          </a:xfrm>
          <a:prstGeom prst="rect">
            <a:avLst/>
          </a:prstGeom>
        </p:spPr>
        <p:txBody>
          <a:bodyPr vert="horz" lIns="91568" tIns="45784" rIns="91568" bIns="45784" rtlCol="0"/>
          <a:lstStyle>
            <a:lvl1pPr algn="l">
              <a:defRPr sz="1200"/>
            </a:lvl1pPr>
          </a:lstStyle>
          <a:p>
            <a:endParaRPr lang="de-DE"/>
          </a:p>
        </p:txBody>
      </p:sp>
      <p:sp>
        <p:nvSpPr>
          <p:cNvPr id="3" name="Datumsplatzhalter 2"/>
          <p:cNvSpPr>
            <a:spLocks noGrp="1"/>
          </p:cNvSpPr>
          <p:nvPr>
            <p:ph type="dt" idx="1"/>
          </p:nvPr>
        </p:nvSpPr>
        <p:spPr>
          <a:xfrm>
            <a:off x="5630891" y="1"/>
            <a:ext cx="4307734" cy="341622"/>
          </a:xfrm>
          <a:prstGeom prst="rect">
            <a:avLst/>
          </a:prstGeom>
        </p:spPr>
        <p:txBody>
          <a:bodyPr vert="horz" lIns="91568" tIns="45784" rIns="91568" bIns="45784" rtlCol="0"/>
          <a:lstStyle>
            <a:lvl1pPr algn="r">
              <a:defRPr sz="1200"/>
            </a:lvl1pPr>
          </a:lstStyle>
          <a:p>
            <a:fld id="{41C3ABC7-27AC-6D40-86E4-0C355E54A764}" type="datetimeFigureOut">
              <a:rPr lang="de-DE" smtClean="0"/>
              <a:t>25.06.2026</a:t>
            </a:fld>
            <a:endParaRPr lang="de-DE"/>
          </a:p>
        </p:txBody>
      </p:sp>
      <p:sp>
        <p:nvSpPr>
          <p:cNvPr id="4" name="Folienbildplatzhalter 3"/>
          <p:cNvSpPr>
            <a:spLocks noGrp="1" noRot="1" noChangeAspect="1"/>
          </p:cNvSpPr>
          <p:nvPr>
            <p:ph type="sldImg" idx="2"/>
          </p:nvPr>
        </p:nvSpPr>
        <p:spPr>
          <a:xfrm>
            <a:off x="2928938" y="850900"/>
            <a:ext cx="4083050" cy="2297113"/>
          </a:xfrm>
          <a:prstGeom prst="rect">
            <a:avLst/>
          </a:prstGeom>
          <a:noFill/>
          <a:ln w="12700">
            <a:solidFill>
              <a:prstClr val="black"/>
            </a:solidFill>
          </a:ln>
        </p:spPr>
        <p:txBody>
          <a:bodyPr vert="horz" lIns="91568" tIns="45784" rIns="91568" bIns="45784" rtlCol="0" anchor="ctr"/>
          <a:lstStyle/>
          <a:p>
            <a:endParaRPr lang="de-DE"/>
          </a:p>
        </p:txBody>
      </p:sp>
      <p:sp>
        <p:nvSpPr>
          <p:cNvPr id="5" name="Notizenplatzhalter 4"/>
          <p:cNvSpPr>
            <a:spLocks noGrp="1"/>
          </p:cNvSpPr>
          <p:nvPr>
            <p:ph type="body" sz="quarter" idx="3"/>
          </p:nvPr>
        </p:nvSpPr>
        <p:spPr>
          <a:xfrm>
            <a:off x="994093" y="3276730"/>
            <a:ext cx="7952740" cy="2680961"/>
          </a:xfrm>
          <a:prstGeom prst="rect">
            <a:avLst/>
          </a:prstGeom>
        </p:spPr>
        <p:txBody>
          <a:bodyPr vert="horz" lIns="91568" tIns="45784" rIns="91568" bIns="45784"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6467168"/>
            <a:ext cx="4307734" cy="341621"/>
          </a:xfrm>
          <a:prstGeom prst="rect">
            <a:avLst/>
          </a:prstGeom>
        </p:spPr>
        <p:txBody>
          <a:bodyPr vert="horz" lIns="91568" tIns="45784" rIns="91568" bIns="45784" rtlCol="0" anchor="b"/>
          <a:lstStyle>
            <a:lvl1pPr algn="l">
              <a:defRPr sz="1200"/>
            </a:lvl1pPr>
          </a:lstStyle>
          <a:p>
            <a:endParaRPr lang="de-DE"/>
          </a:p>
        </p:txBody>
      </p:sp>
      <p:sp>
        <p:nvSpPr>
          <p:cNvPr id="7" name="Foliennummernplatzhalter 6"/>
          <p:cNvSpPr>
            <a:spLocks noGrp="1"/>
          </p:cNvSpPr>
          <p:nvPr>
            <p:ph type="sldNum" sz="quarter" idx="5"/>
          </p:nvPr>
        </p:nvSpPr>
        <p:spPr>
          <a:xfrm>
            <a:off x="5630891" y="6467168"/>
            <a:ext cx="4307734" cy="341621"/>
          </a:xfrm>
          <a:prstGeom prst="rect">
            <a:avLst/>
          </a:prstGeom>
        </p:spPr>
        <p:txBody>
          <a:bodyPr vert="horz" lIns="91568" tIns="45784" rIns="91568" bIns="45784" rtlCol="0" anchor="b"/>
          <a:lstStyle>
            <a:lvl1pPr algn="r">
              <a:defRPr sz="1200"/>
            </a:lvl1pPr>
          </a:lstStyle>
          <a:p>
            <a:fld id="{9E1CAD0D-262D-F145-A422-6EFA995C3514}" type="slidenum">
              <a:rPr lang="de-DE" smtClean="0"/>
              <a:t>‹#›</a:t>
            </a:fld>
            <a:endParaRPr lang="de-DE"/>
          </a:p>
        </p:txBody>
      </p:sp>
    </p:spTree>
    <p:extLst>
      <p:ext uri="{BB962C8B-B14F-4D97-AF65-F5344CB8AC3E}">
        <p14:creationId xmlns:p14="http://schemas.microsoft.com/office/powerpoint/2010/main" val="3648633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E1CAD0D-262D-F145-A422-6EFA995C3514}" type="slidenum">
              <a:rPr lang="de-DE" smtClean="0"/>
              <a:t>2</a:t>
            </a:fld>
            <a:endParaRPr lang="de-DE"/>
          </a:p>
        </p:txBody>
      </p:sp>
    </p:spTree>
    <p:extLst>
      <p:ext uri="{BB962C8B-B14F-4D97-AF65-F5344CB8AC3E}">
        <p14:creationId xmlns:p14="http://schemas.microsoft.com/office/powerpoint/2010/main" val="684126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E1CAD0D-262D-F145-A422-6EFA995C3514}" type="slidenum">
              <a:rPr lang="de-DE" smtClean="0"/>
              <a:t>3</a:t>
            </a:fld>
            <a:endParaRPr lang="de-DE"/>
          </a:p>
        </p:txBody>
      </p:sp>
    </p:spTree>
    <p:extLst>
      <p:ext uri="{BB962C8B-B14F-4D97-AF65-F5344CB8AC3E}">
        <p14:creationId xmlns:p14="http://schemas.microsoft.com/office/powerpoint/2010/main" val="1984004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E1CAD0D-262D-F145-A422-6EFA995C3514}" type="slidenum">
              <a:rPr lang="de-DE" smtClean="0"/>
              <a:t>4</a:t>
            </a:fld>
            <a:endParaRPr lang="de-DE"/>
          </a:p>
        </p:txBody>
      </p:sp>
    </p:spTree>
    <p:extLst>
      <p:ext uri="{BB962C8B-B14F-4D97-AF65-F5344CB8AC3E}">
        <p14:creationId xmlns:p14="http://schemas.microsoft.com/office/powerpoint/2010/main" val="4243218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E1CAD0D-262D-F145-A422-6EFA995C3514}" type="slidenum">
              <a:rPr lang="de-DE" smtClean="0"/>
              <a:t>5</a:t>
            </a:fld>
            <a:endParaRPr lang="de-DE"/>
          </a:p>
        </p:txBody>
      </p:sp>
    </p:spTree>
    <p:extLst>
      <p:ext uri="{BB962C8B-B14F-4D97-AF65-F5344CB8AC3E}">
        <p14:creationId xmlns:p14="http://schemas.microsoft.com/office/powerpoint/2010/main" val="833969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E1CAD0D-262D-F145-A422-6EFA995C3514}" type="slidenum">
              <a:rPr lang="de-DE" smtClean="0"/>
              <a:t>6</a:t>
            </a:fld>
            <a:endParaRPr lang="de-DE"/>
          </a:p>
        </p:txBody>
      </p:sp>
    </p:spTree>
    <p:extLst>
      <p:ext uri="{BB962C8B-B14F-4D97-AF65-F5344CB8AC3E}">
        <p14:creationId xmlns:p14="http://schemas.microsoft.com/office/powerpoint/2010/main" val="2968247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E1CAD0D-262D-F145-A422-6EFA995C3514}" type="slidenum">
              <a:rPr lang="de-DE" smtClean="0"/>
              <a:t>7</a:t>
            </a:fld>
            <a:endParaRPr lang="de-DE"/>
          </a:p>
        </p:txBody>
      </p:sp>
    </p:spTree>
    <p:extLst>
      <p:ext uri="{BB962C8B-B14F-4D97-AF65-F5344CB8AC3E}">
        <p14:creationId xmlns:p14="http://schemas.microsoft.com/office/powerpoint/2010/main" val="91265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E1CAD0D-262D-F145-A422-6EFA995C3514}" type="slidenum">
              <a:rPr lang="de-DE" smtClean="0"/>
              <a:t>8</a:t>
            </a:fld>
            <a:endParaRPr lang="de-DE"/>
          </a:p>
        </p:txBody>
      </p:sp>
    </p:spTree>
    <p:extLst>
      <p:ext uri="{BB962C8B-B14F-4D97-AF65-F5344CB8AC3E}">
        <p14:creationId xmlns:p14="http://schemas.microsoft.com/office/powerpoint/2010/main" val="1764260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E1CAD0D-262D-F145-A422-6EFA995C3514}" type="slidenum">
              <a:rPr lang="de-DE" smtClean="0"/>
              <a:t>9</a:t>
            </a:fld>
            <a:endParaRPr lang="de-DE"/>
          </a:p>
        </p:txBody>
      </p:sp>
    </p:spTree>
    <p:extLst>
      <p:ext uri="{BB962C8B-B14F-4D97-AF65-F5344CB8AC3E}">
        <p14:creationId xmlns:p14="http://schemas.microsoft.com/office/powerpoint/2010/main" val="2145919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E1CAD0D-262D-F145-A422-6EFA995C3514}" type="slidenum">
              <a:rPr lang="de-DE" smtClean="0"/>
              <a:t>11</a:t>
            </a:fld>
            <a:endParaRPr lang="de-DE"/>
          </a:p>
        </p:txBody>
      </p:sp>
    </p:spTree>
    <p:extLst>
      <p:ext uri="{BB962C8B-B14F-4D97-AF65-F5344CB8AC3E}">
        <p14:creationId xmlns:p14="http://schemas.microsoft.com/office/powerpoint/2010/main" val="1935683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FDEB-5754-FFEA-1C44-916B1DF0995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38C7C03-630E-8957-FA96-58C0C223ABC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4C0A667-8F5D-E6C8-279F-0B06D73B99A3}"/>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5069C443-380E-59FA-4CBA-E3BB4E17C634}"/>
              </a:ext>
            </a:extLst>
          </p:cNvPr>
          <p:cNvSpPr>
            <a:spLocks noGrp="1"/>
          </p:cNvSpPr>
          <p:nvPr>
            <p:ph type="sldNum" sz="quarter" idx="5"/>
          </p:nvPr>
        </p:nvSpPr>
        <p:spPr/>
        <p:txBody>
          <a:bodyPr/>
          <a:lstStyle/>
          <a:p>
            <a:fld id="{9E1CAD0D-262D-F145-A422-6EFA995C3514}" type="slidenum">
              <a:rPr lang="de-DE" smtClean="0"/>
              <a:t>12</a:t>
            </a:fld>
            <a:endParaRPr lang="de-DE"/>
          </a:p>
        </p:txBody>
      </p:sp>
    </p:spTree>
    <p:extLst>
      <p:ext uri="{BB962C8B-B14F-4D97-AF65-F5344CB8AC3E}">
        <p14:creationId xmlns:p14="http://schemas.microsoft.com/office/powerpoint/2010/main" val="1458304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94010-CDD2-8BCA-C6A4-2022998D698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F71E2EF-2992-105C-0EAE-2B36C933837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9EB5D79-C8C7-96CC-F098-AD0060C44C2A}"/>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21F23E2-2E53-6187-8D62-8A431DA8892C}"/>
              </a:ext>
            </a:extLst>
          </p:cNvPr>
          <p:cNvSpPr>
            <a:spLocks noGrp="1"/>
          </p:cNvSpPr>
          <p:nvPr>
            <p:ph type="sldNum" sz="quarter" idx="5"/>
          </p:nvPr>
        </p:nvSpPr>
        <p:spPr/>
        <p:txBody>
          <a:bodyPr/>
          <a:lstStyle/>
          <a:p>
            <a:fld id="{9E1CAD0D-262D-F145-A422-6EFA995C3514}" type="slidenum">
              <a:rPr lang="de-DE" smtClean="0"/>
              <a:t>13</a:t>
            </a:fld>
            <a:endParaRPr lang="de-DE"/>
          </a:p>
        </p:txBody>
      </p:sp>
    </p:spTree>
    <p:extLst>
      <p:ext uri="{BB962C8B-B14F-4D97-AF65-F5344CB8AC3E}">
        <p14:creationId xmlns:p14="http://schemas.microsoft.com/office/powerpoint/2010/main" val="3910839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F69E2-CA6E-2E08-0CCA-A542CFA605A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BC8699F-921B-A807-6CD2-C60F8AF9A0F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EBA4DA4-3C2F-39DF-507D-9ACD190EE81D}"/>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C4D16C02-CD9D-CA66-CDD7-E0EB89280B78}"/>
              </a:ext>
            </a:extLst>
          </p:cNvPr>
          <p:cNvSpPr>
            <a:spLocks noGrp="1"/>
          </p:cNvSpPr>
          <p:nvPr>
            <p:ph type="sldNum" sz="quarter" idx="5"/>
          </p:nvPr>
        </p:nvSpPr>
        <p:spPr/>
        <p:txBody>
          <a:bodyPr/>
          <a:lstStyle/>
          <a:p>
            <a:fld id="{9E1CAD0D-262D-F145-A422-6EFA995C3514}" type="slidenum">
              <a:rPr lang="de-DE" smtClean="0"/>
              <a:t>14</a:t>
            </a:fld>
            <a:endParaRPr lang="de-DE"/>
          </a:p>
        </p:txBody>
      </p:sp>
    </p:spTree>
    <p:extLst>
      <p:ext uri="{BB962C8B-B14F-4D97-AF65-F5344CB8AC3E}">
        <p14:creationId xmlns:p14="http://schemas.microsoft.com/office/powerpoint/2010/main" val="3579446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7E1A-B589-4F1F-FDFA-7DFA4A290E7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220F403-B7C3-F671-573A-39D9D8CD8A8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D470071-F2CA-261C-90F7-936B89239D6D}"/>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AD4507F-9835-9C24-51D8-996599B9A45E}"/>
              </a:ext>
            </a:extLst>
          </p:cNvPr>
          <p:cNvSpPr>
            <a:spLocks noGrp="1"/>
          </p:cNvSpPr>
          <p:nvPr>
            <p:ph type="sldNum" sz="quarter" idx="5"/>
          </p:nvPr>
        </p:nvSpPr>
        <p:spPr/>
        <p:txBody>
          <a:bodyPr/>
          <a:lstStyle/>
          <a:p>
            <a:fld id="{9E1CAD0D-262D-F145-A422-6EFA995C3514}" type="slidenum">
              <a:rPr lang="de-DE" smtClean="0"/>
              <a:t>15</a:t>
            </a:fld>
            <a:endParaRPr lang="de-DE"/>
          </a:p>
        </p:txBody>
      </p:sp>
    </p:spTree>
    <p:extLst>
      <p:ext uri="{BB962C8B-B14F-4D97-AF65-F5344CB8AC3E}">
        <p14:creationId xmlns:p14="http://schemas.microsoft.com/office/powerpoint/2010/main" val="2176859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9E1CAD0D-262D-F145-A422-6EFA995C3514}" type="slidenum">
              <a:rPr lang="de-DE" smtClean="0"/>
              <a:t>16</a:t>
            </a:fld>
            <a:endParaRPr lang="de-DE"/>
          </a:p>
        </p:txBody>
      </p:sp>
    </p:spTree>
    <p:extLst>
      <p:ext uri="{BB962C8B-B14F-4D97-AF65-F5344CB8AC3E}">
        <p14:creationId xmlns:p14="http://schemas.microsoft.com/office/powerpoint/2010/main" val="3608037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BDD24-2B16-1804-6930-0FB56A0C0F9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403FE84-5FF8-FA54-D7DF-70B40D8BDB8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F9C7AE2-FC6E-2163-8F1D-0FE5DE8E45E0}"/>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620B82FC-0D2C-9230-2EDD-9903AA5076B2}"/>
              </a:ext>
            </a:extLst>
          </p:cNvPr>
          <p:cNvSpPr>
            <a:spLocks noGrp="1"/>
          </p:cNvSpPr>
          <p:nvPr>
            <p:ph type="sldNum" sz="quarter" idx="5"/>
          </p:nvPr>
        </p:nvSpPr>
        <p:spPr/>
        <p:txBody>
          <a:bodyPr/>
          <a:lstStyle/>
          <a:p>
            <a:fld id="{9E1CAD0D-262D-F145-A422-6EFA995C3514}" type="slidenum">
              <a:rPr lang="de-DE" smtClean="0"/>
              <a:t>17</a:t>
            </a:fld>
            <a:endParaRPr lang="de-DE"/>
          </a:p>
        </p:txBody>
      </p:sp>
    </p:spTree>
    <p:extLst>
      <p:ext uri="{BB962C8B-B14F-4D97-AF65-F5344CB8AC3E}">
        <p14:creationId xmlns:p14="http://schemas.microsoft.com/office/powerpoint/2010/main" val="796864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AA644-F83E-0CAB-628A-393C0E446EC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AB5530E-45E9-094C-8966-2D0F7EAA1EE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57FAD90-00A6-0C03-6B4A-AEDF895E2257}"/>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7672858C-1657-4222-F1B5-8CF8AA82E354}"/>
              </a:ext>
            </a:extLst>
          </p:cNvPr>
          <p:cNvSpPr>
            <a:spLocks noGrp="1"/>
          </p:cNvSpPr>
          <p:nvPr>
            <p:ph type="sldNum" sz="quarter" idx="5"/>
          </p:nvPr>
        </p:nvSpPr>
        <p:spPr/>
        <p:txBody>
          <a:bodyPr/>
          <a:lstStyle/>
          <a:p>
            <a:fld id="{9E1CAD0D-262D-F145-A422-6EFA995C3514}" type="slidenum">
              <a:rPr lang="de-DE" smtClean="0"/>
              <a:t>18</a:t>
            </a:fld>
            <a:endParaRPr lang="de-DE"/>
          </a:p>
        </p:txBody>
      </p:sp>
    </p:spTree>
    <p:extLst>
      <p:ext uri="{BB962C8B-B14F-4D97-AF65-F5344CB8AC3E}">
        <p14:creationId xmlns:p14="http://schemas.microsoft.com/office/powerpoint/2010/main" val="37467562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äsentationstitel, Bi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8F51A07C-FE1A-F540-8B1D-0E34068DA5FD}"/>
              </a:ext>
            </a:extLst>
          </p:cNvPr>
          <p:cNvPicPr>
            <a:picLocks noChangeAspect="1"/>
          </p:cNvPicPr>
          <p:nvPr userDrawn="1"/>
        </p:nvPicPr>
        <p:blipFill rotWithShape="1">
          <a:blip r:embed="rId2">
            <a:alphaModFix amt="14000"/>
          </a:blip>
          <a:srcRect t="8872" b="1720"/>
          <a:stretch/>
        </p:blipFill>
        <p:spPr>
          <a:xfrm>
            <a:off x="10963933" y="449575"/>
            <a:ext cx="776688" cy="806400"/>
          </a:xfrm>
          <a:prstGeom prst="rect">
            <a:avLst/>
          </a:prstGeom>
        </p:spPr>
      </p:pic>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sp>
        <p:nvSpPr>
          <p:cNvPr id="10" name="Textplatzhalter 4">
            <a:extLst>
              <a:ext uri="{FF2B5EF4-FFF2-40B4-BE49-F238E27FC236}">
                <a16:creationId xmlns:a16="http://schemas.microsoft.com/office/drawing/2014/main" id="{32C0B7F7-E1DB-3246-A459-8E85B8A521F5}"/>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01.11.2020</a:t>
            </a:r>
            <a:endParaRPr lang="de-DE" dirty="0">
              <a:effectLst/>
              <a:latin typeface="Arial" panose="020B0604020202020204" pitchFamily="34" charset="0"/>
            </a:endParaRPr>
          </a:p>
        </p:txBody>
      </p:sp>
      <p:sp>
        <p:nvSpPr>
          <p:cNvPr id="5" name="Textplatzhalter 4">
            <a:extLst>
              <a:ext uri="{FF2B5EF4-FFF2-40B4-BE49-F238E27FC236}">
                <a16:creationId xmlns:a16="http://schemas.microsoft.com/office/drawing/2014/main" id="{479B52C0-6FEE-AE47-AFCB-2DE72A2FC078}"/>
              </a:ext>
            </a:extLst>
          </p:cNvPr>
          <p:cNvSpPr>
            <a:spLocks noGrp="1"/>
          </p:cNvSpPr>
          <p:nvPr>
            <p:ph type="body" sz="quarter" idx="12" hasCustomPrompt="1"/>
          </p:nvPr>
        </p:nvSpPr>
        <p:spPr>
          <a:xfrm>
            <a:off x="446088" y="2160000"/>
            <a:ext cx="4510087" cy="1440000"/>
          </a:xfrm>
          <a:prstGeom prst="rect">
            <a:avLst/>
          </a:prstGeom>
        </p:spPr>
        <p:txBody>
          <a:bodyPr lIns="0" tIns="0" rIns="0" bIns="0"/>
          <a:lstStyle>
            <a:lvl1pPr marL="0" indent="0">
              <a:lnSpc>
                <a:spcPts val="3360"/>
              </a:lnSpc>
              <a:spcBef>
                <a:spcPts val="0"/>
              </a:spcBef>
              <a:buFontTx/>
              <a:buNone/>
              <a:defRPr sz="2800" b="1" i="0" baseline="0">
                <a:solidFill>
                  <a:schemeClr val="bg1"/>
                </a:solidFill>
                <a:latin typeface="Arial" panose="020B0604020202020204" pitchFamily="34" charset="0"/>
              </a:defRPr>
            </a:lvl1pPr>
            <a:lvl2pPr>
              <a:buFontTx/>
              <a:buNone/>
              <a:defRPr sz="2800" b="1" i="0" baseline="0">
                <a:solidFill>
                  <a:schemeClr val="bg1"/>
                </a:solidFill>
                <a:latin typeface="Arial" panose="020B0604020202020204" pitchFamily="34" charset="0"/>
              </a:defRPr>
            </a:lvl2pPr>
            <a:lvl3pPr>
              <a:buFontTx/>
              <a:buNone/>
              <a:defRPr sz="2800" b="1" i="0" baseline="0">
                <a:solidFill>
                  <a:schemeClr val="bg1"/>
                </a:solidFill>
                <a:latin typeface="Arial" panose="020B0604020202020204" pitchFamily="34" charset="0"/>
              </a:defRPr>
            </a:lvl3pPr>
            <a:lvl4pPr>
              <a:buFontTx/>
              <a:buNone/>
              <a:defRPr sz="2800" b="1" i="0" baseline="0">
                <a:solidFill>
                  <a:schemeClr val="bg1"/>
                </a:solidFill>
                <a:latin typeface="Arial" panose="020B0604020202020204" pitchFamily="34" charset="0"/>
              </a:defRPr>
            </a:lvl4pPr>
            <a:lvl5pPr>
              <a:buFontTx/>
              <a:buNone/>
              <a:defRPr sz="2800" b="1" i="0" baseline="0">
                <a:solidFill>
                  <a:schemeClr val="bg1"/>
                </a:solidFill>
                <a:latin typeface="Arial" panose="020B0604020202020204" pitchFamily="34" charset="0"/>
              </a:defRPr>
            </a:lvl5pPr>
          </a:lstStyle>
          <a:p>
            <a:r>
              <a:rPr lang="de-DE" b="1" dirty="0">
                <a:effectLst/>
                <a:latin typeface="Arial" panose="020B0604020202020204" pitchFamily="34" charset="0"/>
              </a:rPr>
              <a:t>Präsentationstitel</a:t>
            </a:r>
            <a:br>
              <a:rPr lang="de-DE" b="1" dirty="0">
                <a:effectLst/>
                <a:latin typeface="Arial" panose="020B0604020202020204" pitchFamily="34" charset="0"/>
              </a:rPr>
            </a:br>
            <a:r>
              <a:rPr lang="de-DE" b="1" dirty="0">
                <a:effectLst/>
                <a:latin typeface="Arial" panose="020B0604020202020204" pitchFamily="34" charset="0"/>
              </a:rPr>
              <a:t>Zeile 2 des Titels</a:t>
            </a:r>
            <a:endParaRPr lang="de-DE" dirty="0">
              <a:effectLst/>
              <a:latin typeface="Arial" panose="020B0604020202020204" pitchFamily="34" charset="0"/>
            </a:endParaRPr>
          </a:p>
        </p:txBody>
      </p:sp>
      <p:sp>
        <p:nvSpPr>
          <p:cNvPr id="13" name="Textplatzhalter 12">
            <a:extLst>
              <a:ext uri="{FF2B5EF4-FFF2-40B4-BE49-F238E27FC236}">
                <a16:creationId xmlns:a16="http://schemas.microsoft.com/office/drawing/2014/main" id="{27521B66-FCA7-E64B-87D2-BEED9E9EEE7D}"/>
              </a:ext>
            </a:extLst>
          </p:cNvPr>
          <p:cNvSpPr>
            <a:spLocks noGrp="1"/>
          </p:cNvSpPr>
          <p:nvPr>
            <p:ph type="body" sz="quarter" idx="13"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marL="0" indent="0">
              <a:lnSpc>
                <a:spcPct val="88000"/>
              </a:lnSpc>
              <a:spcBef>
                <a:spcPts val="0"/>
              </a:spcBef>
              <a:buFontTx/>
              <a:buNone/>
            </a:pPr>
            <a:r>
              <a:rPr lang="de-DE" sz="680" b="1" i="0" baseline="0" dirty="0">
                <a:latin typeface="Arial" panose="020B0604020202020204" pitchFamily="34" charset="0"/>
              </a:rPr>
              <a:t>ÜBERSCHRIFT / TITEL / EINRICHTUNG XY</a:t>
            </a:r>
          </a:p>
        </p:txBody>
      </p:sp>
      <p:sp>
        <p:nvSpPr>
          <p:cNvPr id="15" name="Bildplatzhalter 3">
            <a:extLst>
              <a:ext uri="{FF2B5EF4-FFF2-40B4-BE49-F238E27FC236}">
                <a16:creationId xmlns:a16="http://schemas.microsoft.com/office/drawing/2014/main" id="{4C49311C-1CA8-6441-8EF9-44421C1037DF}"/>
              </a:ext>
            </a:extLst>
          </p:cNvPr>
          <p:cNvSpPr>
            <a:spLocks noGrp="1"/>
          </p:cNvSpPr>
          <p:nvPr>
            <p:ph type="pic" sz="quarter" idx="10"/>
          </p:nvPr>
        </p:nvSpPr>
        <p:spPr>
          <a:xfrm>
            <a:off x="5374800" y="1484313"/>
            <a:ext cx="6817200" cy="5373687"/>
          </a:xfrm>
          <a:prstGeom prst="rect">
            <a:avLst/>
          </a:prstGeom>
          <a:solidFill>
            <a:schemeClr val="accent2"/>
          </a:solidFill>
        </p:spPr>
        <p:txBody>
          <a:bodyPr anchor="ctr" anchorCtr="0"/>
          <a:lstStyle>
            <a:lvl1pPr algn="ctr">
              <a:buFontTx/>
              <a:buNone/>
              <a:defRPr sz="800" baseline="0"/>
            </a:lvl1pPr>
          </a:lstStyle>
          <a:p>
            <a:endParaRPr lang="de-DE" dirty="0"/>
          </a:p>
        </p:txBody>
      </p:sp>
    </p:spTree>
    <p:extLst>
      <p:ext uri="{BB962C8B-B14F-4D97-AF65-F5344CB8AC3E}">
        <p14:creationId xmlns:p14="http://schemas.microsoft.com/office/powerpoint/2010/main" val="3098013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äsentationstitel, Bild, LogoTeileinheit">
    <p:spTree>
      <p:nvGrpSpPr>
        <p:cNvPr id="1" name=""/>
        <p:cNvGrpSpPr/>
        <p:nvPr/>
      </p:nvGrpSpPr>
      <p:grpSpPr>
        <a:xfrm>
          <a:off x="0" y="0"/>
          <a:ext cx="0" cy="0"/>
          <a:chOff x="0" y="0"/>
          <a:chExt cx="0" cy="0"/>
        </a:xfrm>
      </p:grpSpPr>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sp>
        <p:nvSpPr>
          <p:cNvPr id="4" name="Bildplatzhalter 3">
            <a:extLst>
              <a:ext uri="{FF2B5EF4-FFF2-40B4-BE49-F238E27FC236}">
                <a16:creationId xmlns:a16="http://schemas.microsoft.com/office/drawing/2014/main" id="{28A3018A-0C50-1346-920A-3CC5ADBF331A}"/>
              </a:ext>
            </a:extLst>
          </p:cNvPr>
          <p:cNvSpPr>
            <a:spLocks noGrp="1"/>
          </p:cNvSpPr>
          <p:nvPr>
            <p:ph type="pic" sz="quarter" idx="10"/>
          </p:nvPr>
        </p:nvSpPr>
        <p:spPr>
          <a:xfrm>
            <a:off x="5374800" y="1484313"/>
            <a:ext cx="6817200" cy="5373687"/>
          </a:xfrm>
          <a:prstGeom prst="rect">
            <a:avLst/>
          </a:prstGeom>
          <a:solidFill>
            <a:schemeClr val="accent2"/>
          </a:solidFill>
        </p:spPr>
        <p:txBody>
          <a:bodyPr anchor="ctr" anchorCtr="0"/>
          <a:lstStyle>
            <a:lvl1pPr algn="ctr">
              <a:buFontTx/>
              <a:buNone/>
              <a:defRPr sz="800" baseline="0"/>
            </a:lvl1pPr>
          </a:lstStyle>
          <a:p>
            <a:endParaRPr lang="de-DE" dirty="0"/>
          </a:p>
        </p:txBody>
      </p:sp>
      <p:sp>
        <p:nvSpPr>
          <p:cNvPr id="11" name="Textplatzhalter 12">
            <a:extLst>
              <a:ext uri="{FF2B5EF4-FFF2-40B4-BE49-F238E27FC236}">
                <a16:creationId xmlns:a16="http://schemas.microsoft.com/office/drawing/2014/main" id="{55472BC4-D049-4B41-A87B-CE172FA5E285}"/>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marL="0" indent="0">
              <a:lnSpc>
                <a:spcPct val="88000"/>
              </a:lnSpc>
              <a:spcBef>
                <a:spcPts val="0"/>
              </a:spcBef>
              <a:buFontTx/>
              <a:buNone/>
            </a:pPr>
            <a:r>
              <a:rPr lang="de-DE" sz="680" b="1" i="0" baseline="0" dirty="0">
                <a:latin typeface="Arial" panose="020B0604020202020204" pitchFamily="34" charset="0"/>
              </a:rPr>
              <a:t>ÜBERSCHRIFT / TITEL / EINRICHTUNG XY</a:t>
            </a:r>
          </a:p>
        </p:txBody>
      </p:sp>
      <p:sp>
        <p:nvSpPr>
          <p:cNvPr id="15" name="Bildplatzhalter 6">
            <a:extLst>
              <a:ext uri="{FF2B5EF4-FFF2-40B4-BE49-F238E27FC236}">
                <a16:creationId xmlns:a16="http://schemas.microsoft.com/office/drawing/2014/main" id="{9E3EC0D9-ADF9-484A-8AF7-707A2C63BA89}"/>
              </a:ext>
            </a:extLst>
          </p:cNvPr>
          <p:cNvSpPr>
            <a:spLocks noGrp="1"/>
          </p:cNvSpPr>
          <p:nvPr>
            <p:ph type="pic" sz="quarter" idx="13"/>
          </p:nvPr>
        </p:nvSpPr>
        <p:spPr>
          <a:xfrm>
            <a:off x="10469881" y="613578"/>
            <a:ext cx="886967" cy="455148"/>
          </a:xfrm>
          <a:prstGeom prst="rect">
            <a:avLst/>
          </a:prstGeom>
        </p:spPr>
        <p:txBody>
          <a:bodyPr anchor="ctr" anchorCtr="0"/>
          <a:lstStyle>
            <a:lvl1pPr algn="ctr">
              <a:buFontTx/>
              <a:buNone/>
              <a:defRPr sz="800" baseline="0"/>
            </a:lvl1pPr>
          </a:lstStyle>
          <a:p>
            <a:endParaRPr lang="de-DE" dirty="0"/>
          </a:p>
        </p:txBody>
      </p:sp>
      <p:sp>
        <p:nvSpPr>
          <p:cNvPr id="16" name="Textplatzhalter 4">
            <a:extLst>
              <a:ext uri="{FF2B5EF4-FFF2-40B4-BE49-F238E27FC236}">
                <a16:creationId xmlns:a16="http://schemas.microsoft.com/office/drawing/2014/main" id="{461E02B6-4FE8-A346-805E-7D467048D9A5}"/>
              </a:ext>
            </a:extLst>
          </p:cNvPr>
          <p:cNvSpPr>
            <a:spLocks noGrp="1"/>
          </p:cNvSpPr>
          <p:nvPr>
            <p:ph type="body" sz="quarter" idx="12" hasCustomPrompt="1"/>
          </p:nvPr>
        </p:nvSpPr>
        <p:spPr>
          <a:xfrm>
            <a:off x="446088" y="2160000"/>
            <a:ext cx="4510087" cy="1440000"/>
          </a:xfrm>
          <a:prstGeom prst="rect">
            <a:avLst/>
          </a:prstGeom>
        </p:spPr>
        <p:txBody>
          <a:bodyPr lIns="0" tIns="0" rIns="0" bIns="0"/>
          <a:lstStyle>
            <a:lvl1pPr marL="0" indent="0">
              <a:lnSpc>
                <a:spcPts val="3360"/>
              </a:lnSpc>
              <a:spcBef>
                <a:spcPts val="0"/>
              </a:spcBef>
              <a:buFontTx/>
              <a:buNone/>
              <a:defRPr sz="2800" b="1" i="0" baseline="0">
                <a:solidFill>
                  <a:schemeClr val="bg1"/>
                </a:solidFill>
                <a:latin typeface="Arial" panose="020B0604020202020204" pitchFamily="34" charset="0"/>
              </a:defRPr>
            </a:lvl1pPr>
            <a:lvl2pPr>
              <a:buFontTx/>
              <a:buNone/>
              <a:defRPr sz="2800" b="1" i="0" baseline="0">
                <a:solidFill>
                  <a:schemeClr val="bg1"/>
                </a:solidFill>
                <a:latin typeface="Arial" panose="020B0604020202020204" pitchFamily="34" charset="0"/>
              </a:defRPr>
            </a:lvl2pPr>
            <a:lvl3pPr>
              <a:buFontTx/>
              <a:buNone/>
              <a:defRPr sz="2800" b="1" i="0" baseline="0">
                <a:solidFill>
                  <a:schemeClr val="bg1"/>
                </a:solidFill>
                <a:latin typeface="Arial" panose="020B0604020202020204" pitchFamily="34" charset="0"/>
              </a:defRPr>
            </a:lvl3pPr>
            <a:lvl4pPr>
              <a:buFontTx/>
              <a:buNone/>
              <a:defRPr sz="2800" b="1" i="0" baseline="0">
                <a:solidFill>
                  <a:schemeClr val="bg1"/>
                </a:solidFill>
                <a:latin typeface="Arial" panose="020B0604020202020204" pitchFamily="34" charset="0"/>
              </a:defRPr>
            </a:lvl4pPr>
            <a:lvl5pPr>
              <a:buFontTx/>
              <a:buNone/>
              <a:defRPr sz="2800" b="1" i="0" baseline="0">
                <a:solidFill>
                  <a:schemeClr val="bg1"/>
                </a:solidFill>
                <a:latin typeface="Arial" panose="020B0604020202020204" pitchFamily="34" charset="0"/>
              </a:defRPr>
            </a:lvl5pPr>
          </a:lstStyle>
          <a:p>
            <a:r>
              <a:rPr lang="de-DE" b="1" dirty="0">
                <a:effectLst/>
                <a:latin typeface="Arial" panose="020B0604020202020204" pitchFamily="34" charset="0"/>
              </a:rPr>
              <a:t>Präsentationstitel</a:t>
            </a:r>
            <a:br>
              <a:rPr lang="de-DE" b="1" dirty="0">
                <a:effectLst/>
                <a:latin typeface="Arial" panose="020B0604020202020204" pitchFamily="34" charset="0"/>
              </a:rPr>
            </a:br>
            <a:r>
              <a:rPr lang="de-DE" b="1" dirty="0">
                <a:effectLst/>
                <a:latin typeface="Arial" panose="020B0604020202020204" pitchFamily="34" charset="0"/>
              </a:rPr>
              <a:t>Zeile 2 des Titels</a:t>
            </a:r>
            <a:endParaRPr lang="de-DE" dirty="0">
              <a:effectLst/>
              <a:latin typeface="Arial" panose="020B0604020202020204" pitchFamily="34" charset="0"/>
            </a:endParaRPr>
          </a:p>
        </p:txBody>
      </p:sp>
      <p:sp>
        <p:nvSpPr>
          <p:cNvPr id="17" name="Textplatzhalter 4">
            <a:extLst>
              <a:ext uri="{FF2B5EF4-FFF2-40B4-BE49-F238E27FC236}">
                <a16:creationId xmlns:a16="http://schemas.microsoft.com/office/drawing/2014/main" id="{80A05923-C642-2E4E-840A-327720B765D1}"/>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01.11.2020</a:t>
            </a:r>
            <a:endParaRPr lang="de-DE" dirty="0">
              <a:effectLst/>
              <a:latin typeface="Arial" panose="020B0604020202020204" pitchFamily="34" charset="0"/>
            </a:endParaRPr>
          </a:p>
        </p:txBody>
      </p:sp>
    </p:spTree>
    <p:extLst>
      <p:ext uri="{BB962C8B-B14F-4D97-AF65-F5344CB8AC3E}">
        <p14:creationId xmlns:p14="http://schemas.microsoft.com/office/powerpoint/2010/main" val="3898159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äsentationstitel">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21FD8A1D-ABA2-9545-8F6F-74DA8BEF4C96}"/>
              </a:ext>
            </a:extLst>
          </p:cNvPr>
          <p:cNvSpPr/>
          <p:nvPr userDrawn="1"/>
        </p:nvSpPr>
        <p:spPr>
          <a:xfrm>
            <a:off x="5376454" y="1484313"/>
            <a:ext cx="6815545" cy="5373687"/>
          </a:xfrm>
          <a:prstGeom prst="rect">
            <a:avLst/>
          </a:prstGeom>
          <a:solidFill>
            <a:schemeClr val="accent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pic>
        <p:nvPicPr>
          <p:cNvPr id="4" name="Grafik 3">
            <a:extLst>
              <a:ext uri="{FF2B5EF4-FFF2-40B4-BE49-F238E27FC236}">
                <a16:creationId xmlns:a16="http://schemas.microsoft.com/office/drawing/2014/main" id="{06968607-CF30-B14E-8DDB-DAB295493CFF}"/>
              </a:ext>
            </a:extLst>
          </p:cNvPr>
          <p:cNvPicPr>
            <a:picLocks noChangeAspect="1"/>
          </p:cNvPicPr>
          <p:nvPr userDrawn="1"/>
        </p:nvPicPr>
        <p:blipFill>
          <a:blip r:embed="rId2">
            <a:alphaModFix/>
          </a:blip>
          <a:stretch>
            <a:fillRect/>
          </a:stretch>
        </p:blipFill>
        <p:spPr>
          <a:xfrm>
            <a:off x="8648700" y="2743200"/>
            <a:ext cx="3543300" cy="4114800"/>
          </a:xfrm>
          <a:prstGeom prst="rect">
            <a:avLst/>
          </a:prstGeom>
        </p:spPr>
      </p:pic>
      <p:sp>
        <p:nvSpPr>
          <p:cNvPr id="11" name="Textplatzhalter 4">
            <a:extLst>
              <a:ext uri="{FF2B5EF4-FFF2-40B4-BE49-F238E27FC236}">
                <a16:creationId xmlns:a16="http://schemas.microsoft.com/office/drawing/2014/main" id="{9AD86DE8-5751-A440-B2C4-58BF4A19C043}"/>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01.11.2020</a:t>
            </a:r>
            <a:endParaRPr lang="de-DE" dirty="0">
              <a:effectLst/>
              <a:latin typeface="Arial" panose="020B0604020202020204" pitchFamily="34" charset="0"/>
            </a:endParaRPr>
          </a:p>
        </p:txBody>
      </p:sp>
      <p:sp>
        <p:nvSpPr>
          <p:cNvPr id="8" name="Textplatzhalter 4">
            <a:extLst>
              <a:ext uri="{FF2B5EF4-FFF2-40B4-BE49-F238E27FC236}">
                <a16:creationId xmlns:a16="http://schemas.microsoft.com/office/drawing/2014/main" id="{8FD44F83-A00E-0042-991C-25703825541C}"/>
              </a:ext>
            </a:extLst>
          </p:cNvPr>
          <p:cNvSpPr>
            <a:spLocks noGrp="1"/>
          </p:cNvSpPr>
          <p:nvPr>
            <p:ph type="body" sz="quarter" idx="12" hasCustomPrompt="1"/>
          </p:nvPr>
        </p:nvSpPr>
        <p:spPr>
          <a:xfrm>
            <a:off x="446088" y="2160000"/>
            <a:ext cx="4510087" cy="1440000"/>
          </a:xfrm>
          <a:prstGeom prst="rect">
            <a:avLst/>
          </a:prstGeom>
        </p:spPr>
        <p:txBody>
          <a:bodyPr lIns="0" tIns="0" rIns="0" bIns="0"/>
          <a:lstStyle>
            <a:lvl1pPr marL="0" indent="0">
              <a:lnSpc>
                <a:spcPts val="3360"/>
              </a:lnSpc>
              <a:spcBef>
                <a:spcPts val="0"/>
              </a:spcBef>
              <a:buFontTx/>
              <a:buNone/>
              <a:defRPr sz="2800" b="1" i="0" baseline="0">
                <a:solidFill>
                  <a:schemeClr val="bg1"/>
                </a:solidFill>
                <a:latin typeface="Arial" panose="020B0604020202020204" pitchFamily="34" charset="0"/>
              </a:defRPr>
            </a:lvl1pPr>
            <a:lvl2pPr>
              <a:buFontTx/>
              <a:buNone/>
              <a:defRPr sz="2800" b="1" i="0" baseline="0">
                <a:solidFill>
                  <a:schemeClr val="bg1"/>
                </a:solidFill>
                <a:latin typeface="Arial" panose="020B0604020202020204" pitchFamily="34" charset="0"/>
              </a:defRPr>
            </a:lvl2pPr>
            <a:lvl3pPr>
              <a:buFontTx/>
              <a:buNone/>
              <a:defRPr sz="2800" b="1" i="0" baseline="0">
                <a:solidFill>
                  <a:schemeClr val="bg1"/>
                </a:solidFill>
                <a:latin typeface="Arial" panose="020B0604020202020204" pitchFamily="34" charset="0"/>
              </a:defRPr>
            </a:lvl3pPr>
            <a:lvl4pPr>
              <a:buFontTx/>
              <a:buNone/>
              <a:defRPr sz="2800" b="1" i="0" baseline="0">
                <a:solidFill>
                  <a:schemeClr val="bg1"/>
                </a:solidFill>
                <a:latin typeface="Arial" panose="020B0604020202020204" pitchFamily="34" charset="0"/>
              </a:defRPr>
            </a:lvl4pPr>
            <a:lvl5pPr>
              <a:buFontTx/>
              <a:buNone/>
              <a:defRPr sz="2800" b="1" i="0" baseline="0">
                <a:solidFill>
                  <a:schemeClr val="bg1"/>
                </a:solidFill>
                <a:latin typeface="Arial" panose="020B0604020202020204" pitchFamily="34" charset="0"/>
              </a:defRPr>
            </a:lvl5pPr>
          </a:lstStyle>
          <a:p>
            <a:r>
              <a:rPr lang="de-DE" b="1" dirty="0">
                <a:effectLst/>
                <a:latin typeface="Arial" panose="020B0604020202020204" pitchFamily="34" charset="0"/>
              </a:rPr>
              <a:t>Präsentationstitel</a:t>
            </a:r>
            <a:br>
              <a:rPr lang="de-DE" b="1" dirty="0">
                <a:effectLst/>
                <a:latin typeface="Arial" panose="020B0604020202020204" pitchFamily="34" charset="0"/>
              </a:rPr>
            </a:br>
            <a:r>
              <a:rPr lang="de-DE" b="1" dirty="0">
                <a:effectLst/>
                <a:latin typeface="Arial" panose="020B0604020202020204" pitchFamily="34" charset="0"/>
              </a:rPr>
              <a:t>Zeile 2 des Titels</a:t>
            </a:r>
            <a:endParaRPr lang="de-DE" dirty="0">
              <a:effectLst/>
              <a:latin typeface="Arial" panose="020B0604020202020204" pitchFamily="34" charset="0"/>
            </a:endParaRPr>
          </a:p>
        </p:txBody>
      </p:sp>
      <p:sp>
        <p:nvSpPr>
          <p:cNvPr id="13" name="Textplatzhalter 12">
            <a:extLst>
              <a:ext uri="{FF2B5EF4-FFF2-40B4-BE49-F238E27FC236}">
                <a16:creationId xmlns:a16="http://schemas.microsoft.com/office/drawing/2014/main" id="{45B08AD0-8199-4442-8676-028CF952148C}"/>
              </a:ext>
            </a:extLst>
          </p:cNvPr>
          <p:cNvSpPr>
            <a:spLocks noGrp="1"/>
          </p:cNvSpPr>
          <p:nvPr>
            <p:ph type="body" sz="quarter" idx="13"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marL="0" indent="0">
              <a:lnSpc>
                <a:spcPct val="88000"/>
              </a:lnSpc>
              <a:spcBef>
                <a:spcPts val="0"/>
              </a:spcBef>
              <a:buFontTx/>
              <a:buNone/>
            </a:pPr>
            <a:r>
              <a:rPr lang="de-DE" sz="680" b="1" i="0" baseline="0" dirty="0">
                <a:latin typeface="Arial" panose="020B0604020202020204" pitchFamily="34" charset="0"/>
              </a:rPr>
              <a:t>ÜBERSCHRIFT / TITEL / EINRICHTUNG XY</a:t>
            </a:r>
          </a:p>
        </p:txBody>
      </p:sp>
    </p:spTree>
    <p:extLst>
      <p:ext uri="{BB962C8B-B14F-4D97-AF65-F5344CB8AC3E}">
        <p14:creationId xmlns:p14="http://schemas.microsoft.com/office/powerpoint/2010/main" val="387477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äsentationstitel, LogoTeileinhei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A01B540-1535-644B-B828-DE3173BE5EAF}"/>
              </a:ext>
            </a:extLst>
          </p:cNvPr>
          <p:cNvSpPr/>
          <p:nvPr userDrawn="1"/>
        </p:nvSpPr>
        <p:spPr>
          <a:xfrm>
            <a:off x="5376454" y="1484313"/>
            <a:ext cx="6815545" cy="5373687"/>
          </a:xfrm>
          <a:prstGeom prst="rect">
            <a:avLst/>
          </a:prstGeom>
          <a:solidFill>
            <a:schemeClr val="accent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pic>
        <p:nvPicPr>
          <p:cNvPr id="4" name="Grafik 3">
            <a:extLst>
              <a:ext uri="{FF2B5EF4-FFF2-40B4-BE49-F238E27FC236}">
                <a16:creationId xmlns:a16="http://schemas.microsoft.com/office/drawing/2014/main" id="{06968607-CF30-B14E-8DDB-DAB295493CFF}"/>
              </a:ext>
            </a:extLst>
          </p:cNvPr>
          <p:cNvPicPr>
            <a:picLocks noChangeAspect="1"/>
          </p:cNvPicPr>
          <p:nvPr userDrawn="1"/>
        </p:nvPicPr>
        <p:blipFill>
          <a:blip r:embed="rId2">
            <a:alphaModFix/>
          </a:blip>
          <a:stretch>
            <a:fillRect/>
          </a:stretch>
        </p:blipFill>
        <p:spPr>
          <a:xfrm>
            <a:off x="8648700" y="2743200"/>
            <a:ext cx="3543300" cy="4114800"/>
          </a:xfrm>
          <a:prstGeom prst="rect">
            <a:avLst/>
          </a:prstGeom>
        </p:spPr>
      </p:pic>
      <p:sp>
        <p:nvSpPr>
          <p:cNvPr id="11" name="Textplatzhalter 4">
            <a:extLst>
              <a:ext uri="{FF2B5EF4-FFF2-40B4-BE49-F238E27FC236}">
                <a16:creationId xmlns:a16="http://schemas.microsoft.com/office/drawing/2014/main" id="{9AD86DE8-5751-A440-B2C4-58BF4A19C043}"/>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01.11.2020</a:t>
            </a:r>
            <a:endParaRPr lang="de-DE" dirty="0">
              <a:effectLst/>
              <a:latin typeface="Arial" panose="020B0604020202020204" pitchFamily="34" charset="0"/>
            </a:endParaRPr>
          </a:p>
        </p:txBody>
      </p:sp>
      <p:sp>
        <p:nvSpPr>
          <p:cNvPr id="8" name="Textplatzhalter 4">
            <a:extLst>
              <a:ext uri="{FF2B5EF4-FFF2-40B4-BE49-F238E27FC236}">
                <a16:creationId xmlns:a16="http://schemas.microsoft.com/office/drawing/2014/main" id="{8FD44F83-A00E-0042-991C-25703825541C}"/>
              </a:ext>
            </a:extLst>
          </p:cNvPr>
          <p:cNvSpPr>
            <a:spLocks noGrp="1"/>
          </p:cNvSpPr>
          <p:nvPr>
            <p:ph type="body" sz="quarter" idx="12" hasCustomPrompt="1"/>
          </p:nvPr>
        </p:nvSpPr>
        <p:spPr>
          <a:xfrm>
            <a:off x="446088" y="2160000"/>
            <a:ext cx="4510087" cy="1440000"/>
          </a:xfrm>
          <a:prstGeom prst="rect">
            <a:avLst/>
          </a:prstGeom>
        </p:spPr>
        <p:txBody>
          <a:bodyPr lIns="0" tIns="0" rIns="0" bIns="0"/>
          <a:lstStyle>
            <a:lvl1pPr marL="0" indent="0">
              <a:lnSpc>
                <a:spcPts val="3360"/>
              </a:lnSpc>
              <a:spcBef>
                <a:spcPts val="0"/>
              </a:spcBef>
              <a:buFontTx/>
              <a:buNone/>
              <a:defRPr sz="2800" b="1" i="0" baseline="0">
                <a:solidFill>
                  <a:schemeClr val="bg1"/>
                </a:solidFill>
                <a:latin typeface="Arial" panose="020B0604020202020204" pitchFamily="34" charset="0"/>
              </a:defRPr>
            </a:lvl1pPr>
            <a:lvl2pPr>
              <a:buFontTx/>
              <a:buNone/>
              <a:defRPr sz="2800" b="1" i="0" baseline="0">
                <a:solidFill>
                  <a:schemeClr val="bg1"/>
                </a:solidFill>
                <a:latin typeface="Arial" panose="020B0604020202020204" pitchFamily="34" charset="0"/>
              </a:defRPr>
            </a:lvl2pPr>
            <a:lvl3pPr>
              <a:buFontTx/>
              <a:buNone/>
              <a:defRPr sz="2800" b="1" i="0" baseline="0">
                <a:solidFill>
                  <a:schemeClr val="bg1"/>
                </a:solidFill>
                <a:latin typeface="Arial" panose="020B0604020202020204" pitchFamily="34" charset="0"/>
              </a:defRPr>
            </a:lvl3pPr>
            <a:lvl4pPr>
              <a:buFontTx/>
              <a:buNone/>
              <a:defRPr sz="2800" b="1" i="0" baseline="0">
                <a:solidFill>
                  <a:schemeClr val="bg1"/>
                </a:solidFill>
                <a:latin typeface="Arial" panose="020B0604020202020204" pitchFamily="34" charset="0"/>
              </a:defRPr>
            </a:lvl4pPr>
            <a:lvl5pPr>
              <a:buFontTx/>
              <a:buNone/>
              <a:defRPr sz="2800" b="1" i="0" baseline="0">
                <a:solidFill>
                  <a:schemeClr val="bg1"/>
                </a:solidFill>
                <a:latin typeface="Arial" panose="020B0604020202020204" pitchFamily="34" charset="0"/>
              </a:defRPr>
            </a:lvl5pPr>
          </a:lstStyle>
          <a:p>
            <a:r>
              <a:rPr lang="de-DE" b="1" dirty="0">
                <a:effectLst/>
                <a:latin typeface="Arial" panose="020B0604020202020204" pitchFamily="34" charset="0"/>
              </a:rPr>
              <a:t>Präsentationstitel</a:t>
            </a:r>
            <a:br>
              <a:rPr lang="de-DE" b="1" dirty="0">
                <a:effectLst/>
                <a:latin typeface="Arial" panose="020B0604020202020204" pitchFamily="34" charset="0"/>
              </a:rPr>
            </a:br>
            <a:r>
              <a:rPr lang="de-DE" b="1" dirty="0">
                <a:effectLst/>
                <a:latin typeface="Arial" panose="020B0604020202020204" pitchFamily="34" charset="0"/>
              </a:rPr>
              <a:t>Zeile 2 des Titels</a:t>
            </a:r>
            <a:endParaRPr lang="de-DE" dirty="0">
              <a:effectLst/>
              <a:latin typeface="Arial" panose="020B0604020202020204" pitchFamily="34" charset="0"/>
            </a:endParaRPr>
          </a:p>
        </p:txBody>
      </p:sp>
      <p:sp>
        <p:nvSpPr>
          <p:cNvPr id="13" name="Textplatzhalter 12">
            <a:extLst>
              <a:ext uri="{FF2B5EF4-FFF2-40B4-BE49-F238E27FC236}">
                <a16:creationId xmlns:a16="http://schemas.microsoft.com/office/drawing/2014/main" id="{B58FDCD6-6E84-7E41-A4E8-F8C848B32627}"/>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marL="0" indent="0">
              <a:lnSpc>
                <a:spcPct val="88000"/>
              </a:lnSpc>
              <a:spcBef>
                <a:spcPts val="0"/>
              </a:spcBef>
              <a:buFontTx/>
              <a:buNone/>
            </a:pPr>
            <a:r>
              <a:rPr lang="de-DE" sz="680" b="1" i="0" baseline="0" dirty="0">
                <a:latin typeface="Arial" panose="020B0604020202020204" pitchFamily="34" charset="0"/>
              </a:rPr>
              <a:t>ÜBERSCHRIFT / TITEL / EINRICHTUNG XY</a:t>
            </a:r>
          </a:p>
        </p:txBody>
      </p:sp>
      <p:sp>
        <p:nvSpPr>
          <p:cNvPr id="17" name="Bildplatzhalter 6">
            <a:extLst>
              <a:ext uri="{FF2B5EF4-FFF2-40B4-BE49-F238E27FC236}">
                <a16:creationId xmlns:a16="http://schemas.microsoft.com/office/drawing/2014/main" id="{CB3A64BB-66BD-574D-8D10-B6B91D0A2D65}"/>
              </a:ext>
            </a:extLst>
          </p:cNvPr>
          <p:cNvSpPr>
            <a:spLocks noGrp="1"/>
          </p:cNvSpPr>
          <p:nvPr>
            <p:ph type="pic" sz="quarter" idx="13"/>
          </p:nvPr>
        </p:nvSpPr>
        <p:spPr>
          <a:xfrm>
            <a:off x="10469881" y="613578"/>
            <a:ext cx="886967" cy="455148"/>
          </a:xfrm>
          <a:prstGeom prst="rect">
            <a:avLst/>
          </a:prstGeom>
        </p:spPr>
        <p:txBody>
          <a:bodyPr anchor="ctr" anchorCtr="0"/>
          <a:lstStyle>
            <a:lvl1pPr algn="ctr">
              <a:buFontTx/>
              <a:buNone/>
              <a:defRPr sz="800" baseline="0"/>
            </a:lvl1pPr>
          </a:lstStyle>
          <a:p>
            <a:endParaRPr lang="de-DE" dirty="0"/>
          </a:p>
        </p:txBody>
      </p:sp>
    </p:spTree>
    <p:extLst>
      <p:ext uri="{BB962C8B-B14F-4D97-AF65-F5344CB8AC3E}">
        <p14:creationId xmlns:p14="http://schemas.microsoft.com/office/powerpoint/2010/main" val="208614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äsentationstitel">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2C29D292-4E88-B546-8B64-89CF1C8E3D5B}"/>
              </a:ext>
            </a:extLst>
          </p:cNvPr>
          <p:cNvSpPr/>
          <p:nvPr userDrawn="1"/>
        </p:nvSpPr>
        <p:spPr>
          <a:xfrm>
            <a:off x="5376454" y="1484313"/>
            <a:ext cx="6815545" cy="5373687"/>
          </a:xfrm>
          <a:prstGeom prst="rect">
            <a:avLst/>
          </a:prstGeom>
          <a:solidFill>
            <a:schemeClr val="accent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pic>
        <p:nvPicPr>
          <p:cNvPr id="4" name="Grafik 3">
            <a:extLst>
              <a:ext uri="{FF2B5EF4-FFF2-40B4-BE49-F238E27FC236}">
                <a16:creationId xmlns:a16="http://schemas.microsoft.com/office/drawing/2014/main" id="{06968607-CF30-B14E-8DDB-DAB295493CFF}"/>
              </a:ext>
            </a:extLst>
          </p:cNvPr>
          <p:cNvPicPr>
            <a:picLocks noChangeAspect="1"/>
          </p:cNvPicPr>
          <p:nvPr userDrawn="1"/>
        </p:nvPicPr>
        <p:blipFill>
          <a:blip r:embed="rId2">
            <a:alphaModFix/>
          </a:blip>
          <a:stretch>
            <a:fillRect/>
          </a:stretch>
        </p:blipFill>
        <p:spPr>
          <a:xfrm>
            <a:off x="8648700" y="2743200"/>
            <a:ext cx="3543300" cy="4114800"/>
          </a:xfrm>
          <a:prstGeom prst="rect">
            <a:avLst/>
          </a:prstGeom>
        </p:spPr>
      </p:pic>
      <p:sp>
        <p:nvSpPr>
          <p:cNvPr id="11" name="Textplatzhalter 4">
            <a:extLst>
              <a:ext uri="{FF2B5EF4-FFF2-40B4-BE49-F238E27FC236}">
                <a16:creationId xmlns:a16="http://schemas.microsoft.com/office/drawing/2014/main" id="{9AD86DE8-5751-A440-B2C4-58BF4A19C043}"/>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01.11.2020</a:t>
            </a:r>
            <a:endParaRPr lang="de-DE" dirty="0">
              <a:effectLst/>
              <a:latin typeface="Arial" panose="020B0604020202020204" pitchFamily="34" charset="0"/>
            </a:endParaRPr>
          </a:p>
        </p:txBody>
      </p:sp>
      <p:sp>
        <p:nvSpPr>
          <p:cNvPr id="8" name="Textplatzhalter 4">
            <a:extLst>
              <a:ext uri="{FF2B5EF4-FFF2-40B4-BE49-F238E27FC236}">
                <a16:creationId xmlns:a16="http://schemas.microsoft.com/office/drawing/2014/main" id="{8FD44F83-A00E-0042-991C-25703825541C}"/>
              </a:ext>
            </a:extLst>
          </p:cNvPr>
          <p:cNvSpPr>
            <a:spLocks noGrp="1"/>
          </p:cNvSpPr>
          <p:nvPr>
            <p:ph type="body" sz="quarter" idx="12" hasCustomPrompt="1"/>
          </p:nvPr>
        </p:nvSpPr>
        <p:spPr>
          <a:xfrm>
            <a:off x="446088" y="2160000"/>
            <a:ext cx="4510087" cy="1440000"/>
          </a:xfrm>
          <a:prstGeom prst="rect">
            <a:avLst/>
          </a:prstGeom>
        </p:spPr>
        <p:txBody>
          <a:bodyPr lIns="0" tIns="0" rIns="0" bIns="0"/>
          <a:lstStyle>
            <a:lvl1pPr marL="0" indent="0">
              <a:lnSpc>
                <a:spcPts val="3360"/>
              </a:lnSpc>
              <a:spcBef>
                <a:spcPts val="0"/>
              </a:spcBef>
              <a:buFontTx/>
              <a:buNone/>
              <a:defRPr sz="2800" b="1" i="0" baseline="0">
                <a:solidFill>
                  <a:schemeClr val="bg1"/>
                </a:solidFill>
                <a:latin typeface="Arial" panose="020B0604020202020204" pitchFamily="34" charset="0"/>
              </a:defRPr>
            </a:lvl1pPr>
            <a:lvl2pPr>
              <a:buFontTx/>
              <a:buNone/>
              <a:defRPr sz="2800" b="1" i="0" baseline="0">
                <a:solidFill>
                  <a:schemeClr val="bg1"/>
                </a:solidFill>
                <a:latin typeface="Arial" panose="020B0604020202020204" pitchFamily="34" charset="0"/>
              </a:defRPr>
            </a:lvl2pPr>
            <a:lvl3pPr>
              <a:buFontTx/>
              <a:buNone/>
              <a:defRPr sz="2800" b="1" i="0" baseline="0">
                <a:solidFill>
                  <a:schemeClr val="bg1"/>
                </a:solidFill>
                <a:latin typeface="Arial" panose="020B0604020202020204" pitchFamily="34" charset="0"/>
              </a:defRPr>
            </a:lvl3pPr>
            <a:lvl4pPr>
              <a:buFontTx/>
              <a:buNone/>
              <a:defRPr sz="2800" b="1" i="0" baseline="0">
                <a:solidFill>
                  <a:schemeClr val="bg1"/>
                </a:solidFill>
                <a:latin typeface="Arial" panose="020B0604020202020204" pitchFamily="34" charset="0"/>
              </a:defRPr>
            </a:lvl4pPr>
            <a:lvl5pPr>
              <a:buFontTx/>
              <a:buNone/>
              <a:defRPr sz="2800" b="1" i="0" baseline="0">
                <a:solidFill>
                  <a:schemeClr val="bg1"/>
                </a:solidFill>
                <a:latin typeface="Arial" panose="020B0604020202020204" pitchFamily="34" charset="0"/>
              </a:defRPr>
            </a:lvl5pPr>
          </a:lstStyle>
          <a:p>
            <a:r>
              <a:rPr lang="de-DE" b="1" dirty="0">
                <a:effectLst/>
                <a:latin typeface="Arial" panose="020B0604020202020204" pitchFamily="34" charset="0"/>
              </a:rPr>
              <a:t>Präsentationstitel</a:t>
            </a:r>
            <a:br>
              <a:rPr lang="de-DE" b="1" dirty="0">
                <a:effectLst/>
                <a:latin typeface="Arial" panose="020B0604020202020204" pitchFamily="34" charset="0"/>
              </a:rPr>
            </a:br>
            <a:r>
              <a:rPr lang="de-DE" b="1" dirty="0">
                <a:effectLst/>
                <a:latin typeface="Arial" panose="020B0604020202020204" pitchFamily="34" charset="0"/>
              </a:rPr>
              <a:t>Zeile 2 des Titels</a:t>
            </a:r>
            <a:endParaRPr lang="de-DE" dirty="0">
              <a:effectLst/>
              <a:latin typeface="Arial" panose="020B0604020202020204" pitchFamily="34" charset="0"/>
            </a:endParaRPr>
          </a:p>
        </p:txBody>
      </p:sp>
      <p:sp>
        <p:nvSpPr>
          <p:cNvPr id="13" name="Textplatzhalter 12">
            <a:extLst>
              <a:ext uri="{FF2B5EF4-FFF2-40B4-BE49-F238E27FC236}">
                <a16:creationId xmlns:a16="http://schemas.microsoft.com/office/drawing/2014/main" id="{45B08AD0-8199-4442-8676-028CF952148C}"/>
              </a:ext>
            </a:extLst>
          </p:cNvPr>
          <p:cNvSpPr>
            <a:spLocks noGrp="1"/>
          </p:cNvSpPr>
          <p:nvPr>
            <p:ph type="body" sz="quarter" idx="13"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marL="0" indent="0">
              <a:lnSpc>
                <a:spcPct val="88000"/>
              </a:lnSpc>
              <a:spcBef>
                <a:spcPts val="0"/>
              </a:spcBef>
              <a:buFontTx/>
              <a:buNone/>
            </a:pPr>
            <a:r>
              <a:rPr lang="de-DE" sz="680" b="1" i="0" baseline="0" dirty="0">
                <a:latin typeface="Arial" panose="020B0604020202020204" pitchFamily="34" charset="0"/>
              </a:rPr>
              <a:t>ÜBERSCHRIFT / TITEL / EINRICHTUNG XY</a:t>
            </a:r>
          </a:p>
        </p:txBody>
      </p:sp>
    </p:spTree>
    <p:extLst>
      <p:ext uri="{BB962C8B-B14F-4D97-AF65-F5344CB8AC3E}">
        <p14:creationId xmlns:p14="http://schemas.microsoft.com/office/powerpoint/2010/main" val="3023470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8" name="Textplatzhalter 6">
            <a:extLst>
              <a:ext uri="{FF2B5EF4-FFF2-40B4-BE49-F238E27FC236}">
                <a16:creationId xmlns:a16="http://schemas.microsoft.com/office/drawing/2014/main" id="{61DF7720-7E46-0340-BCE7-71A2014BEE01}"/>
              </a:ext>
            </a:extLst>
          </p:cNvPr>
          <p:cNvSpPr>
            <a:spLocks noGrp="1"/>
          </p:cNvSpPr>
          <p:nvPr>
            <p:ph type="body" sz="quarter" idx="13" hasCustomPrompt="1"/>
          </p:nvPr>
        </p:nvSpPr>
        <p:spPr>
          <a:xfrm>
            <a:off x="446400" y="2160000"/>
            <a:ext cx="7200000" cy="1440000"/>
          </a:xfrm>
          <a:prstGeom prst="rect">
            <a:avLst/>
          </a:prstGeom>
        </p:spPr>
        <p:txBody>
          <a:bodyPr lIns="0" tIns="0" rIns="0" bIns="0"/>
          <a:lstStyle>
            <a:lvl1pPr marL="0" indent="0">
              <a:lnSpc>
                <a:spcPts val="3360"/>
              </a:lnSpc>
              <a:spcBef>
                <a:spcPts val="0"/>
              </a:spcBef>
              <a:buFontTx/>
              <a:buNone/>
              <a:defRPr sz="2800" b="1" i="0" baseline="0">
                <a:latin typeface="Arial" panose="020B0604020202020204" pitchFamily="34" charset="0"/>
              </a:defRPr>
            </a:lvl1pPr>
            <a:lvl2pPr>
              <a:buFontTx/>
              <a:buNone/>
              <a:defRPr sz="2800" b="1" i="0" baseline="0">
                <a:latin typeface="Arial" panose="020B0604020202020204" pitchFamily="34" charset="0"/>
              </a:defRPr>
            </a:lvl2pPr>
            <a:lvl3pPr>
              <a:buFontTx/>
              <a:buNone/>
              <a:defRPr sz="2800" b="1" i="0" baseline="0">
                <a:latin typeface="Arial" panose="020B0604020202020204" pitchFamily="34" charset="0"/>
              </a:defRPr>
            </a:lvl3pPr>
            <a:lvl4pPr>
              <a:buFontTx/>
              <a:buNone/>
              <a:defRPr sz="2800" b="1" i="0" baseline="0">
                <a:latin typeface="Arial" panose="020B0604020202020204" pitchFamily="34" charset="0"/>
              </a:defRPr>
            </a:lvl4pPr>
            <a:lvl5pPr>
              <a:buFontTx/>
              <a:buNone/>
              <a:defRPr sz="2800" b="1" i="0" baseline="0">
                <a:latin typeface="Arial" panose="020B0604020202020204" pitchFamily="34" charset="0"/>
              </a:defRPr>
            </a:lvl5pPr>
          </a:lstStyle>
          <a:p>
            <a:pPr lvl="0"/>
            <a:r>
              <a:rPr lang="de-DE" dirty="0"/>
              <a:t>1. Erstes Kapitel</a:t>
            </a:r>
          </a:p>
        </p:txBody>
      </p:sp>
    </p:spTree>
    <p:extLst>
      <p:ext uri="{BB962C8B-B14F-4D97-AF65-F5344CB8AC3E}">
        <p14:creationId xmlns:p14="http://schemas.microsoft.com/office/powerpoint/2010/main" val="2178750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3414469F-1423-5242-845C-EBB7925DA54E}"/>
              </a:ext>
            </a:extLst>
          </p:cNvPr>
          <p:cNvSpPr>
            <a:spLocks noGrp="1"/>
          </p:cNvSpPr>
          <p:nvPr>
            <p:ph type="body" sz="quarter" idx="10" hasCustomPrompt="1"/>
          </p:nvPr>
        </p:nvSpPr>
        <p:spPr>
          <a:xfrm>
            <a:off x="446400" y="2643101"/>
            <a:ext cx="10080000" cy="1020898"/>
          </a:xfrm>
          <a:prstGeom prst="rect">
            <a:avLst/>
          </a:prstGeom>
        </p:spPr>
        <p:txBody>
          <a:bodyPr lIns="0" tIns="0" rIns="0" bIns="0"/>
          <a:lstStyle>
            <a:lvl1pPr marL="0" indent="0">
              <a:lnSpc>
                <a:spcPts val="2280"/>
              </a:lnSpc>
              <a:spcBef>
                <a:spcPts val="0"/>
              </a:spcBef>
              <a:buFontTx/>
              <a:buNone/>
              <a:defRPr lang="de-DE" sz="1900" baseline="0" smtClean="0">
                <a:solidFill>
                  <a:schemeClr val="tx2"/>
                </a:solidFill>
                <a:effectLst/>
              </a:defRPr>
            </a:lvl1pPr>
          </a:lstStyle>
          <a:p>
            <a:r>
              <a:rPr lang="de-DE" dirty="0">
                <a:solidFill>
                  <a:srgbClr val="2F2F2F"/>
                </a:solidFill>
                <a:effectLst/>
                <a:latin typeface="Arial" panose="020B0604020202020204" pitchFamily="34" charset="0"/>
              </a:rPr>
              <a:t>Ne </a:t>
            </a:r>
            <a:r>
              <a:rPr lang="de-DE" dirty="0" err="1">
                <a:solidFill>
                  <a:srgbClr val="2F2F2F"/>
                </a:solidFill>
                <a:effectLst/>
                <a:latin typeface="Arial" panose="020B0604020202020204" pitchFamily="34" charset="0"/>
              </a:rPr>
              <a:t>quatur</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Quam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incipietur</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accaepe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lenduciae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Itae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voluptatem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facepelita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dolupta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pore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pos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venti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blanien</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tionsec</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tempellabor</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magnam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soloreria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quevoluptaturi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dolores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earis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dolute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vendae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nobis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ipsam</a:t>
            </a:r>
            <a:r>
              <a:rPr lang="de-DE" dirty="0">
                <a:solidFill>
                  <a:srgbClr val="2F2F2F"/>
                </a:solidFill>
                <a:effectLst/>
                <a:latin typeface="Arial" panose="020B0604020202020204" pitchFamily="34" charset="0"/>
              </a:rPr>
              <a:t> lab </a:t>
            </a:r>
            <a:r>
              <a:rPr lang="de-DE" dirty="0" err="1">
                <a:solidFill>
                  <a:srgbClr val="2F2F2F"/>
                </a:solidFill>
                <a:effectLst/>
                <a:latin typeface="Arial" panose="020B0604020202020204" pitchFamily="34" charset="0"/>
              </a:rPr>
              <a:t>ium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acculliqui</a:t>
            </a:r>
            <a:r>
              <a:rPr lang="de-DE" dirty="0">
                <a:solidFill>
                  <a:srgbClr val="2F2F2F"/>
                </a:solidFill>
                <a:effectLst/>
                <a:latin typeface="Arial" panose="020B0604020202020204" pitchFamily="34" charset="0"/>
              </a:rPr>
              <a:t> di </a:t>
            </a:r>
            <a:r>
              <a:rPr lang="de-DE" dirty="0" err="1">
                <a:solidFill>
                  <a:srgbClr val="2F2F2F"/>
                </a:solidFill>
                <a:effectLst/>
                <a:latin typeface="Arial" panose="020B0604020202020204" pitchFamily="34" charset="0"/>
              </a:rPr>
              <a:t>tecte</a:t>
            </a:r>
            <a:r>
              <a:rPr lang="de-DE" dirty="0">
                <a:solidFill>
                  <a:srgbClr val="2F2F2F"/>
                </a:solidFill>
                <a:effectLst/>
                <a:latin typeface="Arial" panose="020B0604020202020204" pitchFamily="34" charset="0"/>
              </a:rPr>
              <a:t> es </a:t>
            </a:r>
            <a:r>
              <a:rPr lang="de-DE" dirty="0" err="1">
                <a:solidFill>
                  <a:srgbClr val="2F2F2F"/>
                </a:solidFill>
                <a:effectLst/>
                <a:latin typeface="Arial" panose="020B0604020202020204" pitchFamily="34" charset="0"/>
              </a:rPr>
              <a:t>quam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ressi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ulparis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apeliqui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ipiet</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modio</a:t>
            </a:r>
            <a:r>
              <a:rPr lang="de-DE" dirty="0">
                <a:solidFill>
                  <a:srgbClr val="2F2F2F"/>
                </a:solidFill>
                <a:effectLst/>
                <a:latin typeface="Arial" panose="020B0604020202020204" pitchFamily="34" charset="0"/>
              </a:rPr>
              <a:t>. </a:t>
            </a:r>
          </a:p>
        </p:txBody>
      </p:sp>
      <p:sp>
        <p:nvSpPr>
          <p:cNvPr id="6" name="Textplatzhalter 4">
            <a:extLst>
              <a:ext uri="{FF2B5EF4-FFF2-40B4-BE49-F238E27FC236}">
                <a16:creationId xmlns:a16="http://schemas.microsoft.com/office/drawing/2014/main" id="{4281397D-9AF9-B945-A645-73E7EF26E590}"/>
              </a:ext>
            </a:extLst>
          </p:cNvPr>
          <p:cNvSpPr>
            <a:spLocks noGrp="1"/>
          </p:cNvSpPr>
          <p:nvPr>
            <p:ph type="body" sz="quarter" idx="11" hasCustomPrompt="1"/>
          </p:nvPr>
        </p:nvSpPr>
        <p:spPr>
          <a:xfrm>
            <a:off x="442912" y="3696389"/>
            <a:ext cx="10080000" cy="3128161"/>
          </a:xfrm>
          <a:prstGeom prst="rect">
            <a:avLst/>
          </a:prstGeom>
        </p:spPr>
        <p:txBody>
          <a:bodyPr lIns="0" tIns="0" rIns="0" bIns="0"/>
          <a:lstStyle>
            <a:lvl1pPr marL="324000" marR="0" indent="-324000" algn="l" defTabSz="815557" rtl="0" eaLnBrk="1" fontAlgn="auto" latinLnBrk="0" hangingPunct="1">
              <a:lnSpc>
                <a:spcPts val="2280"/>
              </a:lnSpc>
              <a:spcBef>
                <a:spcPts val="0"/>
              </a:spcBef>
              <a:spcAft>
                <a:spcPts val="1100"/>
              </a:spcAft>
              <a:buClrTx/>
              <a:buSzPct val="125000"/>
              <a:buFontTx/>
              <a:buBlip>
                <a:blip r:embed="rId2"/>
              </a:buBlip>
              <a:tabLst/>
              <a:defRPr lang="de-DE" sz="1900" baseline="0" smtClean="0">
                <a:solidFill>
                  <a:schemeClr val="tx2"/>
                </a:solidFill>
                <a:effectLst/>
              </a:defRPr>
            </a:lvl1pPr>
          </a:lstStyle>
          <a:p>
            <a:r>
              <a:rPr lang="de-DE" dirty="0" err="1">
                <a:solidFill>
                  <a:srgbClr val="2F2F2F"/>
                </a:solidFill>
                <a:effectLst/>
                <a:latin typeface="Arial" panose="020B0604020202020204" pitchFamily="34" charset="0"/>
              </a:rPr>
              <a:t>Itaquas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sitiam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vent</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fuga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Pelit</a:t>
            </a:r>
            <a:r>
              <a:rPr lang="de-DE" dirty="0">
                <a:solidFill>
                  <a:srgbClr val="2F2F2F"/>
                </a:solidFill>
                <a:effectLst/>
                <a:latin typeface="Arial" panose="020B0604020202020204" pitchFamily="34" charset="0"/>
              </a:rPr>
              <a:t> laut </a:t>
            </a:r>
            <a:r>
              <a:rPr lang="de-DE" dirty="0" err="1">
                <a:solidFill>
                  <a:srgbClr val="2F2F2F"/>
                </a:solidFill>
                <a:effectLst/>
                <a:latin typeface="Arial" panose="020B0604020202020204" pitchFamily="34" charset="0"/>
              </a:rPr>
              <a:t>pliciis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rem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reptatio</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beatem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illestius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consecabo</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Offici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con</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re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pedi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omnis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essi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sinci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totae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perit</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quamet</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aut</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liscium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landia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quiasit</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iuntur</a:t>
            </a:r>
            <a:r>
              <a:rPr lang="de-DE" dirty="0">
                <a:solidFill>
                  <a:srgbClr val="2F2F2F"/>
                </a:solidFill>
                <a:effectLst/>
                <a:latin typeface="Arial" panose="020B0604020202020204" pitchFamily="34" charset="0"/>
              </a:rPr>
              <a:t>.</a:t>
            </a:r>
          </a:p>
          <a:p>
            <a:r>
              <a:rPr lang="de-DE" dirty="0" err="1">
                <a:solidFill>
                  <a:srgbClr val="2F2F2F"/>
                </a:solidFill>
                <a:effectLst/>
                <a:latin typeface="Arial" panose="020B0604020202020204" pitchFamily="34" charset="0"/>
              </a:rPr>
              <a:t>Quunda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doloreste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volore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volores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maximus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eatur</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sapicipici</a:t>
            </a:r>
            <a:r>
              <a:rPr lang="de-DE" dirty="0">
                <a:solidFill>
                  <a:srgbClr val="2F2F2F"/>
                </a:solidFill>
                <a:effectLst/>
                <a:latin typeface="Arial" panose="020B0604020202020204" pitchFamily="34" charset="0"/>
              </a:rPr>
              <a:t> ab </a:t>
            </a:r>
            <a:r>
              <a:rPr lang="de-DE" dirty="0" err="1">
                <a:solidFill>
                  <a:srgbClr val="2F2F2F"/>
                </a:solidFill>
                <a:effectLst/>
                <a:latin typeface="Arial" panose="020B0604020202020204" pitchFamily="34" charset="0"/>
              </a:rPr>
              <a:t>ium</a:t>
            </a:r>
            <a:r>
              <a:rPr lang="de-DE" dirty="0">
                <a:solidFill>
                  <a:srgbClr val="2F2F2F"/>
                </a:solidFill>
                <a:effectLst/>
                <a:latin typeface="Arial" panose="020B0604020202020204" pitchFamily="34" charset="0"/>
              </a:rPr>
              <a:t> non </a:t>
            </a:r>
            <a:r>
              <a:rPr lang="de-DE" dirty="0" err="1">
                <a:solidFill>
                  <a:srgbClr val="2F2F2F"/>
                </a:solidFill>
                <a:effectLst/>
                <a:latin typeface="Arial" panose="020B0604020202020204" pitchFamily="34" charset="0"/>
              </a:rPr>
              <a:t>nullori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mos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autem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doluptassi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saniscitate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consequi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audae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simporem</a:t>
            </a:r>
            <a:r>
              <a:rPr lang="de-DE" dirty="0">
                <a:solidFill>
                  <a:srgbClr val="2F2F2F"/>
                </a:solidFill>
                <a:effectLst/>
                <a:latin typeface="Arial" panose="020B0604020202020204" pitchFamily="34" charset="0"/>
              </a:rPr>
              <a:t> si </a:t>
            </a:r>
            <a:r>
              <a:rPr lang="de-DE" dirty="0" err="1">
                <a:solidFill>
                  <a:srgbClr val="2F2F2F"/>
                </a:solidFill>
                <a:effectLst/>
                <a:latin typeface="Arial" panose="020B0604020202020204" pitchFamily="34" charset="0"/>
              </a:rPr>
              <a:t>venim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fugia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voloreptae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res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eturiam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aut</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quiae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coribus</a:t>
            </a:r>
            <a:r>
              <a:rPr lang="de-DE" dirty="0">
                <a:solidFill>
                  <a:srgbClr val="2F2F2F"/>
                </a:solidFill>
                <a:effectLst/>
                <a:latin typeface="Arial" panose="020B0604020202020204" pitchFamily="34" charset="0"/>
              </a:rPr>
              <a:t>.</a:t>
            </a:r>
          </a:p>
          <a:p>
            <a:pPr marL="324000" marR="0" lvl="0" indent="-324000" algn="l" defTabSz="815557" rtl="0" eaLnBrk="1" fontAlgn="auto" latinLnBrk="0" hangingPunct="1">
              <a:lnSpc>
                <a:spcPts val="2280"/>
              </a:lnSpc>
              <a:spcBef>
                <a:spcPts val="0"/>
              </a:spcBef>
              <a:spcAft>
                <a:spcPts val="1100"/>
              </a:spcAft>
              <a:buClrTx/>
              <a:buSzPct val="125000"/>
              <a:buFontTx/>
              <a:buBlip>
                <a:blip r:embed="rId2"/>
              </a:buBlip>
              <a:tabLst/>
              <a:defRPr/>
            </a:pPr>
            <a:r>
              <a:rPr lang="de-DE" dirty="0" err="1">
                <a:solidFill>
                  <a:srgbClr val="2F2F2F"/>
                </a:solidFill>
                <a:effectLst/>
                <a:latin typeface="Arial" panose="020B0604020202020204" pitchFamily="34" charset="0"/>
              </a:rPr>
              <a:t>Ucia</a:t>
            </a:r>
            <a:r>
              <a:rPr lang="de-DE" dirty="0">
                <a:solidFill>
                  <a:srgbClr val="2F2F2F"/>
                </a:solidFill>
                <a:effectLst/>
                <a:latin typeface="Arial" panose="020B0604020202020204" pitchFamily="34" charset="0"/>
              </a:rPr>
              <a:t> sam </a:t>
            </a:r>
            <a:r>
              <a:rPr lang="de-DE" dirty="0" err="1">
                <a:solidFill>
                  <a:srgbClr val="2F2F2F"/>
                </a:solidFill>
                <a:effectLst/>
                <a:latin typeface="Arial" panose="020B0604020202020204" pitchFamily="34" charset="0"/>
              </a:rPr>
              <a:t>quid</a:t>
            </a:r>
            <a:r>
              <a:rPr lang="de-DE" dirty="0">
                <a:solidFill>
                  <a:srgbClr val="2F2F2F"/>
                </a:solidFill>
                <a:effectLst/>
                <a:latin typeface="Arial" panose="020B0604020202020204" pitchFamily="34" charset="0"/>
              </a:rPr>
              <a:t> quo </a:t>
            </a:r>
            <a:r>
              <a:rPr lang="de-DE" dirty="0" err="1">
                <a:solidFill>
                  <a:srgbClr val="2F2F2F"/>
                </a:solidFill>
                <a:effectLst/>
                <a:latin typeface="Arial" panose="020B0604020202020204" pitchFamily="34" charset="0"/>
              </a:rPr>
              <a:t>doles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sequias</a:t>
            </a:r>
            <a:r>
              <a:rPr lang="de-DE" dirty="0">
                <a:solidFill>
                  <a:srgbClr val="2F2F2F"/>
                </a:solidFill>
                <a:effectLst/>
                <a:latin typeface="Arial" panose="020B0604020202020204" pitchFamily="34" charset="0"/>
              </a:rPr>
              <a:t> rat </a:t>
            </a:r>
            <a:r>
              <a:rPr lang="de-DE" dirty="0" err="1">
                <a:solidFill>
                  <a:srgbClr val="2F2F2F"/>
                </a:solidFill>
                <a:effectLst/>
                <a:latin typeface="Arial" panose="020B0604020202020204" pitchFamily="34" charset="0"/>
              </a:rPr>
              <a:t>facersp</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edissuntotas</a:t>
            </a:r>
            <a:r>
              <a:rPr lang="de-DE" dirty="0">
                <a:solidFill>
                  <a:srgbClr val="2F2F2F"/>
                </a:solidFill>
                <a:effectLst/>
                <a:latin typeface="Arial" panose="020B0604020202020204" pitchFamily="34" charset="0"/>
              </a:rPr>
              <a:t> et, </a:t>
            </a:r>
            <a:r>
              <a:rPr lang="de-DE" dirty="0" err="1">
                <a:solidFill>
                  <a:srgbClr val="2F2F2F"/>
                </a:solidFill>
                <a:effectLst/>
                <a:latin typeface="Arial" panose="020B0604020202020204" pitchFamily="34" charset="0"/>
              </a:rPr>
              <a:t>nis</a:t>
            </a:r>
            <a:r>
              <a:rPr lang="de-DE" dirty="0">
                <a:solidFill>
                  <a:srgbClr val="2F2F2F"/>
                </a:solidFill>
                <a:effectLst/>
                <a:latin typeface="Arial" panose="020B0604020202020204" pitchFamily="34" charset="0"/>
              </a:rPr>
              <a:t> di </a:t>
            </a:r>
            <a:r>
              <a:rPr lang="de-DE" dirty="0" err="1">
                <a:solidFill>
                  <a:srgbClr val="2F2F2F"/>
                </a:solidFill>
                <a:effectLst/>
                <a:latin typeface="Arial" panose="020B0604020202020204" pitchFamily="34" charset="0"/>
              </a:rPr>
              <a:t>berum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verore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sequas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represcium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faccabo</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Adistis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dolor</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atur</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aliquatem</a:t>
            </a:r>
            <a:r>
              <a:rPr lang="de-DE" dirty="0">
                <a:solidFill>
                  <a:srgbClr val="2F2F2F"/>
                </a:solidFill>
                <a:effectLst/>
                <a:latin typeface="Arial" panose="020B0604020202020204" pitchFamily="34" charset="0"/>
              </a:rPr>
              <a:t> quo </a:t>
            </a:r>
            <a:r>
              <a:rPr lang="de-DE" dirty="0" err="1">
                <a:solidFill>
                  <a:srgbClr val="2F2F2F"/>
                </a:solidFill>
                <a:effectLst/>
                <a:latin typeface="Arial" panose="020B0604020202020204" pitchFamily="34" charset="0"/>
              </a:rPr>
              <a:t>modis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accaecum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nossunt</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ipsam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ratiam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voluptur</a:t>
            </a:r>
            <a:r>
              <a:rPr lang="de-DE" dirty="0">
                <a:solidFill>
                  <a:srgbClr val="2F2F2F"/>
                </a:solidFill>
                <a:effectLst/>
                <a:latin typeface="Arial" panose="020B0604020202020204" pitchFamily="34" charset="0"/>
              </a:rPr>
              <a:t>?</a:t>
            </a:r>
          </a:p>
          <a:p>
            <a:endParaRPr lang="de-DE" dirty="0">
              <a:solidFill>
                <a:srgbClr val="2F2F2F"/>
              </a:solidFill>
              <a:effectLst/>
              <a:latin typeface="Arial" panose="020B0604020202020204" pitchFamily="34" charset="0"/>
            </a:endParaRPr>
          </a:p>
          <a:p>
            <a:endParaRPr lang="de-DE" dirty="0">
              <a:solidFill>
                <a:srgbClr val="2F2F2F"/>
              </a:solidFill>
              <a:effectLst/>
              <a:latin typeface="Arial" panose="020B0604020202020204" pitchFamily="34" charset="0"/>
            </a:endParaRPr>
          </a:p>
        </p:txBody>
      </p:sp>
      <p:sp>
        <p:nvSpPr>
          <p:cNvPr id="13" name="Textplatzhalter 8">
            <a:extLst>
              <a:ext uri="{FF2B5EF4-FFF2-40B4-BE49-F238E27FC236}">
                <a16:creationId xmlns:a16="http://schemas.microsoft.com/office/drawing/2014/main" id="{EDE70BBD-4034-D644-9FBA-6F7E5CAEF26B}"/>
              </a:ext>
            </a:extLst>
          </p:cNvPr>
          <p:cNvSpPr>
            <a:spLocks noGrp="1"/>
          </p:cNvSpPr>
          <p:nvPr>
            <p:ph type="body" sz="quarter" idx="12" hasCustomPrompt="1"/>
          </p:nvPr>
        </p:nvSpPr>
        <p:spPr>
          <a:xfrm>
            <a:off x="442800" y="1583611"/>
            <a:ext cx="11306175" cy="1147287"/>
          </a:xfrm>
          <a:prstGeom prst="rect">
            <a:avLst/>
          </a:prstGeom>
        </p:spPr>
        <p:txBody>
          <a:bodyPr lIns="36000" tIns="36000" rIns="36000" bIns="36000"/>
          <a:lstStyle>
            <a:lvl1pPr marL="0" indent="0">
              <a:lnSpc>
                <a:spcPts val="2640"/>
              </a:lnSpc>
              <a:spcBef>
                <a:spcPts val="0"/>
              </a:spcBef>
              <a:buFontTx/>
              <a:buNone/>
              <a:defRPr sz="2200" b="1" i="0" baseline="0">
                <a:latin typeface="Arial" panose="020B0604020202020204" pitchFamily="34" charset="0"/>
              </a:defRPr>
            </a:lvl1pPr>
            <a:lvl2pPr>
              <a:buFontTx/>
              <a:buNone/>
              <a:defRPr/>
            </a:lvl2pPr>
            <a:lvl3pPr>
              <a:buFontTx/>
              <a:buNone/>
              <a:defRPr/>
            </a:lvl3pPr>
            <a:lvl4pPr>
              <a:buFontTx/>
              <a:buNone/>
              <a:defRPr/>
            </a:lvl4pPr>
            <a:lvl5pPr>
              <a:buFontTx/>
              <a:buNone/>
              <a:defRPr/>
            </a:lvl5pPr>
          </a:lstStyle>
          <a:p>
            <a:pPr lvl="0"/>
            <a:r>
              <a:rPr lang="de-DE" dirty="0"/>
              <a:t>Seitentitel mit einer Zeile oder</a:t>
            </a:r>
            <a:br>
              <a:rPr lang="de-DE" dirty="0"/>
            </a:br>
            <a:r>
              <a:rPr lang="de-DE" dirty="0"/>
              <a:t>maximal zwei Zeilen</a:t>
            </a:r>
          </a:p>
        </p:txBody>
      </p:sp>
      <p:pic>
        <p:nvPicPr>
          <p:cNvPr id="7" name="Grafik 6">
            <a:extLst>
              <a:ext uri="{FF2B5EF4-FFF2-40B4-BE49-F238E27FC236}">
                <a16:creationId xmlns:a16="http://schemas.microsoft.com/office/drawing/2014/main" id="{C5D1C673-6314-4841-90D5-AAC10EAD2D4F}"/>
              </a:ext>
            </a:extLst>
          </p:cNvPr>
          <p:cNvPicPr>
            <a:picLocks noChangeAspect="1"/>
          </p:cNvPicPr>
          <p:nvPr userDrawn="1"/>
        </p:nvPicPr>
        <p:blipFill>
          <a:blip r:embed="rId3"/>
          <a:stretch>
            <a:fillRect/>
          </a:stretch>
        </p:blipFill>
        <p:spPr>
          <a:xfrm>
            <a:off x="444500" y="442800"/>
            <a:ext cx="11303000" cy="825500"/>
          </a:xfrm>
          <a:prstGeom prst="rect">
            <a:avLst/>
          </a:prstGeom>
        </p:spPr>
      </p:pic>
      <p:sp>
        <p:nvSpPr>
          <p:cNvPr id="8" name="Foliennummernplatzhalter 5">
            <a:extLst>
              <a:ext uri="{FF2B5EF4-FFF2-40B4-BE49-F238E27FC236}">
                <a16:creationId xmlns:a16="http://schemas.microsoft.com/office/drawing/2014/main" id="{93F0F57E-04CD-F046-BAEA-76A854FED603}"/>
              </a:ext>
            </a:extLst>
          </p:cNvPr>
          <p:cNvSpPr>
            <a:spLocks noGrp="1"/>
          </p:cNvSpPr>
          <p:nvPr>
            <p:ph type="sldNum" sz="quarter" idx="4"/>
          </p:nvPr>
        </p:nvSpPr>
        <p:spPr>
          <a:xfrm>
            <a:off x="11327740" y="6551699"/>
            <a:ext cx="720000" cy="270000"/>
          </a:xfrm>
          <a:prstGeom prst="rect">
            <a:avLst/>
          </a:prstGeom>
        </p:spPr>
        <p:txBody>
          <a:bodyPr vert="horz" lIns="0" tIns="0" rIns="0" bIns="0" rtlCol="0" anchor="t" anchorCtr="0"/>
          <a:lstStyle>
            <a:lvl1pPr algn="r">
              <a:defRPr sz="1100" b="1" i="0" baseline="0">
                <a:solidFill>
                  <a:schemeClr val="tx1"/>
                </a:solidFill>
                <a:latin typeface="Arial" panose="020B0604020202020204" pitchFamily="34" charset="0"/>
              </a:defRPr>
            </a:lvl1pPr>
          </a:lstStyle>
          <a:p>
            <a:fld id="{3889EAAA-2A39-E347-B0AA-909793490C00}" type="slidenum">
              <a:rPr lang="de-DE" smtClean="0"/>
              <a:pPr/>
              <a:t>‹#›</a:t>
            </a:fld>
            <a:endParaRPr lang="de-DE" dirty="0"/>
          </a:p>
        </p:txBody>
      </p:sp>
      <p:sp>
        <p:nvSpPr>
          <p:cNvPr id="9" name="Textplatzhalter 12">
            <a:extLst>
              <a:ext uri="{FF2B5EF4-FFF2-40B4-BE49-F238E27FC236}">
                <a16:creationId xmlns:a16="http://schemas.microsoft.com/office/drawing/2014/main" id="{0F4B92DF-A741-5141-AB25-DF572DAC78CD}"/>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marL="0" indent="0">
              <a:lnSpc>
                <a:spcPct val="88000"/>
              </a:lnSpc>
              <a:spcBef>
                <a:spcPts val="0"/>
              </a:spcBef>
              <a:buFontTx/>
              <a:buNone/>
            </a:pPr>
            <a:r>
              <a:rPr lang="de-DE" sz="680" b="1" i="0" baseline="0" dirty="0">
                <a:latin typeface="Arial" panose="020B0604020202020204" pitchFamily="34" charset="0"/>
              </a:rPr>
              <a:t>ÜBERSCHRIFT / TITEL / EINRICHTUNG XY</a:t>
            </a:r>
          </a:p>
        </p:txBody>
      </p:sp>
    </p:spTree>
    <p:extLst>
      <p:ext uri="{BB962C8B-B14F-4D97-AF65-F5344CB8AC3E}">
        <p14:creationId xmlns:p14="http://schemas.microsoft.com/office/powerpoint/2010/main" val="2698513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rbübersicht">
    <p:spTree>
      <p:nvGrpSpPr>
        <p:cNvPr id="1" name=""/>
        <p:cNvGrpSpPr/>
        <p:nvPr/>
      </p:nvGrpSpPr>
      <p:grpSpPr>
        <a:xfrm>
          <a:off x="0" y="0"/>
          <a:ext cx="0" cy="0"/>
          <a:chOff x="0" y="0"/>
          <a:chExt cx="0" cy="0"/>
        </a:xfrm>
      </p:grpSpPr>
      <p:sp>
        <p:nvSpPr>
          <p:cNvPr id="13" name="Textplatzhalter 8">
            <a:extLst>
              <a:ext uri="{FF2B5EF4-FFF2-40B4-BE49-F238E27FC236}">
                <a16:creationId xmlns:a16="http://schemas.microsoft.com/office/drawing/2014/main" id="{EDE70BBD-4034-D644-9FBA-6F7E5CAEF26B}"/>
              </a:ext>
            </a:extLst>
          </p:cNvPr>
          <p:cNvSpPr>
            <a:spLocks noGrp="1"/>
          </p:cNvSpPr>
          <p:nvPr>
            <p:ph type="body" sz="quarter" idx="12" hasCustomPrompt="1"/>
          </p:nvPr>
        </p:nvSpPr>
        <p:spPr>
          <a:xfrm>
            <a:off x="442800" y="441325"/>
            <a:ext cx="11306175" cy="1042988"/>
          </a:xfrm>
          <a:prstGeom prst="rect">
            <a:avLst/>
          </a:prstGeom>
        </p:spPr>
        <p:txBody>
          <a:bodyPr lIns="0" tIns="0" rIns="0" bIns="0"/>
          <a:lstStyle>
            <a:lvl1pPr marL="0" indent="0">
              <a:lnSpc>
                <a:spcPts val="2640"/>
              </a:lnSpc>
              <a:spcBef>
                <a:spcPts val="0"/>
              </a:spcBef>
              <a:buFontTx/>
              <a:buNone/>
              <a:defRPr sz="2200" b="1" i="0" baseline="0">
                <a:latin typeface="Arial" panose="020B0604020202020204" pitchFamily="34" charset="0"/>
              </a:defRPr>
            </a:lvl1pPr>
            <a:lvl2pPr>
              <a:buFontTx/>
              <a:buNone/>
              <a:defRPr/>
            </a:lvl2pPr>
            <a:lvl3pPr>
              <a:buFontTx/>
              <a:buNone/>
              <a:defRPr/>
            </a:lvl3pPr>
            <a:lvl4pPr>
              <a:buFontTx/>
              <a:buNone/>
              <a:defRPr/>
            </a:lvl4pPr>
            <a:lvl5pPr>
              <a:buFontTx/>
              <a:buNone/>
              <a:defRPr/>
            </a:lvl5pPr>
          </a:lstStyle>
          <a:p>
            <a:pPr lvl="0"/>
            <a:r>
              <a:rPr lang="de-DE" dirty="0"/>
              <a:t>Farbübersicht</a:t>
            </a:r>
          </a:p>
        </p:txBody>
      </p:sp>
      <p:sp>
        <p:nvSpPr>
          <p:cNvPr id="52" name="Rechteck 51">
            <a:extLst>
              <a:ext uri="{FF2B5EF4-FFF2-40B4-BE49-F238E27FC236}">
                <a16:creationId xmlns:a16="http://schemas.microsoft.com/office/drawing/2014/main" id="{FF3871DC-3AE6-0046-9798-2B74B19887B1}"/>
              </a:ext>
            </a:extLst>
          </p:cNvPr>
          <p:cNvSpPr/>
          <p:nvPr userDrawn="1"/>
        </p:nvSpPr>
        <p:spPr>
          <a:xfrm>
            <a:off x="442800" y="1484313"/>
            <a:ext cx="832193" cy="685829"/>
          </a:xfrm>
          <a:prstGeom prst="rect">
            <a:avLst/>
          </a:prstGeom>
          <a:solidFill>
            <a:schemeClr val="tx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0</a:t>
            </a:r>
          </a:p>
          <a:p>
            <a:r>
              <a:rPr lang="de-DE" sz="915" b="1" baseline="0" dirty="0">
                <a:solidFill>
                  <a:schemeClr val="bg1"/>
                </a:solidFill>
                <a:effectLst/>
                <a:latin typeface="LMU CompatilFact" panose="02000500060000020003" pitchFamily="2" charset="0"/>
              </a:rPr>
              <a:t>G 136</a:t>
            </a:r>
          </a:p>
          <a:p>
            <a:r>
              <a:rPr lang="de-DE" sz="915" b="1" baseline="0" dirty="0">
                <a:solidFill>
                  <a:schemeClr val="bg1"/>
                </a:solidFill>
                <a:effectLst/>
                <a:latin typeface="LMU CompatilFact" panose="02000500060000020003" pitchFamily="2" charset="0"/>
              </a:rPr>
              <a:t>B 58</a:t>
            </a:r>
            <a:endParaRPr lang="de-DE" sz="915" baseline="0" dirty="0">
              <a:solidFill>
                <a:schemeClr val="bg1"/>
              </a:solidFill>
              <a:effectLst/>
              <a:latin typeface="LMU CompatilFact" panose="02000500060000020003" pitchFamily="2" charset="0"/>
            </a:endParaRPr>
          </a:p>
        </p:txBody>
      </p:sp>
      <p:sp>
        <p:nvSpPr>
          <p:cNvPr id="53" name="Rechteck 52">
            <a:extLst>
              <a:ext uri="{FF2B5EF4-FFF2-40B4-BE49-F238E27FC236}">
                <a16:creationId xmlns:a16="http://schemas.microsoft.com/office/drawing/2014/main" id="{323A9624-D6DE-C345-9C75-F17A8B2EFEFC}"/>
              </a:ext>
            </a:extLst>
          </p:cNvPr>
          <p:cNvSpPr/>
          <p:nvPr userDrawn="1"/>
        </p:nvSpPr>
        <p:spPr>
          <a:xfrm>
            <a:off x="2820756" y="1484313"/>
            <a:ext cx="832193" cy="685829"/>
          </a:xfrm>
          <a:prstGeom prst="rect">
            <a:avLst/>
          </a:pr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tx2"/>
                </a:solidFill>
                <a:effectLst/>
                <a:latin typeface="LMU CompatilFact" panose="02000500060000020003" pitchFamily="2" charset="0"/>
              </a:rPr>
              <a:t>R 255</a:t>
            </a:r>
          </a:p>
          <a:p>
            <a:r>
              <a:rPr lang="de-DE" sz="915" b="1" baseline="0" dirty="0">
                <a:solidFill>
                  <a:schemeClr val="tx2"/>
                </a:solidFill>
                <a:effectLst/>
                <a:latin typeface="LMU CompatilFact" panose="02000500060000020003" pitchFamily="2" charset="0"/>
              </a:rPr>
              <a:t>G 255</a:t>
            </a:r>
          </a:p>
          <a:p>
            <a:r>
              <a:rPr lang="de-DE" sz="915" b="1" baseline="0" dirty="0">
                <a:solidFill>
                  <a:schemeClr val="tx2"/>
                </a:solidFill>
                <a:effectLst/>
                <a:latin typeface="LMU CompatilFact" panose="02000500060000020003" pitchFamily="2" charset="0"/>
              </a:rPr>
              <a:t>B 255</a:t>
            </a:r>
            <a:endParaRPr lang="de-DE" sz="915" baseline="0" dirty="0">
              <a:solidFill>
                <a:schemeClr val="tx2"/>
              </a:solidFill>
              <a:effectLst/>
              <a:latin typeface="LMU CompatilFact" panose="02000500060000020003" pitchFamily="2" charset="0"/>
            </a:endParaRPr>
          </a:p>
        </p:txBody>
      </p:sp>
      <p:sp>
        <p:nvSpPr>
          <p:cNvPr id="54" name="Rechteck 53">
            <a:extLst>
              <a:ext uri="{FF2B5EF4-FFF2-40B4-BE49-F238E27FC236}">
                <a16:creationId xmlns:a16="http://schemas.microsoft.com/office/drawing/2014/main" id="{7699AD87-10CD-5C43-A6B2-3E71A6C1E6A5}"/>
              </a:ext>
            </a:extLst>
          </p:cNvPr>
          <p:cNvSpPr/>
          <p:nvPr userDrawn="1"/>
        </p:nvSpPr>
        <p:spPr>
          <a:xfrm>
            <a:off x="1631778" y="1484313"/>
            <a:ext cx="832193" cy="685829"/>
          </a:xfrm>
          <a:prstGeom prst="rect">
            <a:avLst/>
          </a:prstGeom>
          <a:solidFill>
            <a:schemeClr val="tx2"/>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35</a:t>
            </a:r>
          </a:p>
          <a:p>
            <a:r>
              <a:rPr lang="de-DE" sz="915" b="1" baseline="0" dirty="0">
                <a:solidFill>
                  <a:schemeClr val="bg1"/>
                </a:solidFill>
                <a:effectLst/>
                <a:latin typeface="LMU CompatilFact" panose="02000500060000020003" pitchFamily="2" charset="0"/>
              </a:rPr>
              <a:t>G 35</a:t>
            </a:r>
          </a:p>
          <a:p>
            <a:r>
              <a:rPr lang="de-DE" sz="915" b="1" baseline="0" dirty="0">
                <a:solidFill>
                  <a:schemeClr val="bg1"/>
                </a:solidFill>
                <a:effectLst/>
                <a:latin typeface="LMU CompatilFact" panose="02000500060000020003" pitchFamily="2" charset="0"/>
              </a:rPr>
              <a:t>B 35</a:t>
            </a:r>
            <a:endParaRPr lang="de-DE" sz="915" baseline="0" dirty="0">
              <a:solidFill>
                <a:schemeClr val="bg1"/>
              </a:solidFill>
              <a:effectLst/>
              <a:latin typeface="LMU CompatilFact" panose="02000500060000020003" pitchFamily="2" charset="0"/>
            </a:endParaRPr>
          </a:p>
        </p:txBody>
      </p:sp>
      <p:sp>
        <p:nvSpPr>
          <p:cNvPr id="55" name="Rechteck 54">
            <a:extLst>
              <a:ext uri="{FF2B5EF4-FFF2-40B4-BE49-F238E27FC236}">
                <a16:creationId xmlns:a16="http://schemas.microsoft.com/office/drawing/2014/main" id="{7E6E40C0-B5CF-3040-971F-4D8BB55D0746}"/>
              </a:ext>
            </a:extLst>
          </p:cNvPr>
          <p:cNvSpPr/>
          <p:nvPr userDrawn="1"/>
        </p:nvSpPr>
        <p:spPr>
          <a:xfrm>
            <a:off x="442802" y="2240393"/>
            <a:ext cx="832193"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LMU Grün </a:t>
            </a:r>
            <a:br>
              <a:rPr lang="de-DE" sz="800" b="1" baseline="0" dirty="0">
                <a:solidFill>
                  <a:schemeClr val="tx2"/>
                </a:solidFill>
                <a:effectLst/>
                <a:latin typeface="Arial" panose="020B0604020202020204" pitchFamily="34" charset="0"/>
              </a:rPr>
            </a:br>
            <a:endParaRPr lang="de-DE" sz="800" baseline="0" dirty="0">
              <a:solidFill>
                <a:schemeClr val="tx2"/>
              </a:solidFill>
              <a:effectLst/>
              <a:latin typeface="Arial" panose="020B0604020202020204" pitchFamily="34" charset="0"/>
            </a:endParaRPr>
          </a:p>
        </p:txBody>
      </p:sp>
      <p:sp>
        <p:nvSpPr>
          <p:cNvPr id="56" name="Rechteck 55">
            <a:extLst>
              <a:ext uri="{FF2B5EF4-FFF2-40B4-BE49-F238E27FC236}">
                <a16:creationId xmlns:a16="http://schemas.microsoft.com/office/drawing/2014/main" id="{5A2A488E-BCE0-BB4B-959A-3AC0A2CF9AFD}"/>
              </a:ext>
            </a:extLst>
          </p:cNvPr>
          <p:cNvSpPr/>
          <p:nvPr userDrawn="1"/>
        </p:nvSpPr>
        <p:spPr>
          <a:xfrm>
            <a:off x="442800" y="3144823"/>
            <a:ext cx="607189" cy="500399"/>
          </a:xfrm>
          <a:prstGeom prst="rect">
            <a:avLst/>
          </a:prstGeom>
          <a:solidFill>
            <a:schemeClr val="bg2"/>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98</a:t>
            </a:r>
          </a:p>
          <a:p>
            <a:r>
              <a:rPr lang="de-DE" sz="915" b="1" baseline="0" dirty="0">
                <a:solidFill>
                  <a:schemeClr val="bg1"/>
                </a:solidFill>
                <a:effectLst/>
                <a:latin typeface="LMU CompatilFact" panose="02000500060000020003" pitchFamily="2" charset="0"/>
              </a:rPr>
              <a:t>G 100</a:t>
            </a:r>
          </a:p>
          <a:p>
            <a:r>
              <a:rPr lang="de-DE" sz="915" b="1" baseline="0" dirty="0">
                <a:solidFill>
                  <a:schemeClr val="bg1"/>
                </a:solidFill>
                <a:effectLst/>
                <a:latin typeface="LMU CompatilFact" panose="02000500060000020003" pitchFamily="2" charset="0"/>
              </a:rPr>
              <a:t>B 104</a:t>
            </a:r>
            <a:endParaRPr lang="de-DE" sz="915" baseline="0" dirty="0">
              <a:solidFill>
                <a:schemeClr val="bg1"/>
              </a:solidFill>
              <a:effectLst/>
              <a:latin typeface="LMU CompatilFact" panose="02000500060000020003" pitchFamily="2" charset="0"/>
            </a:endParaRPr>
          </a:p>
        </p:txBody>
      </p:sp>
      <p:sp>
        <p:nvSpPr>
          <p:cNvPr id="57" name="Rechteck 56">
            <a:extLst>
              <a:ext uri="{FF2B5EF4-FFF2-40B4-BE49-F238E27FC236}">
                <a16:creationId xmlns:a16="http://schemas.microsoft.com/office/drawing/2014/main" id="{BAF76B9D-1CB6-774E-B88E-0CACB598FEF6}"/>
              </a:ext>
            </a:extLst>
          </p:cNvPr>
          <p:cNvSpPr/>
          <p:nvPr userDrawn="1"/>
        </p:nvSpPr>
        <p:spPr>
          <a:xfrm>
            <a:off x="2177818" y="3144823"/>
            <a:ext cx="607189" cy="500399"/>
          </a:xfrm>
          <a:prstGeom prst="rect">
            <a:avLst/>
          </a:prstGeom>
          <a:solidFill>
            <a:schemeClr val="accent2"/>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230</a:t>
            </a:r>
          </a:p>
          <a:p>
            <a:r>
              <a:rPr lang="de-DE" sz="915" b="1" baseline="0" dirty="0">
                <a:solidFill>
                  <a:schemeClr val="bg1"/>
                </a:solidFill>
                <a:effectLst/>
                <a:latin typeface="LMU CompatilFact" panose="02000500060000020003" pitchFamily="2" charset="0"/>
              </a:rPr>
              <a:t>G 230</a:t>
            </a:r>
          </a:p>
          <a:p>
            <a:r>
              <a:rPr lang="de-DE" sz="915" b="1" baseline="0" dirty="0">
                <a:solidFill>
                  <a:schemeClr val="bg1"/>
                </a:solidFill>
                <a:effectLst/>
                <a:latin typeface="LMU CompatilFact" panose="02000500060000020003" pitchFamily="2" charset="0"/>
              </a:rPr>
              <a:t>B 231</a:t>
            </a:r>
            <a:endParaRPr lang="de-DE" sz="915" baseline="0" dirty="0">
              <a:solidFill>
                <a:schemeClr val="bg1"/>
              </a:solidFill>
              <a:effectLst/>
              <a:latin typeface="LMU CompatilFact" panose="02000500060000020003" pitchFamily="2" charset="0"/>
            </a:endParaRPr>
          </a:p>
        </p:txBody>
      </p:sp>
      <p:sp>
        <p:nvSpPr>
          <p:cNvPr id="58" name="Rechteck 57">
            <a:extLst>
              <a:ext uri="{FF2B5EF4-FFF2-40B4-BE49-F238E27FC236}">
                <a16:creationId xmlns:a16="http://schemas.microsoft.com/office/drawing/2014/main" id="{D45CC143-00CB-E043-9C6B-880F634668A7}"/>
              </a:ext>
            </a:extLst>
          </p:cNvPr>
          <p:cNvSpPr/>
          <p:nvPr userDrawn="1"/>
        </p:nvSpPr>
        <p:spPr>
          <a:xfrm>
            <a:off x="1310310" y="3144823"/>
            <a:ext cx="607189" cy="500399"/>
          </a:xfrm>
          <a:prstGeom prst="rect">
            <a:avLst/>
          </a:prstGeom>
          <a:solidFill>
            <a:schemeClr val="accent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192</a:t>
            </a:r>
          </a:p>
          <a:p>
            <a:r>
              <a:rPr lang="de-DE" sz="915" b="1" baseline="0" dirty="0">
                <a:solidFill>
                  <a:schemeClr val="bg1"/>
                </a:solidFill>
                <a:effectLst/>
                <a:latin typeface="LMU CompatilFact" panose="02000500060000020003" pitchFamily="2" charset="0"/>
              </a:rPr>
              <a:t>G 193</a:t>
            </a:r>
          </a:p>
          <a:p>
            <a:r>
              <a:rPr lang="de-DE" sz="915" b="1" baseline="0" dirty="0">
                <a:solidFill>
                  <a:schemeClr val="bg1"/>
                </a:solidFill>
                <a:effectLst/>
                <a:latin typeface="LMU CompatilFact" panose="02000500060000020003" pitchFamily="2" charset="0"/>
              </a:rPr>
              <a:t>B 195</a:t>
            </a:r>
            <a:endParaRPr lang="de-DE" sz="915" baseline="0" dirty="0">
              <a:solidFill>
                <a:schemeClr val="bg1"/>
              </a:solidFill>
              <a:effectLst/>
              <a:latin typeface="LMU CompatilFact" panose="02000500060000020003" pitchFamily="2" charset="0"/>
            </a:endParaRPr>
          </a:p>
        </p:txBody>
      </p:sp>
      <p:sp>
        <p:nvSpPr>
          <p:cNvPr id="59" name="Rechteck 58">
            <a:extLst>
              <a:ext uri="{FF2B5EF4-FFF2-40B4-BE49-F238E27FC236}">
                <a16:creationId xmlns:a16="http://schemas.microsoft.com/office/drawing/2014/main" id="{C2788AA0-4D28-CA47-A881-1819C9B7F2B2}"/>
              </a:ext>
            </a:extLst>
          </p:cNvPr>
          <p:cNvSpPr/>
          <p:nvPr userDrawn="1"/>
        </p:nvSpPr>
        <p:spPr>
          <a:xfrm>
            <a:off x="3045759" y="3144823"/>
            <a:ext cx="607189" cy="500399"/>
          </a:xfrm>
          <a:prstGeom prst="rect">
            <a:avLst/>
          </a:prstGeom>
          <a:solidFill>
            <a:schemeClr val="accent3"/>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tx2"/>
                </a:solidFill>
                <a:effectLst/>
                <a:latin typeface="LMU CompatilFact" panose="02000500060000020003" pitchFamily="2" charset="0"/>
              </a:rPr>
              <a:t>R 245</a:t>
            </a:r>
          </a:p>
          <a:p>
            <a:r>
              <a:rPr lang="de-DE" sz="915" b="1" baseline="0" dirty="0">
                <a:solidFill>
                  <a:schemeClr val="tx2"/>
                </a:solidFill>
                <a:effectLst/>
                <a:latin typeface="LMU CompatilFact" panose="02000500060000020003" pitchFamily="2" charset="0"/>
              </a:rPr>
              <a:t>G 245</a:t>
            </a:r>
          </a:p>
          <a:p>
            <a:r>
              <a:rPr lang="de-DE" sz="915" b="1" baseline="0" dirty="0">
                <a:solidFill>
                  <a:schemeClr val="tx2"/>
                </a:solidFill>
                <a:effectLst/>
                <a:latin typeface="LMU CompatilFact" panose="02000500060000020003" pitchFamily="2" charset="0"/>
              </a:rPr>
              <a:t>B 245</a:t>
            </a:r>
            <a:endParaRPr lang="de-DE" sz="915" baseline="0" dirty="0">
              <a:solidFill>
                <a:schemeClr val="tx2"/>
              </a:solidFill>
              <a:effectLst/>
              <a:latin typeface="LMU CompatilFact" panose="02000500060000020003" pitchFamily="2" charset="0"/>
            </a:endParaRPr>
          </a:p>
        </p:txBody>
      </p:sp>
      <p:sp>
        <p:nvSpPr>
          <p:cNvPr id="60" name="Rechteck 59">
            <a:extLst>
              <a:ext uri="{FF2B5EF4-FFF2-40B4-BE49-F238E27FC236}">
                <a16:creationId xmlns:a16="http://schemas.microsoft.com/office/drawing/2014/main" id="{20A40CC5-176B-9442-82E4-408CAB2349BC}"/>
              </a:ext>
            </a:extLst>
          </p:cNvPr>
          <p:cNvSpPr/>
          <p:nvPr userDrawn="1"/>
        </p:nvSpPr>
        <p:spPr>
          <a:xfrm>
            <a:off x="442802" y="3750534"/>
            <a:ext cx="607188"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Sekundär Dunkelgrau</a:t>
            </a:r>
            <a:endParaRPr lang="de-DE" sz="800" baseline="0" dirty="0">
              <a:solidFill>
                <a:schemeClr val="tx2"/>
              </a:solidFill>
              <a:effectLst/>
              <a:latin typeface="Arial" panose="020B0604020202020204" pitchFamily="34" charset="0"/>
            </a:endParaRPr>
          </a:p>
        </p:txBody>
      </p:sp>
      <p:sp>
        <p:nvSpPr>
          <p:cNvPr id="61" name="Rechteck 60">
            <a:extLst>
              <a:ext uri="{FF2B5EF4-FFF2-40B4-BE49-F238E27FC236}">
                <a16:creationId xmlns:a16="http://schemas.microsoft.com/office/drawing/2014/main" id="{FA56A28D-A369-AD4B-AF9B-25C454F18A4E}"/>
              </a:ext>
            </a:extLst>
          </p:cNvPr>
          <p:cNvSpPr/>
          <p:nvPr userDrawn="1"/>
        </p:nvSpPr>
        <p:spPr>
          <a:xfrm>
            <a:off x="1310310" y="3750534"/>
            <a:ext cx="607188"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Sekundär Mittelgrau</a:t>
            </a:r>
            <a:endParaRPr lang="de-DE" sz="800" baseline="0" dirty="0">
              <a:solidFill>
                <a:schemeClr val="tx2"/>
              </a:solidFill>
              <a:effectLst/>
              <a:latin typeface="Arial" panose="020B0604020202020204" pitchFamily="34" charset="0"/>
            </a:endParaRPr>
          </a:p>
        </p:txBody>
      </p:sp>
      <p:sp>
        <p:nvSpPr>
          <p:cNvPr id="62" name="Rechteck 61">
            <a:extLst>
              <a:ext uri="{FF2B5EF4-FFF2-40B4-BE49-F238E27FC236}">
                <a16:creationId xmlns:a16="http://schemas.microsoft.com/office/drawing/2014/main" id="{7EF2EF5B-E92A-5D4A-8161-D33FFACE7341}"/>
              </a:ext>
            </a:extLst>
          </p:cNvPr>
          <p:cNvSpPr/>
          <p:nvPr userDrawn="1"/>
        </p:nvSpPr>
        <p:spPr>
          <a:xfrm>
            <a:off x="2187234" y="3750534"/>
            <a:ext cx="607188"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Sekundär Hellgrau</a:t>
            </a:r>
            <a:endParaRPr lang="de-DE" sz="800" baseline="0" dirty="0">
              <a:solidFill>
                <a:schemeClr val="tx2"/>
              </a:solidFill>
              <a:effectLst/>
              <a:latin typeface="Arial" panose="020B0604020202020204" pitchFamily="34" charset="0"/>
            </a:endParaRPr>
          </a:p>
        </p:txBody>
      </p:sp>
      <p:sp>
        <p:nvSpPr>
          <p:cNvPr id="63" name="Rechteck 62">
            <a:extLst>
              <a:ext uri="{FF2B5EF4-FFF2-40B4-BE49-F238E27FC236}">
                <a16:creationId xmlns:a16="http://schemas.microsoft.com/office/drawing/2014/main" id="{14B21CFC-1C2A-AD4E-82DE-A68CEF4308BE}"/>
              </a:ext>
            </a:extLst>
          </p:cNvPr>
          <p:cNvSpPr/>
          <p:nvPr userDrawn="1"/>
        </p:nvSpPr>
        <p:spPr>
          <a:xfrm>
            <a:off x="3048909" y="3750534"/>
            <a:ext cx="607188"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Sekundär Lichtgrau</a:t>
            </a:r>
            <a:endParaRPr lang="de-DE" sz="800" baseline="0" dirty="0">
              <a:solidFill>
                <a:schemeClr val="tx2"/>
              </a:solidFill>
              <a:effectLst/>
              <a:latin typeface="Arial" panose="020B0604020202020204" pitchFamily="34" charset="0"/>
            </a:endParaRPr>
          </a:p>
        </p:txBody>
      </p:sp>
      <p:sp>
        <p:nvSpPr>
          <p:cNvPr id="64" name="Rechteck 63">
            <a:extLst>
              <a:ext uri="{FF2B5EF4-FFF2-40B4-BE49-F238E27FC236}">
                <a16:creationId xmlns:a16="http://schemas.microsoft.com/office/drawing/2014/main" id="{C73389B4-7374-AB43-B9CD-0CA5B6ED4B02}"/>
              </a:ext>
            </a:extLst>
          </p:cNvPr>
          <p:cNvSpPr/>
          <p:nvPr userDrawn="1"/>
        </p:nvSpPr>
        <p:spPr>
          <a:xfrm>
            <a:off x="1617118" y="2240392"/>
            <a:ext cx="832193"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Schwarz</a:t>
            </a:r>
            <a:endParaRPr lang="de-DE" sz="800" baseline="0" dirty="0">
              <a:solidFill>
                <a:schemeClr val="tx2"/>
              </a:solidFill>
              <a:effectLst/>
              <a:latin typeface="Arial" panose="020B0604020202020204" pitchFamily="34" charset="0"/>
            </a:endParaRPr>
          </a:p>
        </p:txBody>
      </p:sp>
      <p:sp>
        <p:nvSpPr>
          <p:cNvPr id="65" name="Rechteck 64">
            <a:extLst>
              <a:ext uri="{FF2B5EF4-FFF2-40B4-BE49-F238E27FC236}">
                <a16:creationId xmlns:a16="http://schemas.microsoft.com/office/drawing/2014/main" id="{A8E62580-B452-9141-99B8-14D406341FD8}"/>
              </a:ext>
            </a:extLst>
          </p:cNvPr>
          <p:cNvSpPr/>
          <p:nvPr userDrawn="1"/>
        </p:nvSpPr>
        <p:spPr>
          <a:xfrm>
            <a:off x="2821937" y="2240392"/>
            <a:ext cx="832193" cy="123111"/>
          </a:xfrm>
          <a:prstGeom prst="rect">
            <a:avLst/>
          </a:prstGeom>
        </p:spPr>
        <p:txBody>
          <a:bodyPr wrap="square" lIns="0" tIns="0" rIns="0" bIns="0">
            <a:spAutoFit/>
          </a:bodyPr>
          <a:lstStyle/>
          <a:p>
            <a:r>
              <a:rPr lang="de-DE" sz="800" b="1" baseline="0" dirty="0" err="1">
                <a:solidFill>
                  <a:schemeClr val="tx2"/>
                </a:solidFill>
                <a:effectLst/>
                <a:latin typeface="Arial" panose="020B0604020202020204" pitchFamily="34" charset="0"/>
              </a:rPr>
              <a:t>Weiss</a:t>
            </a:r>
            <a:endParaRPr lang="de-DE" sz="800" baseline="0" dirty="0">
              <a:solidFill>
                <a:schemeClr val="tx2"/>
              </a:solidFill>
              <a:effectLst/>
              <a:latin typeface="Arial" panose="020B0604020202020204" pitchFamily="34" charset="0"/>
            </a:endParaRPr>
          </a:p>
        </p:txBody>
      </p:sp>
      <p:sp>
        <p:nvSpPr>
          <p:cNvPr id="66" name="Rechteck 65">
            <a:extLst>
              <a:ext uri="{FF2B5EF4-FFF2-40B4-BE49-F238E27FC236}">
                <a16:creationId xmlns:a16="http://schemas.microsoft.com/office/drawing/2014/main" id="{5C5DB8B7-067A-624F-90A9-5FE69A8819FA}"/>
              </a:ext>
            </a:extLst>
          </p:cNvPr>
          <p:cNvSpPr/>
          <p:nvPr userDrawn="1"/>
        </p:nvSpPr>
        <p:spPr>
          <a:xfrm>
            <a:off x="4619182" y="1485446"/>
            <a:ext cx="607189" cy="500399"/>
          </a:xfrm>
          <a:prstGeom prst="rect">
            <a:avLst/>
          </a:prstGeom>
          <a:solidFill>
            <a:schemeClr val="accent4"/>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15</a:t>
            </a:r>
          </a:p>
          <a:p>
            <a:r>
              <a:rPr lang="de-DE" sz="915" b="1" baseline="0" dirty="0">
                <a:solidFill>
                  <a:schemeClr val="bg1"/>
                </a:solidFill>
                <a:effectLst/>
                <a:latin typeface="LMU CompatilFact" panose="02000500060000020003" pitchFamily="2" charset="0"/>
              </a:rPr>
              <a:t>G 25</a:t>
            </a:r>
          </a:p>
          <a:p>
            <a:r>
              <a:rPr lang="de-DE" sz="915" b="1" baseline="0" dirty="0">
                <a:solidFill>
                  <a:schemeClr val="bg1"/>
                </a:solidFill>
                <a:effectLst/>
                <a:latin typeface="LMU CompatilFact" panose="02000500060000020003" pitchFamily="2" charset="0"/>
              </a:rPr>
              <a:t>B 135</a:t>
            </a:r>
            <a:endParaRPr lang="de-DE" sz="915" baseline="0" dirty="0">
              <a:solidFill>
                <a:schemeClr val="bg1"/>
              </a:solidFill>
              <a:effectLst/>
              <a:latin typeface="LMU CompatilFact" panose="02000500060000020003" pitchFamily="2" charset="0"/>
            </a:endParaRPr>
          </a:p>
        </p:txBody>
      </p:sp>
      <p:sp>
        <p:nvSpPr>
          <p:cNvPr id="67" name="Rechteck 66">
            <a:extLst>
              <a:ext uri="{FF2B5EF4-FFF2-40B4-BE49-F238E27FC236}">
                <a16:creationId xmlns:a16="http://schemas.microsoft.com/office/drawing/2014/main" id="{1A10FA4C-181C-BD41-AD4E-730F52457796}"/>
              </a:ext>
            </a:extLst>
          </p:cNvPr>
          <p:cNvSpPr/>
          <p:nvPr userDrawn="1"/>
        </p:nvSpPr>
        <p:spPr>
          <a:xfrm>
            <a:off x="6354200" y="1485446"/>
            <a:ext cx="607189" cy="500399"/>
          </a:xfrm>
          <a:prstGeom prst="rect">
            <a:avLst/>
          </a:prstGeom>
          <a:solidFill>
            <a:schemeClr val="accent6"/>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140</a:t>
            </a:r>
          </a:p>
          <a:p>
            <a:r>
              <a:rPr lang="de-DE" sz="915" b="1" baseline="0" dirty="0">
                <a:solidFill>
                  <a:schemeClr val="bg1"/>
                </a:solidFill>
                <a:effectLst/>
                <a:latin typeface="LMU CompatilFact" panose="02000500060000020003" pitchFamily="2" charset="0"/>
              </a:rPr>
              <a:t>G 64</a:t>
            </a:r>
          </a:p>
          <a:p>
            <a:r>
              <a:rPr lang="de-DE" sz="915" b="1" baseline="0" dirty="0">
                <a:solidFill>
                  <a:schemeClr val="bg1"/>
                </a:solidFill>
                <a:effectLst/>
                <a:latin typeface="LMU CompatilFact" panose="02000500060000020003" pitchFamily="2" charset="0"/>
              </a:rPr>
              <a:t>B 145</a:t>
            </a:r>
            <a:endParaRPr lang="de-DE" sz="915" baseline="0" dirty="0">
              <a:solidFill>
                <a:schemeClr val="bg1"/>
              </a:solidFill>
              <a:effectLst/>
              <a:latin typeface="LMU CompatilFact" panose="02000500060000020003" pitchFamily="2" charset="0"/>
            </a:endParaRPr>
          </a:p>
        </p:txBody>
      </p:sp>
      <p:sp>
        <p:nvSpPr>
          <p:cNvPr id="68" name="Rechteck 67">
            <a:extLst>
              <a:ext uri="{FF2B5EF4-FFF2-40B4-BE49-F238E27FC236}">
                <a16:creationId xmlns:a16="http://schemas.microsoft.com/office/drawing/2014/main" id="{A2466A38-6ECC-DF4F-869F-B98502E2D6A6}"/>
              </a:ext>
            </a:extLst>
          </p:cNvPr>
          <p:cNvSpPr/>
          <p:nvPr userDrawn="1"/>
        </p:nvSpPr>
        <p:spPr>
          <a:xfrm>
            <a:off x="5486692" y="1485446"/>
            <a:ext cx="607189" cy="500399"/>
          </a:xfrm>
          <a:prstGeom prst="rect">
            <a:avLst/>
          </a:prstGeom>
          <a:solidFill>
            <a:schemeClr val="accent5"/>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0</a:t>
            </a:r>
          </a:p>
          <a:p>
            <a:r>
              <a:rPr lang="de-DE" sz="915" b="1" baseline="0" dirty="0">
                <a:solidFill>
                  <a:schemeClr val="bg1"/>
                </a:solidFill>
                <a:effectLst/>
                <a:latin typeface="LMU CompatilFact" panose="02000500060000020003" pitchFamily="2" charset="0"/>
              </a:rPr>
              <a:t>G 159</a:t>
            </a:r>
          </a:p>
          <a:p>
            <a:r>
              <a:rPr lang="de-DE" sz="915" b="1" baseline="0" dirty="0">
                <a:solidFill>
                  <a:schemeClr val="bg1"/>
                </a:solidFill>
                <a:effectLst/>
                <a:latin typeface="LMU CompatilFact" panose="02000500060000020003" pitchFamily="2" charset="0"/>
              </a:rPr>
              <a:t>B 227</a:t>
            </a:r>
            <a:endParaRPr lang="de-DE" sz="915" baseline="0" dirty="0">
              <a:solidFill>
                <a:schemeClr val="bg1"/>
              </a:solidFill>
              <a:effectLst/>
              <a:latin typeface="LMU CompatilFact" panose="02000500060000020003" pitchFamily="2" charset="0"/>
            </a:endParaRPr>
          </a:p>
        </p:txBody>
      </p:sp>
      <p:sp>
        <p:nvSpPr>
          <p:cNvPr id="69" name="Rechteck 68">
            <a:extLst>
              <a:ext uri="{FF2B5EF4-FFF2-40B4-BE49-F238E27FC236}">
                <a16:creationId xmlns:a16="http://schemas.microsoft.com/office/drawing/2014/main" id="{59F62C27-0EB2-5442-90B6-6A8F0C17931E}"/>
              </a:ext>
            </a:extLst>
          </p:cNvPr>
          <p:cNvSpPr/>
          <p:nvPr userDrawn="1"/>
        </p:nvSpPr>
        <p:spPr>
          <a:xfrm>
            <a:off x="7222141" y="1485446"/>
            <a:ext cx="607189" cy="500399"/>
          </a:xfrm>
          <a:prstGeom prst="rect">
            <a:avLst/>
          </a:prstGeom>
          <a:solidFill>
            <a:srgbClr val="DC0D15"/>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215</a:t>
            </a:r>
          </a:p>
          <a:p>
            <a:r>
              <a:rPr lang="de-DE" sz="915" b="1" baseline="0" dirty="0">
                <a:solidFill>
                  <a:schemeClr val="bg1"/>
                </a:solidFill>
                <a:effectLst/>
                <a:latin typeface="LMU CompatilFact" panose="02000500060000020003" pitchFamily="2" charset="0"/>
              </a:rPr>
              <a:t>G 25</a:t>
            </a:r>
          </a:p>
          <a:p>
            <a:r>
              <a:rPr lang="de-DE" sz="915" b="1" baseline="0" dirty="0">
                <a:solidFill>
                  <a:schemeClr val="bg1"/>
                </a:solidFill>
                <a:effectLst/>
                <a:latin typeface="LMU CompatilFact" panose="02000500060000020003" pitchFamily="2" charset="0"/>
              </a:rPr>
              <a:t>B 25</a:t>
            </a:r>
            <a:endParaRPr lang="de-DE" sz="915" baseline="0" dirty="0">
              <a:solidFill>
                <a:schemeClr val="bg1"/>
              </a:solidFill>
              <a:effectLst/>
              <a:latin typeface="LMU CompatilFact" panose="02000500060000020003" pitchFamily="2" charset="0"/>
            </a:endParaRPr>
          </a:p>
        </p:txBody>
      </p:sp>
      <p:sp>
        <p:nvSpPr>
          <p:cNvPr id="70" name="Rechteck 69">
            <a:extLst>
              <a:ext uri="{FF2B5EF4-FFF2-40B4-BE49-F238E27FC236}">
                <a16:creationId xmlns:a16="http://schemas.microsoft.com/office/drawing/2014/main" id="{5B9B3239-0231-A24D-B42D-624E409B3D20}"/>
              </a:ext>
            </a:extLst>
          </p:cNvPr>
          <p:cNvSpPr/>
          <p:nvPr userDrawn="1"/>
        </p:nvSpPr>
        <p:spPr>
          <a:xfrm>
            <a:off x="4619184" y="2091158"/>
            <a:ext cx="607188"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Blau</a:t>
            </a:r>
            <a:endParaRPr lang="de-DE" sz="800" baseline="0" dirty="0">
              <a:solidFill>
                <a:schemeClr val="tx2"/>
              </a:solidFill>
              <a:effectLst/>
              <a:latin typeface="Arial" panose="020B0604020202020204" pitchFamily="34" charset="0"/>
            </a:endParaRPr>
          </a:p>
        </p:txBody>
      </p:sp>
      <p:sp>
        <p:nvSpPr>
          <p:cNvPr id="71" name="Rechteck 70">
            <a:extLst>
              <a:ext uri="{FF2B5EF4-FFF2-40B4-BE49-F238E27FC236}">
                <a16:creationId xmlns:a16="http://schemas.microsoft.com/office/drawing/2014/main" id="{D90492F4-04D9-0D48-A32F-3E322C29483A}"/>
              </a:ext>
            </a:extLst>
          </p:cNvPr>
          <p:cNvSpPr/>
          <p:nvPr userDrawn="1"/>
        </p:nvSpPr>
        <p:spPr>
          <a:xfrm>
            <a:off x="5486691" y="2091158"/>
            <a:ext cx="705915"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Cyan</a:t>
            </a:r>
            <a:endParaRPr lang="de-DE" sz="800" baseline="0" dirty="0">
              <a:solidFill>
                <a:schemeClr val="tx2"/>
              </a:solidFill>
              <a:effectLst/>
              <a:latin typeface="Arial" panose="020B0604020202020204" pitchFamily="34" charset="0"/>
            </a:endParaRPr>
          </a:p>
        </p:txBody>
      </p:sp>
      <p:sp>
        <p:nvSpPr>
          <p:cNvPr id="72" name="Rechteck 71">
            <a:extLst>
              <a:ext uri="{FF2B5EF4-FFF2-40B4-BE49-F238E27FC236}">
                <a16:creationId xmlns:a16="http://schemas.microsoft.com/office/drawing/2014/main" id="{0C3949AB-62CF-6643-83F3-F76B12005678}"/>
              </a:ext>
            </a:extLst>
          </p:cNvPr>
          <p:cNvSpPr/>
          <p:nvPr userDrawn="1"/>
        </p:nvSpPr>
        <p:spPr>
          <a:xfrm>
            <a:off x="6363616" y="2091157"/>
            <a:ext cx="705914"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Violett</a:t>
            </a:r>
            <a:endParaRPr lang="de-DE" sz="800" baseline="0" dirty="0">
              <a:solidFill>
                <a:schemeClr val="tx2"/>
              </a:solidFill>
              <a:effectLst/>
              <a:latin typeface="Arial" panose="020B0604020202020204" pitchFamily="34" charset="0"/>
            </a:endParaRPr>
          </a:p>
        </p:txBody>
      </p:sp>
      <p:sp>
        <p:nvSpPr>
          <p:cNvPr id="73" name="Rechteck 72">
            <a:extLst>
              <a:ext uri="{FF2B5EF4-FFF2-40B4-BE49-F238E27FC236}">
                <a16:creationId xmlns:a16="http://schemas.microsoft.com/office/drawing/2014/main" id="{3CD1B9CD-D09C-5D4A-B064-6355897E2041}"/>
              </a:ext>
            </a:extLst>
          </p:cNvPr>
          <p:cNvSpPr/>
          <p:nvPr userDrawn="1"/>
        </p:nvSpPr>
        <p:spPr>
          <a:xfrm>
            <a:off x="7225291" y="2091158"/>
            <a:ext cx="607188"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Rot</a:t>
            </a:r>
            <a:endParaRPr lang="de-DE" sz="800" baseline="0" dirty="0">
              <a:solidFill>
                <a:schemeClr val="tx2"/>
              </a:solidFill>
              <a:effectLst/>
              <a:latin typeface="Arial" panose="020B0604020202020204" pitchFamily="34" charset="0"/>
            </a:endParaRPr>
          </a:p>
        </p:txBody>
      </p:sp>
      <p:sp>
        <p:nvSpPr>
          <p:cNvPr id="74" name="Rechteck 73">
            <a:extLst>
              <a:ext uri="{FF2B5EF4-FFF2-40B4-BE49-F238E27FC236}">
                <a16:creationId xmlns:a16="http://schemas.microsoft.com/office/drawing/2014/main" id="{E0B457DF-BD61-044B-ACA4-342889CA02A1}"/>
              </a:ext>
            </a:extLst>
          </p:cNvPr>
          <p:cNvSpPr/>
          <p:nvPr userDrawn="1"/>
        </p:nvSpPr>
        <p:spPr>
          <a:xfrm>
            <a:off x="4619182" y="2490933"/>
            <a:ext cx="607189" cy="500399"/>
          </a:xfrm>
          <a:prstGeom prst="rect">
            <a:avLst/>
          </a:prstGeom>
          <a:solidFill>
            <a:srgbClr val="F18700"/>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241</a:t>
            </a:r>
          </a:p>
          <a:p>
            <a:r>
              <a:rPr lang="de-DE" sz="915" b="1" baseline="0" dirty="0">
                <a:solidFill>
                  <a:schemeClr val="bg1"/>
                </a:solidFill>
                <a:effectLst/>
                <a:latin typeface="LMU CompatilFact" panose="02000500060000020003" pitchFamily="2" charset="0"/>
              </a:rPr>
              <a:t>G 135</a:t>
            </a:r>
          </a:p>
          <a:p>
            <a:r>
              <a:rPr lang="de-DE" sz="915" b="1" baseline="0" dirty="0">
                <a:solidFill>
                  <a:schemeClr val="bg1"/>
                </a:solidFill>
                <a:effectLst/>
                <a:latin typeface="LMU CompatilFact" panose="02000500060000020003" pitchFamily="2" charset="0"/>
              </a:rPr>
              <a:t>B 0</a:t>
            </a:r>
            <a:endParaRPr lang="de-DE" sz="915" baseline="0" dirty="0">
              <a:solidFill>
                <a:schemeClr val="bg1"/>
              </a:solidFill>
              <a:effectLst/>
              <a:latin typeface="LMU CompatilFact" panose="02000500060000020003" pitchFamily="2" charset="0"/>
            </a:endParaRPr>
          </a:p>
        </p:txBody>
      </p:sp>
      <p:sp>
        <p:nvSpPr>
          <p:cNvPr id="75" name="Rechteck 74">
            <a:extLst>
              <a:ext uri="{FF2B5EF4-FFF2-40B4-BE49-F238E27FC236}">
                <a16:creationId xmlns:a16="http://schemas.microsoft.com/office/drawing/2014/main" id="{4931D8B5-D9AB-D547-B4C3-602A0499C239}"/>
              </a:ext>
            </a:extLst>
          </p:cNvPr>
          <p:cNvSpPr/>
          <p:nvPr userDrawn="1"/>
        </p:nvSpPr>
        <p:spPr>
          <a:xfrm>
            <a:off x="4619184" y="3096644"/>
            <a:ext cx="867508"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Orange</a:t>
            </a:r>
          </a:p>
        </p:txBody>
      </p:sp>
      <p:sp>
        <p:nvSpPr>
          <p:cNvPr id="28" name="Foliennummernplatzhalter 5">
            <a:extLst>
              <a:ext uri="{FF2B5EF4-FFF2-40B4-BE49-F238E27FC236}">
                <a16:creationId xmlns:a16="http://schemas.microsoft.com/office/drawing/2014/main" id="{01693ADF-65B3-4640-B7F1-43B81F7B84F3}"/>
              </a:ext>
            </a:extLst>
          </p:cNvPr>
          <p:cNvSpPr>
            <a:spLocks noGrp="1"/>
          </p:cNvSpPr>
          <p:nvPr>
            <p:ph type="sldNum" sz="quarter" idx="4"/>
          </p:nvPr>
        </p:nvSpPr>
        <p:spPr>
          <a:xfrm>
            <a:off x="11206140" y="6426773"/>
            <a:ext cx="720000" cy="270000"/>
          </a:xfrm>
          <a:prstGeom prst="rect">
            <a:avLst/>
          </a:prstGeom>
        </p:spPr>
        <p:txBody>
          <a:bodyPr vert="horz" lIns="0" tIns="0" rIns="0" bIns="0" rtlCol="0" anchor="t" anchorCtr="0"/>
          <a:lstStyle>
            <a:lvl1pPr algn="l">
              <a:defRPr sz="1200" b="1" i="0" baseline="0">
                <a:solidFill>
                  <a:schemeClr val="tx1"/>
                </a:solidFill>
                <a:latin typeface="Arial" panose="020B0604020202020204" pitchFamily="34" charset="0"/>
              </a:defRPr>
            </a:lvl1pPr>
          </a:lstStyle>
          <a:p>
            <a:pPr algn="l"/>
            <a:fld id="{3889EAAA-2A39-E347-B0AA-909793490C00}" type="slidenum">
              <a:rPr lang="de-DE" smtClean="0"/>
              <a:pPr algn="l"/>
              <a:t>‹#›</a:t>
            </a:fld>
            <a:endParaRPr lang="de-DE" dirty="0"/>
          </a:p>
        </p:txBody>
      </p:sp>
    </p:spTree>
    <p:extLst>
      <p:ext uri="{BB962C8B-B14F-4D97-AF65-F5344CB8AC3E}">
        <p14:creationId xmlns:p14="http://schemas.microsoft.com/office/powerpoint/2010/main" val="2774680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6BBB14D0-DC6F-4F19-9995-A3A836113DAD}" type="datetimeFigureOut">
              <a:rPr lang="de-DE" smtClean="0"/>
              <a:t>25.06.2026</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5D3F7A5B-EE70-4221-9107-375EFA0EA634}" type="slidenum">
              <a:rPr lang="de-DE" smtClean="0"/>
              <a:t>‹#›</a:t>
            </a:fld>
            <a:endParaRPr lang="de-DE"/>
          </a:p>
        </p:txBody>
      </p:sp>
    </p:spTree>
    <p:extLst>
      <p:ext uri="{BB962C8B-B14F-4D97-AF65-F5344CB8AC3E}">
        <p14:creationId xmlns:p14="http://schemas.microsoft.com/office/powerpoint/2010/main" val="4270467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ücktitel">
    <p:spTree>
      <p:nvGrpSpPr>
        <p:cNvPr id="1" name=""/>
        <p:cNvGrpSpPr/>
        <p:nvPr/>
      </p:nvGrpSpPr>
      <p:grpSpPr>
        <a:xfrm>
          <a:off x="0" y="0"/>
          <a:ext cx="0" cy="0"/>
          <a:chOff x="0" y="0"/>
          <a:chExt cx="0" cy="0"/>
        </a:xfrm>
      </p:grpSpPr>
      <p:sp>
        <p:nvSpPr>
          <p:cNvPr id="4" name="Textplatzhalter 4">
            <a:extLst>
              <a:ext uri="{FF2B5EF4-FFF2-40B4-BE49-F238E27FC236}">
                <a16:creationId xmlns:a16="http://schemas.microsoft.com/office/drawing/2014/main" id="{63CEC714-79BB-CB4B-8FB7-5903011CD8B2}"/>
              </a:ext>
            </a:extLst>
          </p:cNvPr>
          <p:cNvSpPr>
            <a:spLocks noGrp="1"/>
          </p:cNvSpPr>
          <p:nvPr>
            <p:ph type="body" sz="quarter" idx="11" hasCustomPrompt="1"/>
          </p:nvPr>
        </p:nvSpPr>
        <p:spPr>
          <a:xfrm>
            <a:off x="446400" y="5184000"/>
            <a:ext cx="5649600"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Absendername </a:t>
            </a:r>
            <a:br>
              <a:rPr lang="de-DE" b="1" dirty="0">
                <a:effectLst/>
                <a:latin typeface="Arial" panose="020B0604020202020204" pitchFamily="34" charset="0"/>
              </a:rPr>
            </a:br>
            <a:r>
              <a:rPr lang="de-DE" b="1" dirty="0">
                <a:effectLst/>
                <a:latin typeface="Arial" panose="020B0604020202020204" pitchFamily="34" charset="0"/>
              </a:rPr>
              <a:t>Musterstraße 00 · 80000 München · Tel. +49 89 0000 0000 </a:t>
            </a:r>
            <a:br>
              <a:rPr lang="de-DE" b="1" dirty="0">
                <a:effectLst/>
                <a:latin typeface="Arial" panose="020B0604020202020204" pitchFamily="34" charset="0"/>
              </a:rPr>
            </a:br>
            <a:r>
              <a:rPr lang="de-DE" b="1" dirty="0" err="1">
                <a:effectLst/>
                <a:latin typeface="Arial" panose="020B0604020202020204" pitchFamily="34" charset="0"/>
              </a:rPr>
              <a:t>info@musterdomain.de</a:t>
            </a:r>
            <a:r>
              <a:rPr lang="de-DE" b="1" dirty="0">
                <a:effectLst/>
                <a:latin typeface="Arial" panose="020B0604020202020204" pitchFamily="34" charset="0"/>
              </a:rPr>
              <a:t> · </a:t>
            </a:r>
            <a:r>
              <a:rPr lang="de-DE" b="1" dirty="0" err="1">
                <a:effectLst/>
                <a:latin typeface="Arial" panose="020B0604020202020204" pitchFamily="34" charset="0"/>
              </a:rPr>
              <a:t>www.musterdomain.de</a:t>
            </a:r>
            <a:endParaRPr lang="de-DE" dirty="0">
              <a:effectLst/>
              <a:latin typeface="Arial" panose="020B0604020202020204" pitchFamily="34" charset="0"/>
            </a:endParaRPr>
          </a:p>
        </p:txBody>
      </p:sp>
      <p:pic>
        <p:nvPicPr>
          <p:cNvPr id="5" name="Grafik 4">
            <a:extLst>
              <a:ext uri="{FF2B5EF4-FFF2-40B4-BE49-F238E27FC236}">
                <a16:creationId xmlns:a16="http://schemas.microsoft.com/office/drawing/2014/main" id="{DCD72F1F-1A49-6848-A8CB-5DD9EC0B6D6C}"/>
              </a:ext>
            </a:extLst>
          </p:cNvPr>
          <p:cNvPicPr>
            <a:picLocks noChangeAspect="1"/>
          </p:cNvPicPr>
          <p:nvPr userDrawn="1"/>
        </p:nvPicPr>
        <p:blipFill>
          <a:blip r:embed="rId2">
            <a:alphaModFix amt="25000"/>
          </a:blip>
          <a:stretch>
            <a:fillRect/>
          </a:stretch>
        </p:blipFill>
        <p:spPr>
          <a:xfrm>
            <a:off x="8648700" y="2743200"/>
            <a:ext cx="3543300" cy="4114800"/>
          </a:xfrm>
          <a:prstGeom prst="rect">
            <a:avLst/>
          </a:prstGeom>
        </p:spPr>
      </p:pic>
    </p:spTree>
    <p:extLst>
      <p:ext uri="{BB962C8B-B14F-4D97-AF65-F5344CB8AC3E}">
        <p14:creationId xmlns:p14="http://schemas.microsoft.com/office/powerpoint/2010/main" val="10997834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emf"/></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theme" Target="../theme/theme5.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DFD8EF26-FA82-6D40-93F2-70EAE952FA46}"/>
              </a:ext>
            </a:extLst>
          </p:cNvPr>
          <p:cNvSpPr/>
          <p:nvPr userDrawn="1"/>
        </p:nvSpPr>
        <p:spPr>
          <a:xfrm>
            <a:off x="1" y="1483200"/>
            <a:ext cx="5376454" cy="5374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4" name="Grafik 13">
            <a:extLst>
              <a:ext uri="{FF2B5EF4-FFF2-40B4-BE49-F238E27FC236}">
                <a16:creationId xmlns:a16="http://schemas.microsoft.com/office/drawing/2014/main" id="{DA465598-6EE5-EE49-A177-6E3551F9A56A}"/>
              </a:ext>
            </a:extLst>
          </p:cNvPr>
          <p:cNvPicPr>
            <a:picLocks noChangeAspect="1"/>
          </p:cNvPicPr>
          <p:nvPr userDrawn="1"/>
        </p:nvPicPr>
        <p:blipFill>
          <a:blip r:embed="rId6"/>
          <a:stretch>
            <a:fillRect/>
          </a:stretch>
        </p:blipFill>
        <p:spPr>
          <a:xfrm>
            <a:off x="446400" y="442800"/>
            <a:ext cx="11303000" cy="825500"/>
          </a:xfrm>
          <a:prstGeom prst="rect">
            <a:avLst/>
          </a:prstGeom>
        </p:spPr>
      </p:pic>
    </p:spTree>
    <p:extLst>
      <p:ext uri="{BB962C8B-B14F-4D97-AF65-F5344CB8AC3E}">
        <p14:creationId xmlns:p14="http://schemas.microsoft.com/office/powerpoint/2010/main" val="27306029"/>
      </p:ext>
    </p:extLst>
  </p:cSld>
  <p:clrMap bg1="lt1" tx1="dk1" bg2="lt2" tx2="dk2" accent1="accent1" accent2="accent2" accent3="accent3" accent4="accent4" accent5="accent5" accent6="accent6" hlink="hlink" folHlink="folHlink"/>
  <p:sldLayoutIdLst>
    <p:sldLayoutId id="2147483668" r:id="rId1"/>
    <p:sldLayoutId id="2147483661" r:id="rId2"/>
    <p:sldLayoutId id="2147483669" r:id="rId3"/>
    <p:sldLayoutId id="2147483655" r:id="rId4"/>
  </p:sldLayoutIdLst>
  <p:hf hdr="0" ftr="0" dt="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userDrawn="1">
          <p15:clr>
            <a:srgbClr val="F26B43"/>
          </p15:clr>
        </p15:guide>
        <p15:guide id="5" orient="horz" pos="4042" userDrawn="1">
          <p15:clr>
            <a:srgbClr val="F26B43"/>
          </p15:clr>
        </p15:guide>
        <p15:guide id="9" pos="7401" userDrawn="1">
          <p15:clr>
            <a:srgbClr val="F26B43"/>
          </p15:clr>
        </p15:guide>
        <p15:guide id="13" pos="279" userDrawn="1">
          <p15:clr>
            <a:srgbClr val="F26B43"/>
          </p15:clr>
        </p15:guide>
        <p15:guide id="14" orient="horz" pos="278" userDrawn="1">
          <p15:clr>
            <a:srgbClr val="F26B43"/>
          </p15:clr>
        </p15:guide>
        <p15:guide id="15" orient="horz"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DFD8EF26-FA82-6D40-93F2-70EAE952FA46}"/>
              </a:ext>
            </a:extLst>
          </p:cNvPr>
          <p:cNvSpPr/>
          <p:nvPr userDrawn="1"/>
        </p:nvSpPr>
        <p:spPr>
          <a:xfrm>
            <a:off x="1" y="1483200"/>
            <a:ext cx="5376454" cy="5374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5" name="Grafik 4">
            <a:extLst>
              <a:ext uri="{FF2B5EF4-FFF2-40B4-BE49-F238E27FC236}">
                <a16:creationId xmlns:a16="http://schemas.microsoft.com/office/drawing/2014/main" id="{94EC720E-3048-2B4D-B927-E08F3BECF120}"/>
              </a:ext>
            </a:extLst>
          </p:cNvPr>
          <p:cNvPicPr>
            <a:picLocks noChangeAspect="1"/>
          </p:cNvPicPr>
          <p:nvPr userDrawn="1"/>
        </p:nvPicPr>
        <p:blipFill>
          <a:blip r:embed="rId3"/>
          <a:stretch>
            <a:fillRect/>
          </a:stretch>
        </p:blipFill>
        <p:spPr>
          <a:xfrm>
            <a:off x="444500" y="442800"/>
            <a:ext cx="11303000" cy="825500"/>
          </a:xfrm>
          <a:prstGeom prst="rect">
            <a:avLst/>
          </a:prstGeom>
        </p:spPr>
      </p:pic>
      <p:sp>
        <p:nvSpPr>
          <p:cNvPr id="4" name="Textplatzhalter 12">
            <a:extLst>
              <a:ext uri="{FF2B5EF4-FFF2-40B4-BE49-F238E27FC236}">
                <a16:creationId xmlns:a16="http://schemas.microsoft.com/office/drawing/2014/main" id="{CA00277A-1612-8E45-8277-BB464F2F23D1}"/>
              </a:ext>
            </a:extLst>
          </p:cNvPr>
          <p:cNvSpPr txBox="1">
            <a:spLocks/>
          </p:cNvSpPr>
          <p:nvPr userDrawn="1"/>
        </p:nvSpPr>
        <p:spPr>
          <a:xfrm>
            <a:off x="2292387" y="441325"/>
            <a:ext cx="7724551" cy="825500"/>
          </a:xfrm>
          <a:prstGeom prst="rect">
            <a:avLst/>
          </a:prstGeom>
        </p:spPr>
        <p:txBody>
          <a:bodyPr lIns="54000" tIns="356400" rIns="54000" bIns="43200" anchor="b" anchorCtr="0"/>
          <a:lstStyle>
            <a:lvl1pPr marL="0" indent="0" algn="l" defTabSz="815557" rtl="0" eaLnBrk="1" latinLnBrk="0" hangingPunct="1">
              <a:lnSpc>
                <a:spcPct val="88000"/>
              </a:lnSpc>
              <a:spcBef>
                <a:spcPts val="0"/>
              </a:spcBef>
              <a:buFontTx/>
              <a:buNone/>
              <a:defRPr sz="680" b="1" i="0" kern="1200" cap="all" spc="80" baseline="0">
                <a:solidFill>
                  <a:schemeClr val="tx1"/>
                </a:solidFill>
                <a:latin typeface="+mn-lt"/>
                <a:ea typeface="+mn-ea"/>
                <a:cs typeface="+mn-cs"/>
              </a:defRPr>
            </a:lvl1pPr>
            <a:lvl2pPr marL="611668" indent="0" algn="l" defTabSz="815557" rtl="0" eaLnBrk="1" latinLnBrk="0" hangingPunct="1">
              <a:lnSpc>
                <a:spcPts val="880"/>
              </a:lnSpc>
              <a:spcBef>
                <a:spcPts val="446"/>
              </a:spcBef>
              <a:buFontTx/>
              <a:buNone/>
              <a:defRPr sz="680" b="1" i="0" kern="1200" cap="all" spc="80" baseline="0">
                <a:solidFill>
                  <a:schemeClr val="tx1"/>
                </a:solidFill>
                <a:latin typeface="+mn-lt"/>
                <a:ea typeface="+mn-ea"/>
                <a:cs typeface="+mn-cs"/>
              </a:defRPr>
            </a:lvl2pPr>
            <a:lvl3pPr marL="1019447" indent="0" algn="l" defTabSz="815557" rtl="0" eaLnBrk="1" latinLnBrk="0" hangingPunct="1">
              <a:lnSpc>
                <a:spcPts val="880"/>
              </a:lnSpc>
              <a:spcBef>
                <a:spcPts val="446"/>
              </a:spcBef>
              <a:buFontTx/>
              <a:buNone/>
              <a:defRPr sz="680" b="1" i="0" kern="1200" cap="all" spc="80" baseline="0">
                <a:solidFill>
                  <a:schemeClr val="tx1"/>
                </a:solidFill>
                <a:latin typeface="+mn-lt"/>
                <a:ea typeface="+mn-ea"/>
                <a:cs typeface="+mn-cs"/>
              </a:defRPr>
            </a:lvl3pPr>
            <a:lvl4pPr marL="1427225" indent="0" algn="l" defTabSz="815557" rtl="0" eaLnBrk="1" latinLnBrk="0" hangingPunct="1">
              <a:lnSpc>
                <a:spcPts val="880"/>
              </a:lnSpc>
              <a:spcBef>
                <a:spcPts val="446"/>
              </a:spcBef>
              <a:buFontTx/>
              <a:buNone/>
              <a:defRPr sz="680" b="1" i="0" kern="1200" cap="all" spc="80" baseline="0">
                <a:solidFill>
                  <a:schemeClr val="tx1"/>
                </a:solidFill>
                <a:latin typeface="+mn-lt"/>
                <a:ea typeface="+mn-ea"/>
                <a:cs typeface="+mn-cs"/>
              </a:defRPr>
            </a:lvl4pPr>
            <a:lvl5pPr marL="1835003" indent="0" algn="l" defTabSz="815557" rtl="0" eaLnBrk="1" latinLnBrk="0" hangingPunct="1">
              <a:lnSpc>
                <a:spcPts val="880"/>
              </a:lnSpc>
              <a:spcBef>
                <a:spcPts val="446"/>
              </a:spcBef>
              <a:buFontTx/>
              <a:buNone/>
              <a:defRPr sz="680" b="1" i="0" kern="1200" cap="all" spc="80" baseline="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a:lstStyle>
          <a:p>
            <a:r>
              <a:rPr lang="de-DE">
                <a:latin typeface="Arial" panose="020B0604020202020204" pitchFamily="34" charset="0"/>
              </a:rPr>
              <a:t>ÜBERSCHRIFT / TITEL / EINRICHTUNG XY</a:t>
            </a:r>
            <a:endParaRPr lang="de-DE" dirty="0">
              <a:latin typeface="Arial" panose="020B0604020202020204" pitchFamily="34" charset="0"/>
            </a:endParaRPr>
          </a:p>
        </p:txBody>
      </p:sp>
    </p:spTree>
    <p:extLst>
      <p:ext uri="{BB962C8B-B14F-4D97-AF65-F5344CB8AC3E}">
        <p14:creationId xmlns:p14="http://schemas.microsoft.com/office/powerpoint/2010/main" val="690856611"/>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p15:clr>
            <a:srgbClr val="F26B43"/>
          </p15:clr>
        </p15:guide>
        <p15:guide id="5" orient="horz" pos="4042">
          <p15:clr>
            <a:srgbClr val="F26B43"/>
          </p15:clr>
        </p15:guide>
        <p15:guide id="9" pos="7401">
          <p15:clr>
            <a:srgbClr val="F26B43"/>
          </p15:clr>
        </p15:guide>
        <p15:guide id="13" pos="279">
          <p15:clr>
            <a:srgbClr val="F26B43"/>
          </p15:clr>
        </p15:guide>
        <p15:guide id="14" orient="horz" pos="278">
          <p15:clr>
            <a:srgbClr val="F26B43"/>
          </p15:clr>
        </p15:guide>
        <p15:guide id="15" orient="horz">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2799E554-D74C-2D46-A4A0-20AFFC9B0320}"/>
              </a:ext>
            </a:extLst>
          </p:cNvPr>
          <p:cNvPicPr>
            <a:picLocks noChangeAspect="1"/>
          </p:cNvPicPr>
          <p:nvPr userDrawn="1"/>
        </p:nvPicPr>
        <p:blipFill>
          <a:blip r:embed="rId3">
            <a:alphaModFix amt="15000"/>
          </a:blip>
          <a:stretch>
            <a:fillRect/>
          </a:stretch>
        </p:blipFill>
        <p:spPr>
          <a:xfrm>
            <a:off x="8648700" y="2743200"/>
            <a:ext cx="3543300" cy="4114800"/>
          </a:xfrm>
          <a:prstGeom prst="rect">
            <a:avLst/>
          </a:prstGeom>
        </p:spPr>
      </p:pic>
      <p:pic>
        <p:nvPicPr>
          <p:cNvPr id="5" name="Grafik 4">
            <a:extLst>
              <a:ext uri="{FF2B5EF4-FFF2-40B4-BE49-F238E27FC236}">
                <a16:creationId xmlns:a16="http://schemas.microsoft.com/office/drawing/2014/main" id="{5A7DF8FA-2683-4642-B02D-78840267E6F7}"/>
              </a:ext>
            </a:extLst>
          </p:cNvPr>
          <p:cNvPicPr>
            <a:picLocks noChangeAspect="1"/>
          </p:cNvPicPr>
          <p:nvPr userDrawn="1"/>
        </p:nvPicPr>
        <p:blipFill>
          <a:blip r:embed="rId4"/>
          <a:stretch>
            <a:fillRect/>
          </a:stretch>
        </p:blipFill>
        <p:spPr>
          <a:xfrm>
            <a:off x="446399" y="441325"/>
            <a:ext cx="1744349" cy="825500"/>
          </a:xfrm>
          <a:prstGeom prst="rect">
            <a:avLst/>
          </a:prstGeom>
        </p:spPr>
      </p:pic>
    </p:spTree>
    <p:extLst>
      <p:ext uri="{BB962C8B-B14F-4D97-AF65-F5344CB8AC3E}">
        <p14:creationId xmlns:p14="http://schemas.microsoft.com/office/powerpoint/2010/main" val="2101947696"/>
      </p:ext>
    </p:extLst>
  </p:cSld>
  <p:clrMap bg1="lt1" tx1="dk1" bg2="lt2" tx2="dk2" accent1="accent1" accent2="accent2" accent3="accent3" accent4="accent4" accent5="accent5" accent6="accent6" hlink="hlink" folHlink="folHlink"/>
  <p:sldLayoutIdLst>
    <p:sldLayoutId id="2147483664" r:id="rId1"/>
  </p:sldLayoutIdLst>
  <p:hf hdr="0" ftr="0" dt="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p15:clr>
            <a:srgbClr val="F26B43"/>
          </p15:clr>
        </p15:guide>
        <p15:guide id="5" orient="horz" pos="4042">
          <p15:clr>
            <a:srgbClr val="F26B43"/>
          </p15:clr>
        </p15:guide>
        <p15:guide id="9" pos="7401">
          <p15:clr>
            <a:srgbClr val="F26B43"/>
          </p15:clr>
        </p15:guide>
        <p15:guide id="13" pos="279">
          <p15:clr>
            <a:srgbClr val="F26B43"/>
          </p15:clr>
        </p15:guide>
        <p15:guide id="14" orient="horz" pos="278">
          <p15:clr>
            <a:srgbClr val="F26B43"/>
          </p15:clr>
        </p15:guide>
        <p15:guide id="15" orient="horz">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Foliennummernplatzhalter 5">
            <a:extLst>
              <a:ext uri="{FF2B5EF4-FFF2-40B4-BE49-F238E27FC236}">
                <a16:creationId xmlns:a16="http://schemas.microsoft.com/office/drawing/2014/main" id="{6E27958E-5E01-8D4A-9B09-88661DB5E3B7}"/>
              </a:ext>
            </a:extLst>
          </p:cNvPr>
          <p:cNvSpPr>
            <a:spLocks noGrp="1"/>
          </p:cNvSpPr>
          <p:nvPr>
            <p:ph type="sldNum" sz="quarter" idx="4"/>
          </p:nvPr>
        </p:nvSpPr>
        <p:spPr>
          <a:xfrm>
            <a:off x="11206140" y="6426773"/>
            <a:ext cx="720000" cy="270000"/>
          </a:xfrm>
          <a:prstGeom prst="rect">
            <a:avLst/>
          </a:prstGeom>
        </p:spPr>
        <p:txBody>
          <a:bodyPr vert="horz" lIns="0" tIns="0" rIns="0" bIns="0" rtlCol="0" anchor="t" anchorCtr="0"/>
          <a:lstStyle>
            <a:lvl1pPr algn="l">
              <a:defRPr sz="1200" b="1" i="0" baseline="0">
                <a:solidFill>
                  <a:schemeClr val="tx1"/>
                </a:solidFill>
                <a:latin typeface="Arial" panose="020B0604020202020204" pitchFamily="34" charset="0"/>
              </a:defRPr>
            </a:lvl1pPr>
          </a:lstStyle>
          <a:p>
            <a:pPr algn="l"/>
            <a:fld id="{3889EAAA-2A39-E347-B0AA-909793490C00}" type="slidenum">
              <a:rPr lang="de-DE" smtClean="0"/>
              <a:pPr algn="l"/>
              <a:t>‹#›</a:t>
            </a:fld>
            <a:endParaRPr lang="de-DE" dirty="0"/>
          </a:p>
        </p:txBody>
      </p:sp>
    </p:spTree>
    <p:extLst>
      <p:ext uri="{BB962C8B-B14F-4D97-AF65-F5344CB8AC3E}">
        <p14:creationId xmlns:p14="http://schemas.microsoft.com/office/powerpoint/2010/main" val="273918430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74" r:id="rId3"/>
  </p:sldLayoutIdLst>
  <p:hf hdr="0" ftr="0" dt="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p15:clr>
            <a:srgbClr val="F26B43"/>
          </p15:clr>
        </p15:guide>
        <p15:guide id="5" orient="horz" pos="4042">
          <p15:clr>
            <a:srgbClr val="F26B43"/>
          </p15:clr>
        </p15:guide>
        <p15:guide id="9" pos="7401">
          <p15:clr>
            <a:srgbClr val="F26B43"/>
          </p15:clr>
        </p15:guide>
        <p15:guide id="13" pos="279">
          <p15:clr>
            <a:srgbClr val="F26B43"/>
          </p15:clr>
        </p15:guide>
        <p15:guide id="14" orient="horz" pos="278">
          <p15:clr>
            <a:srgbClr val="F26B43"/>
          </p15:clr>
        </p15:guide>
        <p15:guide id="15" orient="horz">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8DED63A8-5311-184A-B74C-C37B428BFE1A}"/>
              </a:ext>
            </a:extLst>
          </p:cNvPr>
          <p:cNvPicPr>
            <a:picLocks noChangeAspect="1"/>
          </p:cNvPicPr>
          <p:nvPr userDrawn="1"/>
        </p:nvPicPr>
        <p:blipFill>
          <a:blip r:embed="rId3"/>
          <a:stretch>
            <a:fillRect/>
          </a:stretch>
        </p:blipFill>
        <p:spPr>
          <a:xfrm>
            <a:off x="446400" y="442801"/>
            <a:ext cx="1745167" cy="825376"/>
          </a:xfrm>
          <a:prstGeom prst="rect">
            <a:avLst/>
          </a:prstGeom>
        </p:spPr>
      </p:pic>
    </p:spTree>
    <p:extLst>
      <p:ext uri="{BB962C8B-B14F-4D97-AF65-F5344CB8AC3E}">
        <p14:creationId xmlns:p14="http://schemas.microsoft.com/office/powerpoint/2010/main" val="3087104571"/>
      </p:ext>
    </p:extLst>
  </p:cSld>
  <p:clrMap bg1="lt1" tx1="dk1" bg2="lt2" tx2="dk2" accent1="accent1" accent2="accent2" accent3="accent3" accent4="accent4" accent5="accent5" accent6="accent6" hlink="hlink" folHlink="folHlink"/>
  <p:sldLayoutIdLst>
    <p:sldLayoutId id="2147483648" r:id="rId1"/>
  </p:sldLayoutIdLst>
  <p:hf hdr="0" ftr="0" dt="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p15:clr>
            <a:srgbClr val="F26B43"/>
          </p15:clr>
        </p15:guide>
        <p15:guide id="5" orient="horz" pos="4042">
          <p15:clr>
            <a:srgbClr val="F26B43"/>
          </p15:clr>
        </p15:guide>
        <p15:guide id="9" pos="7401">
          <p15:clr>
            <a:srgbClr val="F26B43"/>
          </p15:clr>
        </p15:guide>
        <p15:guide id="13" pos="279">
          <p15:clr>
            <a:srgbClr val="F26B43"/>
          </p15:clr>
        </p15:guide>
        <p15:guide id="14" orient="horz" pos="278">
          <p15:clr>
            <a:srgbClr val="F26B43"/>
          </p15:clr>
        </p15:guide>
        <p15:guide id="15" orient="horz">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mailto:amelia.zein@cais-research.de"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hyperlink" Target="http://www.psy.lmu.de/soz" TargetMode="External"/><Relationship Id="rId4" Type="http://schemas.openxmlformats.org/officeDocument/2006/relationships/hyperlink" Target="mailto:mario.gollwitzer@lmu.de"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CA4E1DCB-587B-9946-9FF3-4B1EDB28FDF7}"/>
              </a:ext>
            </a:extLst>
          </p:cNvPr>
          <p:cNvSpPr>
            <a:spLocks noGrp="1"/>
          </p:cNvSpPr>
          <p:nvPr>
            <p:ph type="body" sz="quarter" idx="11"/>
          </p:nvPr>
        </p:nvSpPr>
        <p:spPr/>
        <p:txBody>
          <a:bodyPr/>
          <a:lstStyle/>
          <a:p>
            <a:pPr>
              <a:lnSpc>
                <a:spcPct val="100000"/>
              </a:lnSpc>
              <a:spcAft>
                <a:spcPts val="600"/>
              </a:spcAft>
            </a:pPr>
            <a:r>
              <a:rPr lang="en-US" sz="2000" dirty="0">
                <a:solidFill>
                  <a:schemeClr val="accent1"/>
                </a:solidFill>
              </a:rPr>
              <a:t>Rizqy Amelia Zein (CAIS)</a:t>
            </a:r>
          </a:p>
          <a:p>
            <a:pPr>
              <a:lnSpc>
                <a:spcPct val="100000"/>
              </a:lnSpc>
              <a:spcAft>
                <a:spcPts val="600"/>
              </a:spcAft>
            </a:pPr>
            <a:r>
              <a:rPr lang="en-US" sz="2000" dirty="0">
                <a:solidFill>
                  <a:schemeClr val="accent1"/>
                </a:solidFill>
              </a:rPr>
              <a:t>Mario Gollwitzer (LMU)</a:t>
            </a:r>
            <a:endParaRPr lang="en-US" sz="1400" dirty="0">
              <a:solidFill>
                <a:schemeClr val="accent1"/>
              </a:solidFill>
            </a:endParaRPr>
          </a:p>
        </p:txBody>
      </p:sp>
      <p:sp>
        <p:nvSpPr>
          <p:cNvPr id="3" name="Textplatzhalter 2">
            <a:extLst>
              <a:ext uri="{FF2B5EF4-FFF2-40B4-BE49-F238E27FC236}">
                <a16:creationId xmlns:a16="http://schemas.microsoft.com/office/drawing/2014/main" id="{4D6A8734-5B11-6443-A825-B6099076A608}"/>
              </a:ext>
            </a:extLst>
          </p:cNvPr>
          <p:cNvSpPr>
            <a:spLocks noGrp="1"/>
          </p:cNvSpPr>
          <p:nvPr>
            <p:ph type="body" sz="quarter" idx="12"/>
          </p:nvPr>
        </p:nvSpPr>
        <p:spPr>
          <a:xfrm>
            <a:off x="446088" y="2159999"/>
            <a:ext cx="4686629" cy="3024001"/>
          </a:xfrm>
        </p:spPr>
        <p:txBody>
          <a:bodyPr/>
          <a:lstStyle/>
          <a:p>
            <a:pPr>
              <a:lnSpc>
                <a:spcPct val="100000"/>
              </a:lnSpc>
              <a:spcAft>
                <a:spcPts val="1200"/>
              </a:spcAft>
            </a:pPr>
            <a:r>
              <a:rPr lang="en-US" sz="3200" dirty="0"/>
              <a:t>The Role of Context in Explaining Effect Size Heterogeneity in Replication Studies</a:t>
            </a:r>
            <a:endParaRPr lang="de-DE" sz="3200" dirty="0"/>
          </a:p>
        </p:txBody>
      </p:sp>
      <p:sp>
        <p:nvSpPr>
          <p:cNvPr id="4" name="Textplatzhalter 3">
            <a:extLst>
              <a:ext uri="{FF2B5EF4-FFF2-40B4-BE49-F238E27FC236}">
                <a16:creationId xmlns:a16="http://schemas.microsoft.com/office/drawing/2014/main" id="{A743B3BE-E019-9248-9CFD-AA37921A91B2}"/>
              </a:ext>
            </a:extLst>
          </p:cNvPr>
          <p:cNvSpPr>
            <a:spLocks noGrp="1"/>
          </p:cNvSpPr>
          <p:nvPr>
            <p:ph type="body" sz="quarter" idx="13"/>
          </p:nvPr>
        </p:nvSpPr>
        <p:spPr/>
        <p:txBody>
          <a:body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7" name="Bildplatzhalter 6">
            <a:extLst>
              <a:ext uri="{FF2B5EF4-FFF2-40B4-BE49-F238E27FC236}">
                <a16:creationId xmlns:a16="http://schemas.microsoft.com/office/drawing/2014/main" id="{320D16A6-02A2-408C-88F0-CF4229404484}"/>
              </a:ext>
            </a:extLst>
          </p:cNvPr>
          <p:cNvSpPr>
            <a:spLocks noGrp="1"/>
          </p:cNvSpPr>
          <p:nvPr>
            <p:ph type="pic" sz="quarter" idx="10"/>
          </p:nvPr>
        </p:nvSpPr>
        <p:spPr/>
        <p:txBody>
          <a:bodyPr/>
          <a:lstStyle/>
          <a:p>
            <a:endParaRPr lang="de-DE"/>
          </a:p>
        </p:txBody>
      </p:sp>
      <p:pic>
        <p:nvPicPr>
          <p:cNvPr id="9" name="Bildplatzhalter 11">
            <a:extLst>
              <a:ext uri="{FF2B5EF4-FFF2-40B4-BE49-F238E27FC236}">
                <a16:creationId xmlns:a16="http://schemas.microsoft.com/office/drawing/2014/main" id="{1CFD733E-0318-4CDA-AD1A-E911CE08DC15}"/>
              </a:ext>
            </a:extLst>
          </p:cNvPr>
          <p:cNvPicPr>
            <a:picLocks noChangeAspect="1"/>
          </p:cNvPicPr>
          <p:nvPr/>
        </p:nvPicPr>
        <p:blipFill>
          <a:blip r:embed="rId2"/>
          <a:srcRect t="5" b="4"/>
          <a:stretch/>
        </p:blipFill>
        <p:spPr bwMode="auto">
          <a:xfrm>
            <a:off x="5372100" y="1493641"/>
            <a:ext cx="6819900" cy="5373687"/>
          </a:xfrm>
          <a:prstGeom prst="rect">
            <a:avLst/>
          </a:prstGeom>
        </p:spPr>
      </p:pic>
    </p:spTree>
    <p:extLst>
      <p:ext uri="{BB962C8B-B14F-4D97-AF65-F5344CB8AC3E}">
        <p14:creationId xmlns:p14="http://schemas.microsoft.com/office/powerpoint/2010/main" val="2797848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12">
            <a:extLst>
              <a:ext uri="{FF2B5EF4-FFF2-40B4-BE49-F238E27FC236}">
                <a16:creationId xmlns:a16="http://schemas.microsoft.com/office/drawing/2014/main" id="{42AC78B8-1083-4644-9D98-98740BD52D4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63B2FA3F-B075-49AB-A6DB-B2FFFB272FD3}"/>
              </a:ext>
            </a:extLst>
          </p:cNvPr>
          <p:cNvSpPr>
            <a:spLocks noGrp="1"/>
          </p:cNvSpPr>
          <p:nvPr>
            <p:ph type="sldNum" sz="quarter" idx="4"/>
          </p:nvPr>
        </p:nvSpPr>
        <p:spPr/>
        <p:txBody>
          <a:bodyPr/>
          <a:lstStyle/>
          <a:p>
            <a:fld id="{3889EAAA-2A39-E347-B0AA-909793490C00}" type="slidenum">
              <a:rPr lang="de-DE" smtClean="0"/>
              <a:pPr/>
              <a:t>2</a:t>
            </a:fld>
            <a:endParaRPr lang="de-DE" dirty="0"/>
          </a:p>
        </p:txBody>
      </p:sp>
      <p:sp>
        <p:nvSpPr>
          <p:cNvPr id="3" name="Textplatzhalter 2"/>
          <p:cNvSpPr>
            <a:spLocks noGrp="1"/>
          </p:cNvSpPr>
          <p:nvPr>
            <p:ph type="body" sz="quarter" idx="12"/>
          </p:nvPr>
        </p:nvSpPr>
        <p:spPr>
          <a:xfrm>
            <a:off x="442800" y="1449239"/>
            <a:ext cx="11306175" cy="888520"/>
          </a:xfrm>
        </p:spPr>
        <p:txBody>
          <a:bodyPr/>
          <a:lstStyle/>
          <a:p>
            <a:pPr>
              <a:lnSpc>
                <a:spcPct val="100000"/>
              </a:lnSpc>
            </a:pPr>
            <a:r>
              <a:rPr lang="en-US" sz="2800" dirty="0"/>
              <a:t>Replication “Crisis”</a:t>
            </a:r>
          </a:p>
        </p:txBody>
      </p:sp>
      <p:sp>
        <p:nvSpPr>
          <p:cNvPr id="8" name="Inhaltsplatzhalter 2">
            <a:extLst>
              <a:ext uri="{FF2B5EF4-FFF2-40B4-BE49-F238E27FC236}">
                <a16:creationId xmlns:a16="http://schemas.microsoft.com/office/drawing/2014/main" id="{9C0F004F-AA71-4A93-A2F6-2DBD78556564}"/>
              </a:ext>
            </a:extLst>
          </p:cNvPr>
          <p:cNvSpPr txBox="1">
            <a:spLocks/>
          </p:cNvSpPr>
          <p:nvPr/>
        </p:nvSpPr>
        <p:spPr>
          <a:xfrm>
            <a:off x="442800" y="2410610"/>
            <a:ext cx="11306175" cy="4169963"/>
          </a:xfrm>
          <a:prstGeom prst="rect">
            <a:avLst/>
          </a:prstGeom>
        </p:spPr>
        <p:txBody>
          <a:bodyPr lIns="36000" tIns="36000" rIns="36000" bIns="36000">
            <a:noAutofit/>
          </a:bodyPr>
          <a:lst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a:lstStyle>
          <a:p>
            <a:pPr>
              <a:lnSpc>
                <a:spcPct val="100000"/>
              </a:lnSpc>
              <a:spcBef>
                <a:spcPts val="0"/>
              </a:spcBef>
              <a:spcAft>
                <a:spcPts val="600"/>
              </a:spcAft>
            </a:pPr>
            <a:r>
              <a:rPr lang="en-US" sz="2000" dirty="0">
                <a:solidFill>
                  <a:srgbClr val="000000"/>
                </a:solidFill>
              </a:rPr>
              <a:t>A common assumption: Low replication rates are due to a </a:t>
            </a:r>
            <a:r>
              <a:rPr lang="en-US" sz="2000" b="1" dirty="0">
                <a:solidFill>
                  <a:srgbClr val="000000"/>
                </a:solidFill>
              </a:rPr>
              <a:t>flawed incentive system </a:t>
            </a:r>
            <a:r>
              <a:rPr lang="en-US" sz="2000" dirty="0">
                <a:solidFill>
                  <a:srgbClr val="000000"/>
                </a:solidFill>
              </a:rPr>
              <a:t>(“publish or perish”), </a:t>
            </a:r>
            <a:r>
              <a:rPr lang="en-US" sz="2000" b="1" dirty="0">
                <a:solidFill>
                  <a:srgbClr val="000000"/>
                </a:solidFill>
              </a:rPr>
              <a:t>lack of methodological competence</a:t>
            </a:r>
            <a:r>
              <a:rPr lang="en-US" sz="2000" dirty="0">
                <a:solidFill>
                  <a:srgbClr val="000000"/>
                </a:solidFill>
              </a:rPr>
              <a:t>, and </a:t>
            </a:r>
            <a:r>
              <a:rPr lang="en-US" sz="2000" b="1" dirty="0">
                <a:solidFill>
                  <a:srgbClr val="000000"/>
                </a:solidFill>
              </a:rPr>
              <a:t>questionable research practices</a:t>
            </a:r>
            <a:r>
              <a:rPr lang="en-US" sz="2000" dirty="0">
                <a:solidFill>
                  <a:srgbClr val="000000"/>
                </a:solidFill>
              </a:rPr>
              <a:t>:</a:t>
            </a:r>
          </a:p>
          <a:p>
            <a:pPr marL="611188" lvl="1" indent="-342900">
              <a:lnSpc>
                <a:spcPct val="100000"/>
              </a:lnSpc>
              <a:spcBef>
                <a:spcPts val="0"/>
              </a:spcBef>
              <a:spcAft>
                <a:spcPts val="600"/>
              </a:spcAft>
              <a:buFont typeface="Wingdings" panose="05000000000000000000" pitchFamily="2" charset="2"/>
              <a:buChar char="Ø"/>
            </a:pPr>
            <a:r>
              <a:rPr lang="en-US" sz="2000" dirty="0">
                <a:solidFill>
                  <a:srgbClr val="000000"/>
                </a:solidFill>
              </a:rPr>
              <a:t>“</a:t>
            </a:r>
            <a:r>
              <a:rPr lang="en-US" sz="2000" i="1" dirty="0">
                <a:solidFill>
                  <a:srgbClr val="000000"/>
                </a:solidFill>
              </a:rPr>
              <a:t>Many replications, in practice, are efforts to root out invalidity due either to questionable research practices that undermine the statistical evidence or to questionable validity of the treatments, measures,  and other study features used to produce the existing evidence</a:t>
            </a:r>
            <a:r>
              <a:rPr lang="en-US" sz="2000" dirty="0">
                <a:solidFill>
                  <a:srgbClr val="000000"/>
                </a:solidFill>
              </a:rPr>
              <a:t>.” (</a:t>
            </a:r>
            <a:r>
              <a:rPr lang="en-US" sz="2000" dirty="0" err="1">
                <a:solidFill>
                  <a:srgbClr val="000000"/>
                </a:solidFill>
              </a:rPr>
              <a:t>Nosek</a:t>
            </a:r>
            <a:r>
              <a:rPr lang="en-US" sz="2000" dirty="0">
                <a:solidFill>
                  <a:srgbClr val="000000"/>
                </a:solidFill>
              </a:rPr>
              <a:t> et al., 2022; p. 724).</a:t>
            </a:r>
          </a:p>
          <a:p>
            <a:pPr marL="611188" lvl="1" indent="-342900">
              <a:lnSpc>
                <a:spcPct val="100000"/>
              </a:lnSpc>
              <a:spcBef>
                <a:spcPts val="0"/>
              </a:spcBef>
              <a:spcAft>
                <a:spcPts val="600"/>
              </a:spcAft>
              <a:buFont typeface="Wingdings" panose="05000000000000000000" pitchFamily="2" charset="2"/>
              <a:buChar char="Ø"/>
            </a:pPr>
            <a:r>
              <a:rPr lang="en-US" sz="2000" dirty="0">
                <a:solidFill>
                  <a:srgbClr val="000000"/>
                </a:solidFill>
              </a:rPr>
              <a:t>“</a:t>
            </a:r>
            <a:r>
              <a:rPr lang="en-US" sz="2000" i="1" dirty="0">
                <a:solidFill>
                  <a:srgbClr val="000000"/>
                </a:solidFill>
              </a:rPr>
              <a:t>The only way forth is for psychological science to take seriously the major limitations in how psychological data are handled</a:t>
            </a:r>
            <a:r>
              <a:rPr lang="en-US" sz="2000" dirty="0">
                <a:solidFill>
                  <a:srgbClr val="000000"/>
                </a:solidFill>
              </a:rPr>
              <a:t>.” (Ferguson &amp; Heene, 2012; p. 559).</a:t>
            </a:r>
          </a:p>
          <a:p>
            <a:pPr marL="611188" lvl="1" indent="-342900">
              <a:lnSpc>
                <a:spcPct val="100000"/>
              </a:lnSpc>
              <a:spcBef>
                <a:spcPts val="0"/>
              </a:spcBef>
              <a:spcAft>
                <a:spcPts val="600"/>
              </a:spcAft>
              <a:buFont typeface="Wingdings" panose="05000000000000000000" pitchFamily="2" charset="2"/>
              <a:buChar char="Ø"/>
            </a:pPr>
            <a:r>
              <a:rPr lang="en-US" sz="2000" dirty="0">
                <a:solidFill>
                  <a:srgbClr val="000000"/>
                </a:solidFill>
              </a:rPr>
              <a:t>“</a:t>
            </a:r>
            <a:r>
              <a:rPr lang="en-US" sz="2000" i="1" dirty="0">
                <a:solidFill>
                  <a:srgbClr val="000000"/>
                </a:solidFill>
              </a:rPr>
              <a:t>A major replication project found that only 25% of results in social psychology could be replicated. I examine various explanations for this low replication rate and found most of them lacking in empirical support. I then provide evidence that the use of questionable research practices accounts for this result</a:t>
            </a:r>
            <a:r>
              <a:rPr lang="en-US" sz="2000" dirty="0">
                <a:solidFill>
                  <a:srgbClr val="000000"/>
                </a:solidFill>
              </a:rPr>
              <a:t>.” (</a:t>
            </a:r>
            <a:r>
              <a:rPr lang="en-US" sz="2000" dirty="0" err="1">
                <a:solidFill>
                  <a:srgbClr val="000000"/>
                </a:solidFill>
              </a:rPr>
              <a:t>Schimmack</a:t>
            </a:r>
            <a:r>
              <a:rPr lang="en-US" sz="2000" dirty="0">
                <a:solidFill>
                  <a:srgbClr val="000000"/>
                </a:solidFill>
              </a:rPr>
              <a:t>, 2020; p. 364).</a:t>
            </a:r>
          </a:p>
        </p:txBody>
      </p:sp>
    </p:spTree>
    <p:extLst>
      <p:ext uri="{BB962C8B-B14F-4D97-AF65-F5344CB8AC3E}">
        <p14:creationId xmlns:p14="http://schemas.microsoft.com/office/powerpoint/2010/main" val="236064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up)">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up)">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up)">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12">
            <a:extLst>
              <a:ext uri="{FF2B5EF4-FFF2-40B4-BE49-F238E27FC236}">
                <a16:creationId xmlns:a16="http://schemas.microsoft.com/office/drawing/2014/main" id="{42AC78B8-1083-4644-9D98-98740BD52D4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63B2FA3F-B075-49AB-A6DB-B2FFFB272FD3}"/>
              </a:ext>
            </a:extLst>
          </p:cNvPr>
          <p:cNvSpPr>
            <a:spLocks noGrp="1"/>
          </p:cNvSpPr>
          <p:nvPr>
            <p:ph type="sldNum" sz="quarter" idx="4"/>
          </p:nvPr>
        </p:nvSpPr>
        <p:spPr/>
        <p:txBody>
          <a:bodyPr/>
          <a:lstStyle/>
          <a:p>
            <a:fld id="{3889EAAA-2A39-E347-B0AA-909793490C00}" type="slidenum">
              <a:rPr lang="de-DE" smtClean="0"/>
              <a:pPr/>
              <a:t>3</a:t>
            </a:fld>
            <a:endParaRPr lang="de-DE" dirty="0"/>
          </a:p>
        </p:txBody>
      </p:sp>
      <p:sp>
        <p:nvSpPr>
          <p:cNvPr id="3" name="Textplatzhalter 2"/>
          <p:cNvSpPr>
            <a:spLocks noGrp="1"/>
          </p:cNvSpPr>
          <p:nvPr>
            <p:ph type="body" sz="quarter" idx="12"/>
          </p:nvPr>
        </p:nvSpPr>
        <p:spPr>
          <a:xfrm>
            <a:off x="442800" y="1449239"/>
            <a:ext cx="11306175" cy="888520"/>
          </a:xfrm>
        </p:spPr>
        <p:txBody>
          <a:bodyPr/>
          <a:lstStyle/>
          <a:p>
            <a:pPr>
              <a:lnSpc>
                <a:spcPct val="100000"/>
              </a:lnSpc>
            </a:pPr>
            <a:r>
              <a:rPr lang="en-US" sz="2800" dirty="0"/>
              <a:t>Replication “Crisis”</a:t>
            </a:r>
          </a:p>
        </p:txBody>
      </p:sp>
      <p:sp>
        <p:nvSpPr>
          <p:cNvPr id="8" name="Inhaltsplatzhalter 2">
            <a:extLst>
              <a:ext uri="{FF2B5EF4-FFF2-40B4-BE49-F238E27FC236}">
                <a16:creationId xmlns:a16="http://schemas.microsoft.com/office/drawing/2014/main" id="{9C0F004F-AA71-4A93-A2F6-2DBD78556564}"/>
              </a:ext>
            </a:extLst>
          </p:cNvPr>
          <p:cNvSpPr txBox="1">
            <a:spLocks/>
          </p:cNvSpPr>
          <p:nvPr/>
        </p:nvSpPr>
        <p:spPr>
          <a:xfrm>
            <a:off x="442800" y="2410610"/>
            <a:ext cx="11306175" cy="4169963"/>
          </a:xfrm>
          <a:prstGeom prst="rect">
            <a:avLst/>
          </a:prstGeom>
        </p:spPr>
        <p:txBody>
          <a:bodyPr lIns="36000" tIns="36000" rIns="36000" bIns="36000">
            <a:noAutofit/>
          </a:bodyPr>
          <a:lst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a:lstStyle>
          <a:p>
            <a:pPr>
              <a:lnSpc>
                <a:spcPct val="100000"/>
              </a:lnSpc>
              <a:spcBef>
                <a:spcPts val="0"/>
              </a:spcBef>
              <a:spcAft>
                <a:spcPts val="600"/>
              </a:spcAft>
            </a:pPr>
            <a:r>
              <a:rPr lang="en-US" sz="2000" dirty="0">
                <a:solidFill>
                  <a:srgbClr val="000000"/>
                </a:solidFill>
              </a:rPr>
              <a:t>A common assumption: Low replication rates are due to a </a:t>
            </a:r>
            <a:r>
              <a:rPr lang="en-US" sz="2000" b="1" dirty="0">
                <a:solidFill>
                  <a:srgbClr val="000000"/>
                </a:solidFill>
              </a:rPr>
              <a:t>flawed incentive system </a:t>
            </a:r>
            <a:r>
              <a:rPr lang="en-US" sz="2000" dirty="0">
                <a:solidFill>
                  <a:srgbClr val="000000"/>
                </a:solidFill>
              </a:rPr>
              <a:t>(“publish or perish”), </a:t>
            </a:r>
            <a:r>
              <a:rPr lang="en-US" sz="2000" b="1" dirty="0">
                <a:solidFill>
                  <a:srgbClr val="000000"/>
                </a:solidFill>
              </a:rPr>
              <a:t>lack of methodological competence</a:t>
            </a:r>
            <a:r>
              <a:rPr lang="en-US" sz="2000" dirty="0">
                <a:solidFill>
                  <a:srgbClr val="000000"/>
                </a:solidFill>
              </a:rPr>
              <a:t>, and </a:t>
            </a:r>
            <a:r>
              <a:rPr lang="en-US" sz="2000" b="1" dirty="0">
                <a:solidFill>
                  <a:srgbClr val="000000"/>
                </a:solidFill>
              </a:rPr>
              <a:t>questionable research practices</a:t>
            </a:r>
            <a:r>
              <a:rPr lang="en-US" sz="2000" dirty="0">
                <a:solidFill>
                  <a:srgbClr val="000000"/>
                </a:solidFill>
              </a:rPr>
              <a:t>.</a:t>
            </a:r>
          </a:p>
          <a:p>
            <a:pPr>
              <a:lnSpc>
                <a:spcPct val="100000"/>
              </a:lnSpc>
              <a:spcBef>
                <a:spcPts val="0"/>
              </a:spcBef>
              <a:spcAft>
                <a:spcPts val="600"/>
              </a:spcAft>
            </a:pPr>
            <a:r>
              <a:rPr lang="en-US" sz="2000" dirty="0">
                <a:solidFill>
                  <a:srgbClr val="000000"/>
                </a:solidFill>
              </a:rPr>
              <a:t>If this was true, then replication rates should increase …</a:t>
            </a:r>
          </a:p>
          <a:p>
            <a:pPr marL="538163" lvl="1" indent="-269875">
              <a:lnSpc>
                <a:spcPct val="100000"/>
              </a:lnSpc>
              <a:spcBef>
                <a:spcPts val="0"/>
              </a:spcBef>
              <a:spcAft>
                <a:spcPts val="600"/>
              </a:spcAft>
              <a:buFont typeface="Wingdings" panose="05000000000000000000" pitchFamily="2" charset="2"/>
              <a:buChar char="Ø"/>
            </a:pPr>
            <a:r>
              <a:rPr lang="en-US" sz="2000" dirty="0">
                <a:solidFill>
                  <a:srgbClr val="000000"/>
                </a:solidFill>
              </a:rPr>
              <a:t>by introducing changes to the </a:t>
            </a:r>
            <a:r>
              <a:rPr lang="en-US" sz="2000" b="1" dirty="0">
                <a:solidFill>
                  <a:srgbClr val="000000"/>
                </a:solidFill>
              </a:rPr>
              <a:t>incentive system</a:t>
            </a:r>
            <a:r>
              <a:rPr lang="en-US" sz="2000" dirty="0">
                <a:solidFill>
                  <a:srgbClr val="000000"/>
                </a:solidFill>
              </a:rPr>
              <a:t> (reward methodological rigor; punish </a:t>
            </a:r>
            <a:r>
              <a:rPr lang="en-US" sz="2000" i="1" dirty="0">
                <a:solidFill>
                  <a:srgbClr val="000000"/>
                </a:solidFill>
              </a:rPr>
              <a:t>p</a:t>
            </a:r>
            <a:r>
              <a:rPr lang="en-US" sz="2000" dirty="0">
                <a:solidFill>
                  <a:srgbClr val="000000"/>
                </a:solidFill>
              </a:rPr>
              <a:t>-hackers, etc.)</a:t>
            </a:r>
          </a:p>
          <a:p>
            <a:pPr marL="538163" lvl="1" indent="-269875">
              <a:lnSpc>
                <a:spcPct val="100000"/>
              </a:lnSpc>
              <a:spcBef>
                <a:spcPts val="0"/>
              </a:spcBef>
              <a:spcAft>
                <a:spcPts val="600"/>
              </a:spcAft>
              <a:buFont typeface="Wingdings" panose="05000000000000000000" pitchFamily="2" charset="2"/>
              <a:buChar char="Ø"/>
            </a:pPr>
            <a:r>
              <a:rPr lang="en-US" sz="2000" dirty="0">
                <a:solidFill>
                  <a:srgbClr val="000000"/>
                </a:solidFill>
              </a:rPr>
              <a:t>as researchers’ </a:t>
            </a:r>
            <a:r>
              <a:rPr lang="en-US" sz="2000" b="1" dirty="0">
                <a:solidFill>
                  <a:srgbClr val="000000"/>
                </a:solidFill>
              </a:rPr>
              <a:t>methodological competence </a:t>
            </a:r>
            <a:r>
              <a:rPr lang="en-US" sz="2000" dirty="0">
                <a:solidFill>
                  <a:srgbClr val="000000"/>
                </a:solidFill>
              </a:rPr>
              <a:t>increases (e.g., by providing resources, teaching them how to analyze data, etc.)</a:t>
            </a:r>
          </a:p>
          <a:p>
            <a:pPr marL="538163" lvl="1" indent="-269875">
              <a:lnSpc>
                <a:spcPct val="100000"/>
              </a:lnSpc>
              <a:spcBef>
                <a:spcPts val="0"/>
              </a:spcBef>
              <a:spcAft>
                <a:spcPts val="600"/>
              </a:spcAft>
              <a:buFont typeface="Wingdings" panose="05000000000000000000" pitchFamily="2" charset="2"/>
              <a:buChar char="Ø"/>
            </a:pPr>
            <a:r>
              <a:rPr lang="en-US" sz="2000" dirty="0">
                <a:solidFill>
                  <a:srgbClr val="000000"/>
                </a:solidFill>
              </a:rPr>
              <a:t>to the extent that </a:t>
            </a:r>
            <a:r>
              <a:rPr lang="en-US" sz="2000" b="1" dirty="0">
                <a:solidFill>
                  <a:srgbClr val="000000"/>
                </a:solidFill>
              </a:rPr>
              <a:t>QRPs</a:t>
            </a:r>
            <a:r>
              <a:rPr lang="en-US" sz="2000" dirty="0">
                <a:solidFill>
                  <a:srgbClr val="000000"/>
                </a:solidFill>
              </a:rPr>
              <a:t> are reduced (e.g., preregistration reduces HARKING; open data allow reproducibility checks and help identify </a:t>
            </a:r>
            <a:r>
              <a:rPr lang="en-US" sz="2000" i="1" dirty="0">
                <a:solidFill>
                  <a:srgbClr val="000000"/>
                </a:solidFill>
              </a:rPr>
              <a:t>p</a:t>
            </a:r>
            <a:r>
              <a:rPr lang="en-US" sz="2000" dirty="0">
                <a:solidFill>
                  <a:srgbClr val="000000"/>
                </a:solidFill>
              </a:rPr>
              <a:t>-hacking, etc.)</a:t>
            </a:r>
          </a:p>
        </p:txBody>
      </p:sp>
    </p:spTree>
    <p:extLst>
      <p:ext uri="{BB962C8B-B14F-4D97-AF65-F5344CB8AC3E}">
        <p14:creationId xmlns:p14="http://schemas.microsoft.com/office/powerpoint/2010/main" val="20624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wipe(up)">
                                      <p:cBhvr>
                                        <p:cTn id="7" dur="500"/>
                                        <p:tgtEl>
                                          <p:spTgt spid="8">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wipe(up)">
                                      <p:cBhvr>
                                        <p:cTn id="10" dur="500"/>
                                        <p:tgtEl>
                                          <p:spTgt spid="8">
                                            <p:txEl>
                                              <p:pRg st="2" end="2"/>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Effect transition="in" filter="wipe(up)">
                                      <p:cBhvr>
                                        <p:cTn id="13" dur="500"/>
                                        <p:tgtEl>
                                          <p:spTgt spid="8">
                                            <p:txEl>
                                              <p:pRg st="3" end="3"/>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8">
                                            <p:txEl>
                                              <p:pRg st="4" end="4"/>
                                            </p:txEl>
                                          </p:spTgt>
                                        </p:tgtEl>
                                        <p:attrNameLst>
                                          <p:attrName>style.visibility</p:attrName>
                                        </p:attrNameLst>
                                      </p:cBhvr>
                                      <p:to>
                                        <p:strVal val="visible"/>
                                      </p:to>
                                    </p:set>
                                    <p:animEffect transition="in" filter="wipe(up)">
                                      <p:cBhvr>
                                        <p:cTn id="16"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12">
            <a:extLst>
              <a:ext uri="{FF2B5EF4-FFF2-40B4-BE49-F238E27FC236}">
                <a16:creationId xmlns:a16="http://schemas.microsoft.com/office/drawing/2014/main" id="{42AC78B8-1083-4644-9D98-98740BD52D4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63B2FA3F-B075-49AB-A6DB-B2FFFB272FD3}"/>
              </a:ext>
            </a:extLst>
          </p:cNvPr>
          <p:cNvSpPr>
            <a:spLocks noGrp="1"/>
          </p:cNvSpPr>
          <p:nvPr>
            <p:ph type="sldNum" sz="quarter" idx="4"/>
          </p:nvPr>
        </p:nvSpPr>
        <p:spPr/>
        <p:txBody>
          <a:bodyPr/>
          <a:lstStyle/>
          <a:p>
            <a:fld id="{3889EAAA-2A39-E347-B0AA-909793490C00}" type="slidenum">
              <a:rPr lang="de-DE" smtClean="0"/>
              <a:pPr/>
              <a:t>4</a:t>
            </a:fld>
            <a:endParaRPr lang="de-DE" dirty="0"/>
          </a:p>
        </p:txBody>
      </p:sp>
      <p:sp>
        <p:nvSpPr>
          <p:cNvPr id="3" name="Textplatzhalter 2"/>
          <p:cNvSpPr>
            <a:spLocks noGrp="1"/>
          </p:cNvSpPr>
          <p:nvPr>
            <p:ph type="body" sz="quarter" idx="12"/>
          </p:nvPr>
        </p:nvSpPr>
        <p:spPr>
          <a:xfrm>
            <a:off x="442800" y="1449239"/>
            <a:ext cx="11306175" cy="888520"/>
          </a:xfrm>
        </p:spPr>
        <p:txBody>
          <a:bodyPr/>
          <a:lstStyle/>
          <a:p>
            <a:pPr>
              <a:lnSpc>
                <a:spcPct val="100000"/>
              </a:lnSpc>
            </a:pPr>
            <a:r>
              <a:rPr lang="en-US" sz="2800" dirty="0"/>
              <a:t>Replication “Crisis”</a:t>
            </a:r>
          </a:p>
        </p:txBody>
      </p:sp>
      <p:sp>
        <p:nvSpPr>
          <p:cNvPr id="8" name="Inhaltsplatzhalter 2">
            <a:extLst>
              <a:ext uri="{FF2B5EF4-FFF2-40B4-BE49-F238E27FC236}">
                <a16:creationId xmlns:a16="http://schemas.microsoft.com/office/drawing/2014/main" id="{9C0F004F-AA71-4A93-A2F6-2DBD78556564}"/>
              </a:ext>
            </a:extLst>
          </p:cNvPr>
          <p:cNvSpPr txBox="1">
            <a:spLocks/>
          </p:cNvSpPr>
          <p:nvPr/>
        </p:nvSpPr>
        <p:spPr>
          <a:xfrm>
            <a:off x="442800" y="2410610"/>
            <a:ext cx="11306175" cy="4169963"/>
          </a:xfrm>
          <a:prstGeom prst="rect">
            <a:avLst/>
          </a:prstGeom>
        </p:spPr>
        <p:txBody>
          <a:bodyPr lIns="36000" tIns="36000" rIns="36000" bIns="36000">
            <a:noAutofit/>
          </a:bodyPr>
          <a:lst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a:lstStyle>
          <a:p>
            <a:pPr>
              <a:lnSpc>
                <a:spcPct val="100000"/>
              </a:lnSpc>
              <a:spcBef>
                <a:spcPts val="0"/>
              </a:spcBef>
              <a:spcAft>
                <a:spcPts val="600"/>
              </a:spcAft>
            </a:pPr>
            <a:r>
              <a:rPr lang="en-US" sz="2000" dirty="0">
                <a:solidFill>
                  <a:srgbClr val="000000"/>
                </a:solidFill>
              </a:rPr>
              <a:t>The evidence shows that…</a:t>
            </a:r>
            <a:endParaRPr lang="en-US" sz="2000" dirty="0">
              <a:solidFill>
                <a:schemeClr val="tx2"/>
              </a:solidFill>
            </a:endParaRPr>
          </a:p>
          <a:p>
            <a:pPr marL="611188" lvl="1" indent="-342900">
              <a:lnSpc>
                <a:spcPct val="100000"/>
              </a:lnSpc>
              <a:spcBef>
                <a:spcPts val="0"/>
              </a:spcBef>
              <a:spcAft>
                <a:spcPts val="600"/>
              </a:spcAft>
              <a:buFont typeface="Wingdings" panose="05000000000000000000" pitchFamily="2" charset="2"/>
              <a:buChar char="Ø"/>
            </a:pPr>
            <a:r>
              <a:rPr lang="en-US" sz="2000" dirty="0">
                <a:solidFill>
                  <a:schemeClr val="tx2"/>
                </a:solidFill>
              </a:rPr>
              <a:t>questionable research practices can only explain a small part of non-replicability (e.g., Ulrich &amp; Miller, 2020; Wegener, </a:t>
            </a:r>
            <a:r>
              <a:rPr lang="en-US" sz="2000" dirty="0" err="1">
                <a:solidFill>
                  <a:schemeClr val="tx2"/>
                </a:solidFill>
              </a:rPr>
              <a:t>Pek</a:t>
            </a:r>
            <a:r>
              <a:rPr lang="en-US" sz="2000" dirty="0">
                <a:solidFill>
                  <a:schemeClr val="tx2"/>
                </a:solidFill>
              </a:rPr>
              <a:t>, &amp; Fabrigar, 2024)</a:t>
            </a:r>
          </a:p>
          <a:p>
            <a:pPr marL="611188" lvl="1" indent="-342900">
              <a:lnSpc>
                <a:spcPct val="100000"/>
              </a:lnSpc>
              <a:spcBef>
                <a:spcPts val="0"/>
              </a:spcBef>
              <a:spcAft>
                <a:spcPts val="600"/>
              </a:spcAft>
              <a:buFont typeface="Wingdings" panose="05000000000000000000" pitchFamily="2" charset="2"/>
              <a:buChar char="Ø"/>
            </a:pPr>
            <a:r>
              <a:rPr lang="en-US" sz="2000" dirty="0">
                <a:solidFill>
                  <a:schemeClr val="tx2"/>
                </a:solidFill>
              </a:rPr>
              <a:t>many pre-registrations are of low quality (Hahn et al., 2025) and deviations from the pre-registered analysis plan is the rule (rather than the exception; see Van den Akker et al., 2024)</a:t>
            </a:r>
          </a:p>
          <a:p>
            <a:pPr marL="611188" lvl="1" indent="-342900">
              <a:lnSpc>
                <a:spcPct val="100000"/>
              </a:lnSpc>
              <a:spcBef>
                <a:spcPts val="0"/>
              </a:spcBef>
              <a:spcAft>
                <a:spcPts val="600"/>
              </a:spcAft>
              <a:buFont typeface="Wingdings" panose="05000000000000000000" pitchFamily="2" charset="2"/>
              <a:buChar char="Ø"/>
            </a:pPr>
            <a:r>
              <a:rPr lang="en-US" sz="2000" dirty="0">
                <a:solidFill>
                  <a:schemeClr val="tx2"/>
                </a:solidFill>
              </a:rPr>
              <a:t>more and more datasets are now publicly accessible on repositories, but only a tiny fraction of data is actually re-usable (see </a:t>
            </a:r>
            <a:r>
              <a:rPr lang="en-US" sz="2000" dirty="0" err="1">
                <a:solidFill>
                  <a:schemeClr val="tx2"/>
                </a:solidFill>
              </a:rPr>
              <a:t>Crüwell</a:t>
            </a:r>
            <a:r>
              <a:rPr lang="en-US" sz="2000" dirty="0">
                <a:solidFill>
                  <a:schemeClr val="tx2"/>
                </a:solidFill>
              </a:rPr>
              <a:t> et al., 2023; Hardwicke et al., 2021), which explains why data are not really re-used (see Blask et al., 2021; </a:t>
            </a:r>
            <a:r>
              <a:rPr lang="en-US" sz="2000" dirty="0" err="1">
                <a:solidFill>
                  <a:schemeClr val="tx2"/>
                </a:solidFill>
              </a:rPr>
              <a:t>Tenopir</a:t>
            </a:r>
            <a:r>
              <a:rPr lang="en-US" sz="2000" dirty="0">
                <a:solidFill>
                  <a:schemeClr val="tx2"/>
                </a:solidFill>
              </a:rPr>
              <a:t> et al., 2020)</a:t>
            </a:r>
          </a:p>
          <a:p>
            <a:pPr>
              <a:lnSpc>
                <a:spcPct val="100000"/>
              </a:lnSpc>
              <a:spcBef>
                <a:spcPts val="0"/>
              </a:spcBef>
              <a:spcAft>
                <a:spcPts val="600"/>
              </a:spcAft>
            </a:pPr>
            <a:r>
              <a:rPr lang="en-US" sz="2000" dirty="0">
                <a:solidFill>
                  <a:srgbClr val="000000"/>
                </a:solidFill>
              </a:rPr>
              <a:t>No evidence that methodological reforms have actually increased replication rates.</a:t>
            </a:r>
          </a:p>
          <a:p>
            <a:pPr>
              <a:lnSpc>
                <a:spcPct val="100000"/>
              </a:lnSpc>
              <a:spcBef>
                <a:spcPts val="0"/>
              </a:spcBef>
              <a:spcAft>
                <a:spcPts val="600"/>
              </a:spcAft>
            </a:pPr>
            <a:r>
              <a:rPr lang="en-US" sz="2000" dirty="0">
                <a:solidFill>
                  <a:srgbClr val="000000"/>
                </a:solidFill>
              </a:rPr>
              <a:t>Idea that replication success depends on the </a:t>
            </a:r>
            <a:r>
              <a:rPr lang="en-US" sz="2000" b="1" dirty="0">
                <a:solidFill>
                  <a:srgbClr val="000000"/>
                </a:solidFill>
              </a:rPr>
              <a:t>context</a:t>
            </a:r>
            <a:r>
              <a:rPr lang="en-US" sz="2000" dirty="0">
                <a:solidFill>
                  <a:srgbClr val="000000"/>
                </a:solidFill>
              </a:rPr>
              <a:t> in which the original study and its replications have been conducted (e.g., sample characteristics, psychometric properties of manipulations and measures) has been dismissed…, but may still be a good one!</a:t>
            </a:r>
          </a:p>
        </p:txBody>
      </p:sp>
    </p:spTree>
    <p:extLst>
      <p:ext uri="{BB962C8B-B14F-4D97-AF65-F5344CB8AC3E}">
        <p14:creationId xmlns:p14="http://schemas.microsoft.com/office/powerpoint/2010/main" val="11567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up)">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up)">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up)">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up)">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up)">
                                      <p:cBhvr>
                                        <p:cTn id="3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12">
            <a:extLst>
              <a:ext uri="{FF2B5EF4-FFF2-40B4-BE49-F238E27FC236}">
                <a16:creationId xmlns:a16="http://schemas.microsoft.com/office/drawing/2014/main" id="{42AC78B8-1083-4644-9D98-98740BD52D4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63B2FA3F-B075-49AB-A6DB-B2FFFB272FD3}"/>
              </a:ext>
            </a:extLst>
          </p:cNvPr>
          <p:cNvSpPr>
            <a:spLocks noGrp="1"/>
          </p:cNvSpPr>
          <p:nvPr>
            <p:ph type="sldNum" sz="quarter" idx="4"/>
          </p:nvPr>
        </p:nvSpPr>
        <p:spPr/>
        <p:txBody>
          <a:bodyPr/>
          <a:lstStyle/>
          <a:p>
            <a:fld id="{3889EAAA-2A39-E347-B0AA-909793490C00}" type="slidenum">
              <a:rPr lang="de-DE" smtClean="0"/>
              <a:pPr/>
              <a:t>5</a:t>
            </a:fld>
            <a:endParaRPr lang="de-DE" dirty="0"/>
          </a:p>
        </p:txBody>
      </p:sp>
      <p:pic>
        <p:nvPicPr>
          <p:cNvPr id="9" name="Grafik 8">
            <a:extLst>
              <a:ext uri="{FF2B5EF4-FFF2-40B4-BE49-F238E27FC236}">
                <a16:creationId xmlns:a16="http://schemas.microsoft.com/office/drawing/2014/main" id="{DC75FCC1-594E-4BCB-B128-06FA6A5D66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1564197"/>
            <a:ext cx="8820472" cy="5202736"/>
          </a:xfrm>
          <a:prstGeom prst="rect">
            <a:avLst/>
          </a:prstGeom>
        </p:spPr>
      </p:pic>
      <p:sp>
        <p:nvSpPr>
          <p:cNvPr id="11" name="Textfeld 10">
            <a:extLst>
              <a:ext uri="{FF2B5EF4-FFF2-40B4-BE49-F238E27FC236}">
                <a16:creationId xmlns:a16="http://schemas.microsoft.com/office/drawing/2014/main" id="{A9981CD7-84A3-4106-B670-49BF8D9F0736}"/>
              </a:ext>
            </a:extLst>
          </p:cNvPr>
          <p:cNvSpPr txBox="1"/>
          <p:nvPr/>
        </p:nvSpPr>
        <p:spPr>
          <a:xfrm>
            <a:off x="9467272" y="5909369"/>
            <a:ext cx="2186753" cy="523220"/>
          </a:xfrm>
          <a:prstGeom prst="rect">
            <a:avLst/>
          </a:prstGeom>
          <a:noFill/>
        </p:spPr>
        <p:txBody>
          <a:bodyPr wrap="square" rtlCol="0">
            <a:spAutoFit/>
          </a:bodyPr>
          <a:lstStyle/>
          <a:p>
            <a:pPr algn="r"/>
            <a:r>
              <a:rPr lang="en-US" sz="1400" i="1" dirty="0" err="1"/>
              <a:t>ManyLabs</a:t>
            </a:r>
            <a:r>
              <a:rPr lang="en-US" sz="1400" i="1" dirty="0"/>
              <a:t> 1 Project </a:t>
            </a:r>
            <a:br>
              <a:rPr lang="en-US" sz="1400" i="1" dirty="0"/>
            </a:br>
            <a:r>
              <a:rPr lang="en-US" sz="1400" i="1" dirty="0"/>
              <a:t>(Klein et al., 2014)</a:t>
            </a:r>
          </a:p>
        </p:txBody>
      </p:sp>
    </p:spTree>
    <p:extLst>
      <p:ext uri="{BB962C8B-B14F-4D97-AF65-F5344CB8AC3E}">
        <p14:creationId xmlns:p14="http://schemas.microsoft.com/office/powerpoint/2010/main" val="1452645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12">
            <a:extLst>
              <a:ext uri="{FF2B5EF4-FFF2-40B4-BE49-F238E27FC236}">
                <a16:creationId xmlns:a16="http://schemas.microsoft.com/office/drawing/2014/main" id="{42AC78B8-1083-4644-9D98-98740BD52D4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63B2FA3F-B075-49AB-A6DB-B2FFFB272FD3}"/>
              </a:ext>
            </a:extLst>
          </p:cNvPr>
          <p:cNvSpPr>
            <a:spLocks noGrp="1"/>
          </p:cNvSpPr>
          <p:nvPr>
            <p:ph type="sldNum" sz="quarter" idx="4"/>
          </p:nvPr>
        </p:nvSpPr>
        <p:spPr/>
        <p:txBody>
          <a:bodyPr/>
          <a:lstStyle/>
          <a:p>
            <a:fld id="{3889EAAA-2A39-E347-B0AA-909793490C00}" type="slidenum">
              <a:rPr lang="de-DE" smtClean="0"/>
              <a:pPr/>
              <a:t>6</a:t>
            </a:fld>
            <a:endParaRPr lang="de-DE" dirty="0"/>
          </a:p>
        </p:txBody>
      </p:sp>
      <p:sp>
        <p:nvSpPr>
          <p:cNvPr id="3" name="Textplatzhalter 2"/>
          <p:cNvSpPr>
            <a:spLocks noGrp="1"/>
          </p:cNvSpPr>
          <p:nvPr>
            <p:ph type="body" sz="quarter" idx="12"/>
          </p:nvPr>
        </p:nvSpPr>
        <p:spPr>
          <a:xfrm>
            <a:off x="442800" y="1449239"/>
            <a:ext cx="11306175" cy="888520"/>
          </a:xfrm>
        </p:spPr>
        <p:txBody>
          <a:bodyPr/>
          <a:lstStyle/>
          <a:p>
            <a:pPr>
              <a:lnSpc>
                <a:spcPct val="100000"/>
              </a:lnSpc>
            </a:pPr>
            <a:r>
              <a:rPr lang="en-US" sz="2800" dirty="0"/>
              <a:t>Context Characteristics</a:t>
            </a:r>
            <a:endParaRPr lang="en-US" sz="2800" i="1" dirty="0"/>
          </a:p>
        </p:txBody>
      </p:sp>
      <p:pic>
        <p:nvPicPr>
          <p:cNvPr id="5" name="Grafik 4">
            <a:extLst>
              <a:ext uri="{FF2B5EF4-FFF2-40B4-BE49-F238E27FC236}">
                <a16:creationId xmlns:a16="http://schemas.microsoft.com/office/drawing/2014/main" id="{AD02D514-6706-4BFE-BD20-43236FCD581E}"/>
              </a:ext>
            </a:extLst>
          </p:cNvPr>
          <p:cNvPicPr>
            <a:picLocks noChangeAspect="1"/>
          </p:cNvPicPr>
          <p:nvPr/>
        </p:nvPicPr>
        <p:blipFill>
          <a:blip r:embed="rId3"/>
          <a:stretch>
            <a:fillRect/>
          </a:stretch>
        </p:blipFill>
        <p:spPr>
          <a:xfrm>
            <a:off x="1139398" y="2512964"/>
            <a:ext cx="9514472" cy="2553308"/>
          </a:xfrm>
          <a:prstGeom prst="rect">
            <a:avLst/>
          </a:prstGeom>
        </p:spPr>
      </p:pic>
      <p:sp>
        <p:nvSpPr>
          <p:cNvPr id="6" name="Textfeld 5">
            <a:extLst>
              <a:ext uri="{FF2B5EF4-FFF2-40B4-BE49-F238E27FC236}">
                <a16:creationId xmlns:a16="http://schemas.microsoft.com/office/drawing/2014/main" id="{71694DDD-7668-4B27-80A3-6E1BA479DDA5}"/>
              </a:ext>
            </a:extLst>
          </p:cNvPr>
          <p:cNvSpPr txBox="1"/>
          <p:nvPr/>
        </p:nvSpPr>
        <p:spPr>
          <a:xfrm>
            <a:off x="6888575" y="2441935"/>
            <a:ext cx="4049391" cy="584775"/>
          </a:xfrm>
          <a:prstGeom prst="rect">
            <a:avLst/>
          </a:prstGeom>
          <a:noFill/>
        </p:spPr>
        <p:txBody>
          <a:bodyPr wrap="square" rtlCol="0">
            <a:spAutoFit/>
          </a:bodyPr>
          <a:lstStyle/>
          <a:p>
            <a:r>
              <a:rPr lang="en-US" sz="1600" i="1" dirty="0"/>
              <a:t>(11 samples; e.g., ad-hoc student sample; </a:t>
            </a:r>
            <a:r>
              <a:rPr lang="en-US" sz="1600" i="1" dirty="0" err="1"/>
              <a:t>MTurkers</a:t>
            </a:r>
            <a:r>
              <a:rPr lang="en-US" sz="1600" i="1" dirty="0"/>
              <a:t>, Prolific workers, etc.)</a:t>
            </a:r>
          </a:p>
        </p:txBody>
      </p:sp>
      <p:sp>
        <p:nvSpPr>
          <p:cNvPr id="10" name="Textfeld 9">
            <a:extLst>
              <a:ext uri="{FF2B5EF4-FFF2-40B4-BE49-F238E27FC236}">
                <a16:creationId xmlns:a16="http://schemas.microsoft.com/office/drawing/2014/main" id="{8AA4B2D1-0256-44F6-9490-E26196DD8054}"/>
              </a:ext>
            </a:extLst>
          </p:cNvPr>
          <p:cNvSpPr txBox="1"/>
          <p:nvPr/>
        </p:nvSpPr>
        <p:spPr>
          <a:xfrm>
            <a:off x="6888574" y="3198234"/>
            <a:ext cx="5159166" cy="830997"/>
          </a:xfrm>
          <a:prstGeom prst="rect">
            <a:avLst/>
          </a:prstGeom>
          <a:noFill/>
        </p:spPr>
        <p:txBody>
          <a:bodyPr wrap="square" rtlCol="0">
            <a:spAutoFit/>
          </a:bodyPr>
          <a:lstStyle/>
          <a:p>
            <a:r>
              <a:rPr lang="en-US" sz="1600" i="1" dirty="0"/>
              <a:t>(i.e., </a:t>
            </a:r>
            <a:r>
              <a:rPr lang="en-US" sz="1600" b="1" dirty="0">
                <a:solidFill>
                  <a:schemeClr val="tx2"/>
                </a:solidFill>
              </a:rPr>
              <a:t>F</a:t>
            </a:r>
            <a:r>
              <a:rPr lang="en-US" sz="1600" i="1" dirty="0"/>
              <a:t>luid Intelligence [e.g., numeracy]; </a:t>
            </a:r>
            <a:r>
              <a:rPr lang="en-US" sz="1600" b="1" dirty="0">
                <a:solidFill>
                  <a:schemeClr val="tx2"/>
                </a:solidFill>
              </a:rPr>
              <a:t>A</a:t>
            </a:r>
            <a:r>
              <a:rPr lang="en-US" sz="1600" i="1" dirty="0"/>
              <a:t>ttentiveness; </a:t>
            </a:r>
            <a:r>
              <a:rPr lang="en-US" sz="1600" b="1" dirty="0">
                <a:solidFill>
                  <a:schemeClr val="tx2"/>
                </a:solidFill>
              </a:rPr>
              <a:t>C</a:t>
            </a:r>
            <a:r>
              <a:rPr lang="en-US" sz="1600" i="1" dirty="0"/>
              <a:t>rystallized Intelligence [e.g., knowledge, life experience]; </a:t>
            </a:r>
            <a:r>
              <a:rPr lang="en-US" sz="1600" b="1" dirty="0">
                <a:solidFill>
                  <a:schemeClr val="tx2"/>
                </a:solidFill>
              </a:rPr>
              <a:t>E</a:t>
            </a:r>
            <a:r>
              <a:rPr lang="en-US" sz="1600" i="1" dirty="0"/>
              <a:t>xperience with online surveys)</a:t>
            </a:r>
          </a:p>
        </p:txBody>
      </p:sp>
      <p:sp>
        <p:nvSpPr>
          <p:cNvPr id="11" name="Textfeld 10">
            <a:extLst>
              <a:ext uri="{FF2B5EF4-FFF2-40B4-BE49-F238E27FC236}">
                <a16:creationId xmlns:a16="http://schemas.microsoft.com/office/drawing/2014/main" id="{ABD4531F-35C3-4598-8275-400F9E9D460E}"/>
              </a:ext>
            </a:extLst>
          </p:cNvPr>
          <p:cNvSpPr txBox="1"/>
          <p:nvPr/>
        </p:nvSpPr>
        <p:spPr>
          <a:xfrm>
            <a:off x="1139398" y="5292569"/>
            <a:ext cx="9514472" cy="338554"/>
          </a:xfrm>
          <a:prstGeom prst="rect">
            <a:avLst/>
          </a:prstGeom>
          <a:noFill/>
        </p:spPr>
        <p:txBody>
          <a:bodyPr wrap="square" rtlCol="0">
            <a:spAutoFit/>
          </a:bodyPr>
          <a:lstStyle/>
          <a:p>
            <a:r>
              <a:rPr lang="en-US" sz="1600" i="1" dirty="0"/>
              <a:t>(Four famous effects in econ/social psych: default (opt-out/in); framing; less-is-better; sunk costs effect)</a:t>
            </a:r>
          </a:p>
        </p:txBody>
      </p:sp>
      <p:sp>
        <p:nvSpPr>
          <p:cNvPr id="12" name="Textfeld 11">
            <a:extLst>
              <a:ext uri="{FF2B5EF4-FFF2-40B4-BE49-F238E27FC236}">
                <a16:creationId xmlns:a16="http://schemas.microsoft.com/office/drawing/2014/main" id="{710E7AA8-3B93-4FC7-BCB3-ABB79CC8275C}"/>
              </a:ext>
            </a:extLst>
          </p:cNvPr>
          <p:cNvSpPr txBox="1"/>
          <p:nvPr/>
        </p:nvSpPr>
        <p:spPr>
          <a:xfrm>
            <a:off x="7946928" y="6470028"/>
            <a:ext cx="3802047" cy="307777"/>
          </a:xfrm>
          <a:prstGeom prst="rect">
            <a:avLst/>
          </a:prstGeom>
          <a:noFill/>
        </p:spPr>
        <p:txBody>
          <a:bodyPr wrap="square" rtlCol="0">
            <a:spAutoFit/>
          </a:bodyPr>
          <a:lstStyle/>
          <a:p>
            <a:r>
              <a:rPr lang="en-US" sz="1400" i="1" dirty="0"/>
              <a:t>from Krefeld-Schwalb et al. (2024)</a:t>
            </a:r>
          </a:p>
        </p:txBody>
      </p:sp>
      <p:pic>
        <p:nvPicPr>
          <p:cNvPr id="8" name="Grafik 7">
            <a:extLst>
              <a:ext uri="{FF2B5EF4-FFF2-40B4-BE49-F238E27FC236}">
                <a16:creationId xmlns:a16="http://schemas.microsoft.com/office/drawing/2014/main" id="{26EA2986-1FD5-41AD-9FB7-A6388CCC3931}"/>
              </a:ext>
            </a:extLst>
          </p:cNvPr>
          <p:cNvPicPr>
            <a:picLocks noChangeAspect="1"/>
          </p:cNvPicPr>
          <p:nvPr/>
        </p:nvPicPr>
        <p:blipFill>
          <a:blip r:embed="rId4"/>
          <a:stretch>
            <a:fillRect/>
          </a:stretch>
        </p:blipFill>
        <p:spPr>
          <a:xfrm>
            <a:off x="10597831" y="59001"/>
            <a:ext cx="1547987" cy="2211410"/>
          </a:xfrm>
          <a:prstGeom prst="rect">
            <a:avLst/>
          </a:prstGeom>
        </p:spPr>
      </p:pic>
    </p:spTree>
    <p:extLst>
      <p:ext uri="{BB962C8B-B14F-4D97-AF65-F5344CB8AC3E}">
        <p14:creationId xmlns:p14="http://schemas.microsoft.com/office/powerpoint/2010/main" val="24758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12">
            <a:extLst>
              <a:ext uri="{FF2B5EF4-FFF2-40B4-BE49-F238E27FC236}">
                <a16:creationId xmlns:a16="http://schemas.microsoft.com/office/drawing/2014/main" id="{42AC78B8-1083-4644-9D98-98740BD52D4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63B2FA3F-B075-49AB-A6DB-B2FFFB272FD3}"/>
              </a:ext>
            </a:extLst>
          </p:cNvPr>
          <p:cNvSpPr>
            <a:spLocks noGrp="1"/>
          </p:cNvSpPr>
          <p:nvPr>
            <p:ph type="sldNum" sz="quarter" idx="4"/>
          </p:nvPr>
        </p:nvSpPr>
        <p:spPr/>
        <p:txBody>
          <a:bodyPr/>
          <a:lstStyle/>
          <a:p>
            <a:fld id="{3889EAAA-2A39-E347-B0AA-909793490C00}" type="slidenum">
              <a:rPr lang="de-DE" smtClean="0"/>
              <a:pPr/>
              <a:t>7</a:t>
            </a:fld>
            <a:endParaRPr lang="de-DE" dirty="0"/>
          </a:p>
        </p:txBody>
      </p:sp>
      <p:sp>
        <p:nvSpPr>
          <p:cNvPr id="3" name="Textplatzhalter 2"/>
          <p:cNvSpPr>
            <a:spLocks noGrp="1"/>
          </p:cNvSpPr>
          <p:nvPr>
            <p:ph type="body" sz="quarter" idx="12"/>
          </p:nvPr>
        </p:nvSpPr>
        <p:spPr>
          <a:xfrm>
            <a:off x="442800" y="1449239"/>
            <a:ext cx="11306175" cy="888520"/>
          </a:xfrm>
        </p:spPr>
        <p:txBody>
          <a:bodyPr/>
          <a:lstStyle/>
          <a:p>
            <a:pPr>
              <a:lnSpc>
                <a:spcPct val="100000"/>
              </a:lnSpc>
            </a:pPr>
            <a:r>
              <a:rPr lang="en-US" sz="2800" dirty="0"/>
              <a:t>Context Characteristics</a:t>
            </a:r>
            <a:endParaRPr lang="en-US" sz="2800" i="1" dirty="0"/>
          </a:p>
        </p:txBody>
      </p:sp>
      <p:pic>
        <p:nvPicPr>
          <p:cNvPr id="8" name="Grafik 7">
            <a:extLst>
              <a:ext uri="{FF2B5EF4-FFF2-40B4-BE49-F238E27FC236}">
                <a16:creationId xmlns:a16="http://schemas.microsoft.com/office/drawing/2014/main" id="{08088D06-59EE-4A83-A730-E2725DCEBACD}"/>
              </a:ext>
            </a:extLst>
          </p:cNvPr>
          <p:cNvPicPr>
            <a:picLocks noChangeAspect="1"/>
          </p:cNvPicPr>
          <p:nvPr/>
        </p:nvPicPr>
        <p:blipFill>
          <a:blip r:embed="rId3"/>
          <a:stretch>
            <a:fillRect/>
          </a:stretch>
        </p:blipFill>
        <p:spPr>
          <a:xfrm>
            <a:off x="1386356" y="2095718"/>
            <a:ext cx="9080754" cy="4590981"/>
          </a:xfrm>
          <a:prstGeom prst="rect">
            <a:avLst/>
          </a:prstGeom>
        </p:spPr>
      </p:pic>
      <p:sp>
        <p:nvSpPr>
          <p:cNvPr id="9" name="Textfeld 8">
            <a:extLst>
              <a:ext uri="{FF2B5EF4-FFF2-40B4-BE49-F238E27FC236}">
                <a16:creationId xmlns:a16="http://schemas.microsoft.com/office/drawing/2014/main" id="{F5B2AA58-02BC-4DC5-8F51-C427CA8AFEDA}"/>
              </a:ext>
            </a:extLst>
          </p:cNvPr>
          <p:cNvSpPr txBox="1"/>
          <p:nvPr/>
        </p:nvSpPr>
        <p:spPr>
          <a:xfrm>
            <a:off x="7946928" y="6470028"/>
            <a:ext cx="3802047" cy="307777"/>
          </a:xfrm>
          <a:prstGeom prst="rect">
            <a:avLst/>
          </a:prstGeom>
          <a:noFill/>
        </p:spPr>
        <p:txBody>
          <a:bodyPr wrap="square" rtlCol="0">
            <a:spAutoFit/>
          </a:bodyPr>
          <a:lstStyle/>
          <a:p>
            <a:r>
              <a:rPr lang="en-US" sz="1400" i="1" dirty="0"/>
              <a:t>from Krefeld-Schwalb et al. (2024)</a:t>
            </a:r>
          </a:p>
        </p:txBody>
      </p:sp>
    </p:spTree>
    <p:extLst>
      <p:ext uri="{BB962C8B-B14F-4D97-AF65-F5344CB8AC3E}">
        <p14:creationId xmlns:p14="http://schemas.microsoft.com/office/powerpoint/2010/main" val="216408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12">
            <a:extLst>
              <a:ext uri="{FF2B5EF4-FFF2-40B4-BE49-F238E27FC236}">
                <a16:creationId xmlns:a16="http://schemas.microsoft.com/office/drawing/2014/main" id="{42AC78B8-1083-4644-9D98-98740BD52D4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63B2FA3F-B075-49AB-A6DB-B2FFFB272FD3}"/>
              </a:ext>
            </a:extLst>
          </p:cNvPr>
          <p:cNvSpPr>
            <a:spLocks noGrp="1"/>
          </p:cNvSpPr>
          <p:nvPr>
            <p:ph type="sldNum" sz="quarter" idx="4"/>
          </p:nvPr>
        </p:nvSpPr>
        <p:spPr/>
        <p:txBody>
          <a:bodyPr/>
          <a:lstStyle/>
          <a:p>
            <a:fld id="{3889EAAA-2A39-E347-B0AA-909793490C00}" type="slidenum">
              <a:rPr lang="de-DE" smtClean="0"/>
              <a:pPr/>
              <a:t>8</a:t>
            </a:fld>
            <a:endParaRPr lang="de-DE" dirty="0"/>
          </a:p>
        </p:txBody>
      </p:sp>
      <p:sp>
        <p:nvSpPr>
          <p:cNvPr id="3" name="Textplatzhalter 2"/>
          <p:cNvSpPr>
            <a:spLocks noGrp="1"/>
          </p:cNvSpPr>
          <p:nvPr>
            <p:ph type="body" sz="quarter" idx="12"/>
          </p:nvPr>
        </p:nvSpPr>
        <p:spPr>
          <a:xfrm>
            <a:off x="442800" y="1449239"/>
            <a:ext cx="11306175" cy="888520"/>
          </a:xfrm>
        </p:spPr>
        <p:txBody>
          <a:bodyPr/>
          <a:lstStyle/>
          <a:p>
            <a:pPr>
              <a:lnSpc>
                <a:spcPct val="100000"/>
              </a:lnSpc>
            </a:pPr>
            <a:r>
              <a:rPr lang="en-US" sz="2800" dirty="0"/>
              <a:t>Context Characteristics</a:t>
            </a:r>
            <a:endParaRPr lang="en-US" sz="2800" i="1" dirty="0"/>
          </a:p>
        </p:txBody>
      </p:sp>
      <p:pic>
        <p:nvPicPr>
          <p:cNvPr id="5" name="Grafik 4">
            <a:extLst>
              <a:ext uri="{FF2B5EF4-FFF2-40B4-BE49-F238E27FC236}">
                <a16:creationId xmlns:a16="http://schemas.microsoft.com/office/drawing/2014/main" id="{DD95CADB-C37A-459E-AF92-9768D0925511}"/>
              </a:ext>
            </a:extLst>
          </p:cNvPr>
          <p:cNvPicPr>
            <a:picLocks noChangeAspect="1"/>
          </p:cNvPicPr>
          <p:nvPr/>
        </p:nvPicPr>
        <p:blipFill>
          <a:blip r:embed="rId3"/>
          <a:stretch>
            <a:fillRect/>
          </a:stretch>
        </p:blipFill>
        <p:spPr>
          <a:xfrm>
            <a:off x="1953491" y="2009200"/>
            <a:ext cx="5541386" cy="4750891"/>
          </a:xfrm>
          <a:prstGeom prst="rect">
            <a:avLst/>
          </a:prstGeom>
        </p:spPr>
      </p:pic>
      <p:sp>
        <p:nvSpPr>
          <p:cNvPr id="9" name="Textfeld 8">
            <a:extLst>
              <a:ext uri="{FF2B5EF4-FFF2-40B4-BE49-F238E27FC236}">
                <a16:creationId xmlns:a16="http://schemas.microsoft.com/office/drawing/2014/main" id="{651F3097-DE5A-4BFA-B1B4-44114AAF2D36}"/>
              </a:ext>
            </a:extLst>
          </p:cNvPr>
          <p:cNvSpPr txBox="1"/>
          <p:nvPr/>
        </p:nvSpPr>
        <p:spPr>
          <a:xfrm>
            <a:off x="7946928" y="1797722"/>
            <a:ext cx="3802047" cy="3046988"/>
          </a:xfrm>
          <a:prstGeom prst="rect">
            <a:avLst/>
          </a:prstGeom>
          <a:noFill/>
        </p:spPr>
        <p:txBody>
          <a:bodyPr wrap="square" rtlCol="0">
            <a:spAutoFit/>
          </a:bodyPr>
          <a:lstStyle/>
          <a:p>
            <a:r>
              <a:rPr lang="en-US" sz="1600" i="1" dirty="0"/>
              <a:t>Samples vary considerably with regard to the “FACE” parameters…:</a:t>
            </a:r>
          </a:p>
          <a:p>
            <a:endParaRPr lang="en-US" sz="1600" i="1" dirty="0"/>
          </a:p>
          <a:p>
            <a:r>
              <a:rPr lang="en-US" sz="1600" i="1" dirty="0" err="1"/>
              <a:t>MTurkers</a:t>
            </a:r>
            <a:r>
              <a:rPr lang="en-US" sz="1600" i="1" dirty="0"/>
              <a:t> are …</a:t>
            </a:r>
          </a:p>
          <a:p>
            <a:pPr marL="285750" indent="-285750">
              <a:buFont typeface="Arial" panose="020B0604020202020204" pitchFamily="34" charset="0"/>
              <a:buChar char="•"/>
            </a:pPr>
            <a:r>
              <a:rPr lang="en-US" sz="1600" i="1" dirty="0"/>
              <a:t>Low in </a:t>
            </a:r>
            <a:r>
              <a:rPr lang="en-US" sz="1600" b="1" dirty="0">
                <a:solidFill>
                  <a:schemeClr val="tx2"/>
                </a:solidFill>
              </a:rPr>
              <a:t>A</a:t>
            </a:r>
            <a:r>
              <a:rPr lang="en-US" sz="1600" i="1" dirty="0"/>
              <a:t>ttentiveness</a:t>
            </a:r>
          </a:p>
          <a:p>
            <a:pPr marL="285750" indent="-285750">
              <a:buFont typeface="Arial" panose="020B0604020202020204" pitchFamily="34" charset="0"/>
              <a:buChar char="•"/>
            </a:pPr>
            <a:r>
              <a:rPr lang="en-US" sz="1600" i="1" dirty="0"/>
              <a:t>High in </a:t>
            </a:r>
            <a:r>
              <a:rPr lang="en-US" sz="1600" b="1" dirty="0">
                <a:solidFill>
                  <a:schemeClr val="tx2"/>
                </a:solidFill>
              </a:rPr>
              <a:t>C</a:t>
            </a:r>
            <a:r>
              <a:rPr lang="en-US" sz="1600" i="1" dirty="0"/>
              <a:t>rystallized Intelligence</a:t>
            </a:r>
          </a:p>
          <a:p>
            <a:pPr marL="285750" indent="-285750">
              <a:buFont typeface="Arial" panose="020B0604020202020204" pitchFamily="34" charset="0"/>
              <a:buChar char="•"/>
            </a:pPr>
            <a:r>
              <a:rPr lang="en-US" sz="1600" i="1" dirty="0"/>
              <a:t>High in </a:t>
            </a:r>
            <a:r>
              <a:rPr lang="en-US" sz="1600" b="1" dirty="0">
                <a:solidFill>
                  <a:schemeClr val="tx2"/>
                </a:solidFill>
              </a:rPr>
              <a:t>E</a:t>
            </a:r>
            <a:r>
              <a:rPr lang="en-US" sz="1600" i="1" dirty="0"/>
              <a:t>xperience</a:t>
            </a:r>
          </a:p>
          <a:p>
            <a:endParaRPr lang="en-US" sz="1600" i="1" dirty="0"/>
          </a:p>
          <a:p>
            <a:r>
              <a:rPr lang="en-US" sz="1600" i="1" dirty="0"/>
              <a:t>Students are …</a:t>
            </a:r>
          </a:p>
          <a:p>
            <a:pPr marL="285750" indent="-285750">
              <a:buFont typeface="Arial" panose="020B0604020202020204" pitchFamily="34" charset="0"/>
              <a:buChar char="•"/>
            </a:pPr>
            <a:r>
              <a:rPr lang="en-US" sz="1600" i="1" dirty="0"/>
              <a:t>High in </a:t>
            </a:r>
            <a:r>
              <a:rPr lang="en-US" sz="1600" b="1" dirty="0">
                <a:solidFill>
                  <a:schemeClr val="tx2"/>
                </a:solidFill>
              </a:rPr>
              <a:t>A</a:t>
            </a:r>
            <a:r>
              <a:rPr lang="en-US" sz="1600" i="1" dirty="0"/>
              <a:t>ttentiveness</a:t>
            </a:r>
          </a:p>
          <a:p>
            <a:pPr marL="285750" indent="-285750">
              <a:buFont typeface="Arial" panose="020B0604020202020204" pitchFamily="34" charset="0"/>
              <a:buChar char="•"/>
            </a:pPr>
            <a:r>
              <a:rPr lang="en-US" sz="1600" i="1" dirty="0"/>
              <a:t>Low in </a:t>
            </a:r>
            <a:r>
              <a:rPr lang="en-US" sz="1600" b="1" dirty="0">
                <a:solidFill>
                  <a:schemeClr val="tx2"/>
                </a:solidFill>
              </a:rPr>
              <a:t>C</a:t>
            </a:r>
            <a:r>
              <a:rPr lang="en-US" sz="1600" i="1" dirty="0"/>
              <a:t>rystallized Intelligence</a:t>
            </a:r>
          </a:p>
          <a:p>
            <a:pPr marL="285750" indent="-285750">
              <a:buFont typeface="Arial" panose="020B0604020202020204" pitchFamily="34" charset="0"/>
              <a:buChar char="•"/>
            </a:pPr>
            <a:r>
              <a:rPr lang="en-US" sz="1600" i="1" dirty="0"/>
              <a:t>Low in </a:t>
            </a:r>
            <a:r>
              <a:rPr lang="en-US" sz="1600" b="1" dirty="0">
                <a:solidFill>
                  <a:schemeClr val="tx2"/>
                </a:solidFill>
              </a:rPr>
              <a:t>E</a:t>
            </a:r>
            <a:r>
              <a:rPr lang="en-US" sz="1600" i="1" dirty="0"/>
              <a:t>xperience</a:t>
            </a:r>
          </a:p>
        </p:txBody>
      </p:sp>
      <p:sp>
        <p:nvSpPr>
          <p:cNvPr id="2" name="Rechteck 1">
            <a:extLst>
              <a:ext uri="{FF2B5EF4-FFF2-40B4-BE49-F238E27FC236}">
                <a16:creationId xmlns:a16="http://schemas.microsoft.com/office/drawing/2014/main" id="{2D085315-046D-4E25-AE0C-F46BF6FDD455}"/>
              </a:ext>
            </a:extLst>
          </p:cNvPr>
          <p:cNvSpPr/>
          <p:nvPr/>
        </p:nvSpPr>
        <p:spPr>
          <a:xfrm>
            <a:off x="4720047" y="1826786"/>
            <a:ext cx="2987040" cy="179598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a:extLst>
              <a:ext uri="{FF2B5EF4-FFF2-40B4-BE49-F238E27FC236}">
                <a16:creationId xmlns:a16="http://schemas.microsoft.com/office/drawing/2014/main" id="{8D154B74-D6DD-48B0-947F-5DFB52137D1E}"/>
              </a:ext>
            </a:extLst>
          </p:cNvPr>
          <p:cNvSpPr txBox="1"/>
          <p:nvPr/>
        </p:nvSpPr>
        <p:spPr>
          <a:xfrm>
            <a:off x="7946928" y="6470028"/>
            <a:ext cx="3802047" cy="307777"/>
          </a:xfrm>
          <a:prstGeom prst="rect">
            <a:avLst/>
          </a:prstGeom>
          <a:noFill/>
        </p:spPr>
        <p:txBody>
          <a:bodyPr wrap="square" rtlCol="0">
            <a:spAutoFit/>
          </a:bodyPr>
          <a:lstStyle/>
          <a:p>
            <a:r>
              <a:rPr lang="en-US" sz="1400" i="1" dirty="0"/>
              <a:t>from Krefeld-Schwalb et al. (2024)</a:t>
            </a:r>
          </a:p>
        </p:txBody>
      </p:sp>
    </p:spTree>
    <p:extLst>
      <p:ext uri="{BB962C8B-B14F-4D97-AF65-F5344CB8AC3E}">
        <p14:creationId xmlns:p14="http://schemas.microsoft.com/office/powerpoint/2010/main" val="428035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12">
            <a:extLst>
              <a:ext uri="{FF2B5EF4-FFF2-40B4-BE49-F238E27FC236}">
                <a16:creationId xmlns:a16="http://schemas.microsoft.com/office/drawing/2014/main" id="{42AC78B8-1083-4644-9D98-98740BD52D4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63B2FA3F-B075-49AB-A6DB-B2FFFB272FD3}"/>
              </a:ext>
            </a:extLst>
          </p:cNvPr>
          <p:cNvSpPr>
            <a:spLocks noGrp="1"/>
          </p:cNvSpPr>
          <p:nvPr>
            <p:ph type="sldNum" sz="quarter" idx="4"/>
          </p:nvPr>
        </p:nvSpPr>
        <p:spPr/>
        <p:txBody>
          <a:bodyPr/>
          <a:lstStyle/>
          <a:p>
            <a:fld id="{3889EAAA-2A39-E347-B0AA-909793490C00}" type="slidenum">
              <a:rPr lang="de-DE" smtClean="0"/>
              <a:pPr/>
              <a:t>9</a:t>
            </a:fld>
            <a:endParaRPr lang="de-DE" dirty="0"/>
          </a:p>
        </p:txBody>
      </p:sp>
      <p:sp>
        <p:nvSpPr>
          <p:cNvPr id="3" name="Textplatzhalter 2"/>
          <p:cNvSpPr>
            <a:spLocks noGrp="1"/>
          </p:cNvSpPr>
          <p:nvPr>
            <p:ph type="body" sz="quarter" idx="12"/>
          </p:nvPr>
        </p:nvSpPr>
        <p:spPr>
          <a:xfrm>
            <a:off x="442800" y="1449239"/>
            <a:ext cx="11306175" cy="888520"/>
          </a:xfrm>
        </p:spPr>
        <p:txBody>
          <a:bodyPr/>
          <a:lstStyle/>
          <a:p>
            <a:pPr>
              <a:lnSpc>
                <a:spcPct val="100000"/>
              </a:lnSpc>
            </a:pPr>
            <a:r>
              <a:rPr lang="en-US" sz="2800" dirty="0"/>
              <a:t>Context Characteristics</a:t>
            </a:r>
            <a:endParaRPr lang="en-US" sz="2800" i="1" dirty="0"/>
          </a:p>
        </p:txBody>
      </p:sp>
      <p:pic>
        <p:nvPicPr>
          <p:cNvPr id="5" name="Grafik 4">
            <a:extLst>
              <a:ext uri="{FF2B5EF4-FFF2-40B4-BE49-F238E27FC236}">
                <a16:creationId xmlns:a16="http://schemas.microsoft.com/office/drawing/2014/main" id="{A544001B-AA44-4AFB-9D68-B2650FC4B91E}"/>
              </a:ext>
            </a:extLst>
          </p:cNvPr>
          <p:cNvPicPr>
            <a:picLocks noChangeAspect="1"/>
          </p:cNvPicPr>
          <p:nvPr/>
        </p:nvPicPr>
        <p:blipFill>
          <a:blip r:embed="rId3"/>
          <a:stretch>
            <a:fillRect/>
          </a:stretch>
        </p:blipFill>
        <p:spPr>
          <a:xfrm>
            <a:off x="2553418" y="2038868"/>
            <a:ext cx="8911060" cy="4431160"/>
          </a:xfrm>
          <a:prstGeom prst="rect">
            <a:avLst/>
          </a:prstGeom>
        </p:spPr>
      </p:pic>
      <p:sp>
        <p:nvSpPr>
          <p:cNvPr id="9" name="Textfeld 8">
            <a:extLst>
              <a:ext uri="{FF2B5EF4-FFF2-40B4-BE49-F238E27FC236}">
                <a16:creationId xmlns:a16="http://schemas.microsoft.com/office/drawing/2014/main" id="{F5B2AA58-02BC-4DC5-8F51-C427CA8AFEDA}"/>
              </a:ext>
            </a:extLst>
          </p:cNvPr>
          <p:cNvSpPr txBox="1"/>
          <p:nvPr/>
        </p:nvSpPr>
        <p:spPr>
          <a:xfrm>
            <a:off x="7946928" y="6470028"/>
            <a:ext cx="3802047" cy="307777"/>
          </a:xfrm>
          <a:prstGeom prst="rect">
            <a:avLst/>
          </a:prstGeom>
          <a:noFill/>
        </p:spPr>
        <p:txBody>
          <a:bodyPr wrap="square" rtlCol="0">
            <a:spAutoFit/>
          </a:bodyPr>
          <a:lstStyle/>
          <a:p>
            <a:r>
              <a:rPr lang="en-US" sz="1400" i="1" dirty="0"/>
              <a:t>from Krefeld-Schwalb et al. (2024)</a:t>
            </a:r>
          </a:p>
        </p:txBody>
      </p:sp>
      <p:sp>
        <p:nvSpPr>
          <p:cNvPr id="8" name="Textfeld 7">
            <a:extLst>
              <a:ext uri="{FF2B5EF4-FFF2-40B4-BE49-F238E27FC236}">
                <a16:creationId xmlns:a16="http://schemas.microsoft.com/office/drawing/2014/main" id="{FE31DF30-5931-4690-B643-348C22C0C3A1}"/>
              </a:ext>
            </a:extLst>
          </p:cNvPr>
          <p:cNvSpPr txBox="1"/>
          <p:nvPr/>
        </p:nvSpPr>
        <p:spPr>
          <a:xfrm>
            <a:off x="634424" y="2643626"/>
            <a:ext cx="1901742" cy="3231654"/>
          </a:xfrm>
          <a:prstGeom prst="rect">
            <a:avLst/>
          </a:prstGeom>
          <a:noFill/>
        </p:spPr>
        <p:txBody>
          <a:bodyPr wrap="square" rtlCol="0">
            <a:spAutoFit/>
          </a:bodyPr>
          <a:lstStyle/>
          <a:p>
            <a:pPr>
              <a:spcAft>
                <a:spcPts val="2400"/>
              </a:spcAft>
            </a:pPr>
            <a:r>
              <a:rPr lang="en-US" sz="1600" i="1" dirty="0"/>
              <a:t>Indicators of </a:t>
            </a:r>
            <a:br>
              <a:rPr lang="en-US" sz="1600" i="1" dirty="0"/>
            </a:br>
            <a:r>
              <a:rPr lang="en-US" sz="1600" b="1" dirty="0">
                <a:solidFill>
                  <a:schemeClr val="tx2"/>
                </a:solidFill>
              </a:rPr>
              <a:t>F</a:t>
            </a:r>
            <a:r>
              <a:rPr lang="en-US" sz="1600" i="1" dirty="0"/>
              <a:t>luid Intelligence</a:t>
            </a:r>
          </a:p>
          <a:p>
            <a:pPr>
              <a:spcAft>
                <a:spcPts val="2400"/>
              </a:spcAft>
            </a:pPr>
            <a:r>
              <a:rPr lang="en-US" sz="1600" i="1" dirty="0"/>
              <a:t>Indicators of </a:t>
            </a:r>
            <a:r>
              <a:rPr lang="en-US" sz="1600" b="1" dirty="0">
                <a:solidFill>
                  <a:schemeClr val="tx2"/>
                </a:solidFill>
              </a:rPr>
              <a:t>A</a:t>
            </a:r>
            <a:r>
              <a:rPr lang="en-US" sz="1600" i="1" dirty="0"/>
              <a:t>ttentiveness</a:t>
            </a:r>
          </a:p>
          <a:p>
            <a:pPr>
              <a:spcAft>
                <a:spcPts val="2400"/>
              </a:spcAft>
            </a:pPr>
            <a:r>
              <a:rPr lang="en-US" sz="1600" i="1" dirty="0"/>
              <a:t>Indicators of </a:t>
            </a:r>
            <a:r>
              <a:rPr lang="en-US" sz="1600" b="1" dirty="0">
                <a:solidFill>
                  <a:schemeClr val="tx2"/>
                </a:solidFill>
              </a:rPr>
              <a:t>C</a:t>
            </a:r>
            <a:r>
              <a:rPr lang="en-US" sz="1600" i="1" dirty="0"/>
              <a:t>rystallized Intelligence</a:t>
            </a:r>
          </a:p>
          <a:p>
            <a:pPr>
              <a:spcAft>
                <a:spcPts val="2400"/>
              </a:spcAft>
            </a:pPr>
            <a:r>
              <a:rPr lang="en-US" sz="1600" i="1" dirty="0"/>
              <a:t>Indicators of </a:t>
            </a:r>
            <a:r>
              <a:rPr lang="en-US" sz="1600" b="1" dirty="0">
                <a:solidFill>
                  <a:schemeClr val="tx2"/>
                </a:solidFill>
              </a:rPr>
              <a:t>E</a:t>
            </a:r>
            <a:r>
              <a:rPr lang="en-US" sz="1600" i="1" dirty="0"/>
              <a:t>xperience)</a:t>
            </a:r>
          </a:p>
        </p:txBody>
      </p:sp>
      <p:cxnSp>
        <p:nvCxnSpPr>
          <p:cNvPr id="6" name="Gerader Verbinder 5">
            <a:extLst>
              <a:ext uri="{FF2B5EF4-FFF2-40B4-BE49-F238E27FC236}">
                <a16:creationId xmlns:a16="http://schemas.microsoft.com/office/drawing/2014/main" id="{D2DC5BFF-46D3-4442-9E67-0BDDAC8705E6}"/>
              </a:ext>
            </a:extLst>
          </p:cNvPr>
          <p:cNvCxnSpPr/>
          <p:nvPr/>
        </p:nvCxnSpPr>
        <p:spPr>
          <a:xfrm>
            <a:off x="215660" y="3329790"/>
            <a:ext cx="937691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E286A675-5364-426C-9EEB-C30B52DBBED0}"/>
              </a:ext>
            </a:extLst>
          </p:cNvPr>
          <p:cNvCxnSpPr/>
          <p:nvPr/>
        </p:nvCxnSpPr>
        <p:spPr>
          <a:xfrm>
            <a:off x="215660" y="4224056"/>
            <a:ext cx="937691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EE76FD9E-5E31-4018-B09C-34D50E359616}"/>
              </a:ext>
            </a:extLst>
          </p:cNvPr>
          <p:cNvCxnSpPr/>
          <p:nvPr/>
        </p:nvCxnSpPr>
        <p:spPr>
          <a:xfrm>
            <a:off x="215660" y="5129838"/>
            <a:ext cx="937691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4184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194728" y="101600"/>
            <a:ext cx="11861800" cy="675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6" name="Gruppieren 5">
            <a:extLst>
              <a:ext uri="{FF2B5EF4-FFF2-40B4-BE49-F238E27FC236}">
                <a16:creationId xmlns:a16="http://schemas.microsoft.com/office/drawing/2014/main" id="{4CC81101-0D93-4147-827C-2CF7BFE150CD}"/>
              </a:ext>
            </a:extLst>
          </p:cNvPr>
          <p:cNvGrpSpPr/>
          <p:nvPr/>
        </p:nvGrpSpPr>
        <p:grpSpPr>
          <a:xfrm>
            <a:off x="252628" y="3693050"/>
            <a:ext cx="7700448" cy="954108"/>
            <a:chOff x="481228" y="3679403"/>
            <a:chExt cx="7700448" cy="954108"/>
          </a:xfrm>
        </p:grpSpPr>
        <p:sp>
          <p:nvSpPr>
            <p:cNvPr id="3" name="Textfeld 2"/>
            <p:cNvSpPr txBox="1"/>
            <p:nvPr/>
          </p:nvSpPr>
          <p:spPr>
            <a:xfrm>
              <a:off x="481228" y="3679404"/>
              <a:ext cx="2208235" cy="954107"/>
            </a:xfrm>
            <a:prstGeom prst="rect">
              <a:avLst/>
            </a:prstGeom>
            <a:noFill/>
            <a:ln w="19050">
              <a:solidFill>
                <a:schemeClr val="tx2"/>
              </a:solidFill>
            </a:ln>
          </p:spPr>
          <p:txBody>
            <a:bodyPr wrap="square" rtlCol="0">
              <a:spAutoFit/>
            </a:bodyPr>
            <a:lstStyle/>
            <a:p>
              <a:pPr algn="ctr"/>
              <a:r>
                <a:rPr lang="en-US" sz="2000" i="1" dirty="0">
                  <a:solidFill>
                    <a:schemeClr val="tx2"/>
                  </a:solidFill>
                  <a:latin typeface="Arial" panose="020B0604020202020204" pitchFamily="34" charset="0"/>
                  <a:cs typeface="Arial" panose="020B0604020202020204" pitchFamily="34" charset="0"/>
                </a:rPr>
                <a:t>X</a:t>
              </a:r>
            </a:p>
            <a:p>
              <a:pPr algn="ctr"/>
              <a:r>
                <a:rPr lang="en-US" dirty="0">
                  <a:solidFill>
                    <a:schemeClr val="tx2"/>
                  </a:solidFill>
                  <a:latin typeface="Arial" panose="020B0604020202020204" pitchFamily="34" charset="0"/>
                  <a:cs typeface="Arial" panose="020B0604020202020204" pitchFamily="34" charset="0"/>
                </a:rPr>
                <a:t>(experimental manipulation)</a:t>
              </a:r>
            </a:p>
          </p:txBody>
        </p:sp>
        <p:sp>
          <p:nvSpPr>
            <p:cNvPr id="4" name="Textfeld 3"/>
            <p:cNvSpPr txBox="1"/>
            <p:nvPr/>
          </p:nvSpPr>
          <p:spPr>
            <a:xfrm>
              <a:off x="5973441" y="3679403"/>
              <a:ext cx="2208235" cy="954107"/>
            </a:xfrm>
            <a:prstGeom prst="rect">
              <a:avLst/>
            </a:prstGeom>
            <a:noFill/>
            <a:ln w="19050">
              <a:solidFill>
                <a:schemeClr val="tx2"/>
              </a:solidFill>
            </a:ln>
          </p:spPr>
          <p:txBody>
            <a:bodyPr wrap="square" rtlCol="0">
              <a:spAutoFit/>
            </a:bodyPr>
            <a:lstStyle/>
            <a:p>
              <a:pPr algn="ctr"/>
              <a:r>
                <a:rPr lang="en-US" sz="2000" i="1" dirty="0">
                  <a:solidFill>
                    <a:schemeClr val="tx2"/>
                  </a:solidFill>
                  <a:latin typeface="Arial" panose="020B0604020202020204" pitchFamily="34" charset="0"/>
                  <a:cs typeface="Arial" panose="020B0604020202020204" pitchFamily="34" charset="0"/>
                </a:rPr>
                <a:t>Y</a:t>
              </a:r>
            </a:p>
            <a:p>
              <a:pPr algn="ctr"/>
              <a:r>
                <a:rPr lang="en-US" dirty="0">
                  <a:solidFill>
                    <a:schemeClr val="tx2"/>
                  </a:solidFill>
                  <a:latin typeface="Arial" panose="020B0604020202020204" pitchFamily="34" charset="0"/>
                  <a:cs typeface="Arial" panose="020B0604020202020204" pitchFamily="34" charset="0"/>
                </a:rPr>
                <a:t>(measured outcome)</a:t>
              </a:r>
            </a:p>
          </p:txBody>
        </p:sp>
        <p:cxnSp>
          <p:nvCxnSpPr>
            <p:cNvPr id="11" name="Gerade Verbindung mit Pfeil 10"/>
            <p:cNvCxnSpPr>
              <a:stCxn id="3" idx="3"/>
              <a:endCxn id="4" idx="1"/>
            </p:cNvCxnSpPr>
            <p:nvPr/>
          </p:nvCxnSpPr>
          <p:spPr>
            <a:xfrm flipV="1">
              <a:off x="2689463" y="4156457"/>
              <a:ext cx="3283978" cy="1"/>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grpSp>
      <p:grpSp>
        <p:nvGrpSpPr>
          <p:cNvPr id="9" name="Gruppieren 8">
            <a:extLst>
              <a:ext uri="{FF2B5EF4-FFF2-40B4-BE49-F238E27FC236}">
                <a16:creationId xmlns:a16="http://schemas.microsoft.com/office/drawing/2014/main" id="{205B1BD3-761D-434C-AF31-7DACA8A3A551}"/>
              </a:ext>
            </a:extLst>
          </p:cNvPr>
          <p:cNvGrpSpPr/>
          <p:nvPr/>
        </p:nvGrpSpPr>
        <p:grpSpPr>
          <a:xfrm>
            <a:off x="252628" y="393023"/>
            <a:ext cx="7700448" cy="3300028"/>
            <a:chOff x="481228" y="379376"/>
            <a:chExt cx="7700448" cy="3300028"/>
          </a:xfrm>
        </p:grpSpPr>
        <p:sp>
          <p:nvSpPr>
            <p:cNvPr id="7" name="Ellipse 6"/>
            <p:cNvSpPr/>
            <p:nvPr/>
          </p:nvSpPr>
          <p:spPr>
            <a:xfrm>
              <a:off x="481228" y="379377"/>
              <a:ext cx="2208235" cy="1750978"/>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sz="2000" dirty="0">
                  <a:solidFill>
                    <a:schemeClr val="tx2"/>
                  </a:solidFill>
                  <a:latin typeface="Arial" panose="020B0604020202020204" pitchFamily="34" charset="0"/>
                  <a:cs typeface="Arial" panose="020B0604020202020204" pitchFamily="34" charset="0"/>
                  <a:sym typeface="Symbol" panose="05050102010706020507" pitchFamily="18" charset="2"/>
                </a:rPr>
                <a:t></a:t>
              </a:r>
            </a:p>
            <a:p>
              <a:pPr algn="ctr"/>
              <a:r>
                <a:rPr lang="en-US" dirty="0">
                  <a:solidFill>
                    <a:schemeClr val="tx2"/>
                  </a:solidFill>
                  <a:latin typeface="Arial" panose="020B0604020202020204" pitchFamily="34" charset="0"/>
                  <a:cs typeface="Arial" panose="020B0604020202020204" pitchFamily="34" charset="0"/>
                </a:rPr>
                <a:t>(postulated latent </a:t>
              </a:r>
              <a:r>
                <a:rPr lang="en-US" i="1" dirty="0">
                  <a:solidFill>
                    <a:schemeClr val="tx2"/>
                  </a:solidFill>
                  <a:latin typeface="Arial" panose="020B0604020202020204" pitchFamily="34" charset="0"/>
                  <a:cs typeface="Arial" panose="020B0604020202020204" pitchFamily="34" charset="0"/>
                </a:rPr>
                <a:t>independent</a:t>
              </a:r>
              <a:r>
                <a:rPr lang="en-US" dirty="0">
                  <a:solidFill>
                    <a:schemeClr val="tx2"/>
                  </a:solidFill>
                  <a:latin typeface="Arial" panose="020B0604020202020204" pitchFamily="34" charset="0"/>
                  <a:cs typeface="Arial" panose="020B0604020202020204" pitchFamily="34" charset="0"/>
                </a:rPr>
                <a:t> variable)</a:t>
              </a:r>
              <a:endParaRPr lang="de-DE" dirty="0">
                <a:solidFill>
                  <a:schemeClr val="tx2"/>
                </a:solidFill>
              </a:endParaRPr>
            </a:p>
          </p:txBody>
        </p:sp>
        <p:sp>
          <p:nvSpPr>
            <p:cNvPr id="8" name="Ellipse 7"/>
            <p:cNvSpPr/>
            <p:nvPr/>
          </p:nvSpPr>
          <p:spPr>
            <a:xfrm>
              <a:off x="5973441" y="379376"/>
              <a:ext cx="2208235" cy="1750978"/>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2"/>
                  </a:solidFill>
                  <a:latin typeface="Arial" panose="020B0604020202020204" pitchFamily="34" charset="0"/>
                  <a:cs typeface="Arial" panose="020B0604020202020204" pitchFamily="34" charset="0"/>
                  <a:sym typeface="Symbol" panose="05050102010706020507" pitchFamily="18" charset="2"/>
                </a:rPr>
                <a:t></a:t>
              </a:r>
            </a:p>
            <a:p>
              <a:pPr algn="ctr"/>
              <a:r>
                <a:rPr lang="en-US" dirty="0">
                  <a:solidFill>
                    <a:schemeClr val="tx2"/>
                  </a:solidFill>
                  <a:latin typeface="Arial" panose="020B0604020202020204" pitchFamily="34" charset="0"/>
                  <a:cs typeface="Arial" panose="020B0604020202020204" pitchFamily="34" charset="0"/>
                </a:rPr>
                <a:t>(postulated latent </a:t>
              </a:r>
              <a:r>
                <a:rPr lang="en-US" i="1" dirty="0">
                  <a:solidFill>
                    <a:schemeClr val="tx2"/>
                  </a:solidFill>
                  <a:latin typeface="Arial" panose="020B0604020202020204" pitchFamily="34" charset="0"/>
                  <a:cs typeface="Arial" panose="020B0604020202020204" pitchFamily="34" charset="0"/>
                </a:rPr>
                <a:t>dependent</a:t>
              </a:r>
              <a:r>
                <a:rPr lang="en-US" dirty="0">
                  <a:solidFill>
                    <a:schemeClr val="tx2"/>
                  </a:solidFill>
                  <a:latin typeface="Arial" panose="020B0604020202020204" pitchFamily="34" charset="0"/>
                  <a:cs typeface="Arial" panose="020B0604020202020204" pitchFamily="34" charset="0"/>
                </a:rPr>
                <a:t> variable)</a:t>
              </a:r>
              <a:endParaRPr lang="de-DE" dirty="0">
                <a:solidFill>
                  <a:schemeClr val="tx2"/>
                </a:solidFill>
              </a:endParaRPr>
            </a:p>
          </p:txBody>
        </p:sp>
        <p:cxnSp>
          <p:nvCxnSpPr>
            <p:cNvPr id="10" name="Gerade Verbindung mit Pfeil 9"/>
            <p:cNvCxnSpPr>
              <a:stCxn id="7" idx="6"/>
              <a:endCxn id="8" idx="2"/>
            </p:cNvCxnSpPr>
            <p:nvPr/>
          </p:nvCxnSpPr>
          <p:spPr>
            <a:xfrm flipV="1">
              <a:off x="2689463" y="1254865"/>
              <a:ext cx="3283978" cy="1"/>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6" name="Gerade Verbindung mit Pfeil 15"/>
            <p:cNvCxnSpPr/>
            <p:nvPr/>
          </p:nvCxnSpPr>
          <p:spPr>
            <a:xfrm flipV="1">
              <a:off x="1585346" y="2130355"/>
              <a:ext cx="0" cy="1549049"/>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a:cxnSpLocks/>
              <a:stCxn id="8" idx="4"/>
              <a:endCxn id="4" idx="0"/>
            </p:cNvCxnSpPr>
            <p:nvPr/>
          </p:nvCxnSpPr>
          <p:spPr>
            <a:xfrm>
              <a:off x="7077559" y="2130354"/>
              <a:ext cx="0" cy="1549049"/>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grpSp>
      <p:cxnSp>
        <p:nvCxnSpPr>
          <p:cNvPr id="26" name="Gerade Verbindung mit Pfeil 25"/>
          <p:cNvCxnSpPr>
            <a:stCxn id="22" idx="0"/>
          </p:cNvCxnSpPr>
          <p:nvPr/>
        </p:nvCxnSpPr>
        <p:spPr>
          <a:xfrm flipH="1" flipV="1">
            <a:off x="3274073" y="4186812"/>
            <a:ext cx="1356924" cy="1604171"/>
          </a:xfrm>
          <a:prstGeom prst="straightConnector1">
            <a:avLst/>
          </a:prstGeom>
          <a:ln w="25400">
            <a:solidFill>
              <a:schemeClr val="tx2"/>
            </a:solidFill>
            <a:prstDash val="sysDash"/>
            <a:tailEnd type="triangle" w="lg" len="med"/>
          </a:ln>
        </p:spPr>
        <p:style>
          <a:lnRef idx="1">
            <a:schemeClr val="accent1"/>
          </a:lnRef>
          <a:fillRef idx="0">
            <a:schemeClr val="accent1"/>
          </a:fillRef>
          <a:effectRef idx="0">
            <a:schemeClr val="accent1"/>
          </a:effectRef>
          <a:fontRef idx="minor">
            <a:schemeClr val="tx1"/>
          </a:fontRef>
        </p:style>
      </p:cxnSp>
      <p:sp>
        <p:nvSpPr>
          <p:cNvPr id="80" name="Textfeld 79"/>
          <p:cNvSpPr txBox="1"/>
          <p:nvPr/>
        </p:nvSpPr>
        <p:spPr>
          <a:xfrm>
            <a:off x="3753118" y="4988235"/>
            <a:ext cx="398834" cy="461665"/>
          </a:xfrm>
          <a:prstGeom prst="rect">
            <a:avLst/>
          </a:prstGeom>
          <a:noFill/>
        </p:spPr>
        <p:txBody>
          <a:bodyPr wrap="square" rtlCol="0">
            <a:spAutoFit/>
          </a:bodyPr>
          <a:lstStyle/>
          <a:p>
            <a:r>
              <a:rPr lang="de-DE" sz="2400" b="1" i="1" dirty="0">
                <a:solidFill>
                  <a:schemeClr val="tx2"/>
                </a:solidFill>
                <a:latin typeface="Arial" panose="020B0604020202020204" pitchFamily="34" charset="0"/>
                <a:cs typeface="Arial" panose="020B0604020202020204" pitchFamily="34" charset="0"/>
              </a:rPr>
              <a:t>a</a:t>
            </a:r>
          </a:p>
        </p:txBody>
      </p:sp>
      <p:sp>
        <p:nvSpPr>
          <p:cNvPr id="86" name="Textfeld 85"/>
          <p:cNvSpPr txBox="1"/>
          <p:nvPr/>
        </p:nvSpPr>
        <p:spPr>
          <a:xfrm>
            <a:off x="8103784" y="1301615"/>
            <a:ext cx="3946816" cy="2062103"/>
          </a:xfrm>
          <a:prstGeom prst="rect">
            <a:avLst/>
          </a:prstGeom>
          <a:solidFill>
            <a:schemeClr val="accent2"/>
          </a:solidFill>
          <a:ln>
            <a:solidFill>
              <a:schemeClr val="tx2"/>
            </a:solidFill>
          </a:ln>
          <a:effectLst>
            <a:outerShdw blurRad="50800" dist="38100" dir="2700000" algn="tl" rotWithShape="0">
              <a:prstClr val="black">
                <a:alpha val="40000"/>
              </a:prstClr>
            </a:outerShdw>
          </a:effectLst>
        </p:spPr>
        <p:txBody>
          <a:bodyPr wrap="square" rtlCol="0">
            <a:spAutoFit/>
          </a:bodyPr>
          <a:lstStyle/>
          <a:p>
            <a:pPr marL="449263" indent="-449263"/>
            <a:r>
              <a:rPr lang="en-US" sz="1600" i="1" dirty="0">
                <a:solidFill>
                  <a:srgbClr val="000000"/>
                </a:solidFill>
                <a:latin typeface="Arial" panose="020B0604020202020204" pitchFamily="34" charset="0"/>
                <a:cs typeface="Arial" panose="020B0604020202020204" pitchFamily="34" charset="0"/>
              </a:rPr>
              <a:t>a</a:t>
            </a:r>
            <a:r>
              <a:rPr lang="en-US" sz="1600" dirty="0">
                <a:solidFill>
                  <a:srgbClr val="000000"/>
                </a:solidFill>
                <a:latin typeface="Arial" panose="020B0604020202020204" pitchFamily="34" charset="0"/>
                <a:cs typeface="Arial" panose="020B0604020202020204" pitchFamily="34" charset="0"/>
              </a:rPr>
              <a:t> </a:t>
            </a:r>
            <a:r>
              <a:rPr lang="en-US" sz="1600" dirty="0">
                <a:solidFill>
                  <a:srgbClr val="000000"/>
                </a:solidFill>
                <a:latin typeface="Arial" panose="020B0604020202020204" pitchFamily="34" charset="0"/>
                <a:cs typeface="Arial" panose="020B0604020202020204" pitchFamily="34" charset="0"/>
                <a:sym typeface="Wingdings"/>
              </a:rPr>
              <a:t>	</a:t>
            </a:r>
            <a:r>
              <a:rPr lang="en-US" sz="1600" dirty="0">
                <a:solidFill>
                  <a:srgbClr val="000000"/>
                </a:solidFill>
                <a:latin typeface="Arial" panose="020B0604020202020204" pitchFamily="34" charset="0"/>
                <a:cs typeface="Arial" panose="020B0604020202020204" pitchFamily="34" charset="0"/>
              </a:rPr>
              <a:t>observed effect heterogeneity</a:t>
            </a:r>
          </a:p>
          <a:p>
            <a:pPr marL="449263" indent="-449263"/>
            <a:r>
              <a:rPr lang="en-US" sz="1600" i="1" dirty="0">
                <a:solidFill>
                  <a:srgbClr val="FF0000"/>
                </a:solidFill>
                <a:latin typeface="Arial" panose="020B0604020202020204" pitchFamily="34" charset="0"/>
                <a:cs typeface="Arial" panose="020B0604020202020204" pitchFamily="34" charset="0"/>
              </a:rPr>
              <a:t>b</a:t>
            </a:r>
            <a:r>
              <a:rPr lang="en-US" sz="1600" dirty="0">
                <a:solidFill>
                  <a:srgbClr val="FF0000"/>
                </a:solidFill>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sym typeface="Wingdings"/>
              </a:rPr>
              <a:t>	differences in construct validity of </a:t>
            </a:r>
            <a:r>
              <a:rPr lang="en-US" sz="1600" i="1" dirty="0">
                <a:solidFill>
                  <a:srgbClr val="FF0000"/>
                </a:solidFill>
                <a:latin typeface="Arial" panose="020B0604020202020204" pitchFamily="34" charset="0"/>
                <a:cs typeface="Arial" panose="020B0604020202020204" pitchFamily="34" charset="0"/>
                <a:sym typeface="Wingdings"/>
              </a:rPr>
              <a:t>X</a:t>
            </a:r>
            <a:r>
              <a:rPr lang="en-US" sz="1600" dirty="0">
                <a:solidFill>
                  <a:srgbClr val="FF0000"/>
                </a:solidFill>
                <a:latin typeface="Arial" panose="020B0604020202020204" pitchFamily="34" charset="0"/>
                <a:cs typeface="Arial" panose="020B0604020202020204" pitchFamily="34" charset="0"/>
                <a:sym typeface="Wingdings"/>
              </a:rPr>
              <a:t> between contexts</a:t>
            </a:r>
            <a:endParaRPr lang="en-US" sz="1600" dirty="0">
              <a:solidFill>
                <a:srgbClr val="FF0000"/>
              </a:solidFill>
              <a:latin typeface="Arial" panose="020B0604020202020204" pitchFamily="34" charset="0"/>
              <a:cs typeface="Arial" panose="020B0604020202020204" pitchFamily="34" charset="0"/>
            </a:endParaRPr>
          </a:p>
          <a:p>
            <a:pPr marL="449263" indent="-449263"/>
            <a:r>
              <a:rPr lang="en-US" sz="1600" i="1" dirty="0">
                <a:latin typeface="Arial" panose="020B0604020202020204" pitchFamily="34" charset="0"/>
                <a:cs typeface="Arial" panose="020B0604020202020204" pitchFamily="34" charset="0"/>
              </a:rPr>
              <a:t>c</a:t>
            </a:r>
            <a:r>
              <a:rPr lang="en-US"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sym typeface="Wingdings"/>
              </a:rPr>
              <a:t>	conceptually relevant moderators associated w/context</a:t>
            </a:r>
            <a:endParaRPr lang="en-US" sz="1600" dirty="0">
              <a:latin typeface="Arial" panose="020B0604020202020204" pitchFamily="34" charset="0"/>
              <a:cs typeface="Arial" panose="020B0604020202020204" pitchFamily="34" charset="0"/>
            </a:endParaRPr>
          </a:p>
          <a:p>
            <a:pPr marL="449263" indent="-449263"/>
            <a:r>
              <a:rPr lang="en-US" sz="1600" i="1" dirty="0">
                <a:solidFill>
                  <a:srgbClr val="FF0000"/>
                </a:solidFill>
                <a:latin typeface="Arial" panose="020B0604020202020204" pitchFamily="34" charset="0"/>
                <a:cs typeface="Arial" panose="020B0604020202020204" pitchFamily="34" charset="0"/>
              </a:rPr>
              <a:t>d</a:t>
            </a:r>
            <a:r>
              <a:rPr lang="en-US" sz="1600" dirty="0">
                <a:solidFill>
                  <a:srgbClr val="FF0000"/>
                </a:solidFill>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sym typeface="Wingdings"/>
              </a:rPr>
              <a:t></a:t>
            </a:r>
            <a:r>
              <a:rPr lang="en-US" sz="1600" dirty="0">
                <a:solidFill>
                  <a:srgbClr val="FF0000"/>
                </a:solidFill>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sym typeface="Wingdings"/>
              </a:rPr>
              <a:t>differences in construct validity of </a:t>
            </a:r>
            <a:r>
              <a:rPr lang="en-US" sz="1600" i="1" dirty="0">
                <a:solidFill>
                  <a:srgbClr val="FF0000"/>
                </a:solidFill>
                <a:latin typeface="Arial" panose="020B0604020202020204" pitchFamily="34" charset="0"/>
                <a:cs typeface="Arial" panose="020B0604020202020204" pitchFamily="34" charset="0"/>
                <a:sym typeface="Wingdings"/>
              </a:rPr>
              <a:t>Y</a:t>
            </a:r>
            <a:r>
              <a:rPr lang="en-US" sz="1600" dirty="0">
                <a:solidFill>
                  <a:srgbClr val="FF0000"/>
                </a:solidFill>
                <a:latin typeface="Arial" panose="020B0604020202020204" pitchFamily="34" charset="0"/>
                <a:cs typeface="Arial" panose="020B0604020202020204" pitchFamily="34" charset="0"/>
                <a:sym typeface="Wingdings"/>
              </a:rPr>
              <a:t> between contexts</a:t>
            </a:r>
            <a:endParaRPr lang="en-US" sz="1600" dirty="0">
              <a:solidFill>
                <a:srgbClr val="FF0000"/>
              </a:solidFill>
              <a:latin typeface="Arial" panose="020B0604020202020204" pitchFamily="34" charset="0"/>
              <a:cs typeface="Arial" panose="020B0604020202020204" pitchFamily="34" charset="0"/>
            </a:endParaRPr>
          </a:p>
          <a:p>
            <a:pPr marL="449263" indent="-449263"/>
            <a:r>
              <a:rPr lang="en-US" sz="1600" i="1" dirty="0">
                <a:solidFill>
                  <a:srgbClr val="FF0000"/>
                </a:solidFill>
                <a:latin typeface="Arial" panose="020B0604020202020204" pitchFamily="34" charset="0"/>
                <a:cs typeface="Arial" panose="020B0604020202020204" pitchFamily="34" charset="0"/>
              </a:rPr>
              <a:t>e</a:t>
            </a:r>
            <a:r>
              <a:rPr lang="en-US" sz="1600" dirty="0">
                <a:solidFill>
                  <a:srgbClr val="FF0000"/>
                </a:solidFill>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sym typeface="Wingdings"/>
              </a:rPr>
              <a:t></a:t>
            </a:r>
            <a:r>
              <a:rPr lang="en-US" sz="1600" dirty="0">
                <a:solidFill>
                  <a:srgbClr val="FF0000"/>
                </a:solidFill>
                <a:latin typeface="Arial" panose="020B0604020202020204" pitchFamily="34" charset="0"/>
                <a:cs typeface="Arial" panose="020B0604020202020204" pitchFamily="34" charset="0"/>
              </a:rPr>
              <a:t>	context-dependent (un)reliability</a:t>
            </a:r>
          </a:p>
        </p:txBody>
      </p:sp>
      <p:cxnSp>
        <p:nvCxnSpPr>
          <p:cNvPr id="24" name="Gerade Verbindung mit Pfeil 23"/>
          <p:cNvCxnSpPr>
            <a:cxnSpLocks/>
          </p:cNvCxnSpPr>
          <p:nvPr/>
        </p:nvCxnSpPr>
        <p:spPr>
          <a:xfrm flipV="1">
            <a:off x="4616986" y="1301615"/>
            <a:ext cx="16975" cy="4503015"/>
          </a:xfrm>
          <a:prstGeom prst="straightConnector1">
            <a:avLst/>
          </a:prstGeom>
          <a:ln w="38100">
            <a:solidFill>
              <a:schemeClr val="tx1"/>
            </a:solidFill>
            <a:prstDash val="sysDash"/>
            <a:tailEnd type="triangle" w="lg" len="med"/>
          </a:ln>
        </p:spPr>
        <p:style>
          <a:lnRef idx="1">
            <a:schemeClr val="accent1"/>
          </a:lnRef>
          <a:fillRef idx="0">
            <a:schemeClr val="accent1"/>
          </a:fillRef>
          <a:effectRef idx="0">
            <a:schemeClr val="accent1"/>
          </a:effectRef>
          <a:fontRef idx="minor">
            <a:schemeClr val="tx1"/>
          </a:fontRef>
        </p:style>
      </p:cxnSp>
      <p:sp>
        <p:nvSpPr>
          <p:cNvPr id="83" name="Rechteck 82"/>
          <p:cNvSpPr/>
          <p:nvPr/>
        </p:nvSpPr>
        <p:spPr>
          <a:xfrm>
            <a:off x="4590614" y="1523004"/>
            <a:ext cx="356188" cy="461665"/>
          </a:xfrm>
          <a:prstGeom prst="rect">
            <a:avLst/>
          </a:prstGeom>
        </p:spPr>
        <p:txBody>
          <a:bodyPr wrap="none">
            <a:spAutoFit/>
          </a:bodyPr>
          <a:lstStyle/>
          <a:p>
            <a:pPr lvl="0"/>
            <a:r>
              <a:rPr lang="de-DE" sz="2400" b="1" i="1" dirty="0">
                <a:latin typeface="Arial" panose="020B0604020202020204" pitchFamily="34" charset="0"/>
                <a:cs typeface="Arial" panose="020B0604020202020204" pitchFamily="34" charset="0"/>
              </a:rPr>
              <a:t>c</a:t>
            </a:r>
          </a:p>
        </p:txBody>
      </p:sp>
      <p:grpSp>
        <p:nvGrpSpPr>
          <p:cNvPr id="18" name="Gruppieren 17">
            <a:extLst>
              <a:ext uri="{FF2B5EF4-FFF2-40B4-BE49-F238E27FC236}">
                <a16:creationId xmlns:a16="http://schemas.microsoft.com/office/drawing/2014/main" id="{86B0E0E8-CF4E-4472-8E9C-6C1BDB21852D}"/>
              </a:ext>
            </a:extLst>
          </p:cNvPr>
          <p:cNvGrpSpPr/>
          <p:nvPr/>
        </p:nvGrpSpPr>
        <p:grpSpPr>
          <a:xfrm>
            <a:off x="1363445" y="2392457"/>
            <a:ext cx="7800682" cy="3398526"/>
            <a:chOff x="1363445" y="2392457"/>
            <a:chExt cx="7800682" cy="3398526"/>
          </a:xfrm>
        </p:grpSpPr>
        <p:cxnSp>
          <p:nvCxnSpPr>
            <p:cNvPr id="73" name="Gerader Verbinder 72"/>
            <p:cNvCxnSpPr/>
            <p:nvPr/>
          </p:nvCxnSpPr>
          <p:spPr>
            <a:xfrm flipH="1" flipV="1">
              <a:off x="3445167" y="2854122"/>
              <a:ext cx="1164906" cy="2936859"/>
            </a:xfrm>
            <a:prstGeom prst="line">
              <a:avLst/>
            </a:prstGeom>
            <a:ln w="38100">
              <a:solidFill>
                <a:srgbClr val="FF000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Freihandform 46"/>
            <p:cNvSpPr/>
            <p:nvPr/>
          </p:nvSpPr>
          <p:spPr>
            <a:xfrm flipH="1">
              <a:off x="4624452" y="2854122"/>
              <a:ext cx="2203522" cy="2936861"/>
            </a:xfrm>
            <a:custGeom>
              <a:avLst/>
              <a:gdLst>
                <a:gd name="connsiteX0" fmla="*/ 2237362 w 2237362"/>
                <a:gd name="connsiteY0" fmla="*/ 2791839 h 2791839"/>
                <a:gd name="connsiteX1" fmla="*/ 1070043 w 2237362"/>
                <a:gd name="connsiteY1" fmla="*/ 0 h 2791839"/>
                <a:gd name="connsiteX2" fmla="*/ 0 w 2237362"/>
                <a:gd name="connsiteY2" fmla="*/ 0 h 2791839"/>
              </a:gdLst>
              <a:ahLst/>
              <a:cxnLst>
                <a:cxn ang="0">
                  <a:pos x="connsiteX0" y="connsiteY0"/>
                </a:cxn>
                <a:cxn ang="0">
                  <a:pos x="connsiteX1" y="connsiteY1"/>
                </a:cxn>
                <a:cxn ang="0">
                  <a:pos x="connsiteX2" y="connsiteY2"/>
                </a:cxn>
              </a:cxnLst>
              <a:rect l="l" t="t" r="r" b="b"/>
              <a:pathLst>
                <a:path w="2237362" h="2791839">
                  <a:moveTo>
                    <a:pt x="2237362" y="2791839"/>
                  </a:moveTo>
                  <a:lnTo>
                    <a:pt x="1070043" y="0"/>
                  </a:lnTo>
                  <a:lnTo>
                    <a:pt x="0" y="0"/>
                  </a:lnTo>
                </a:path>
              </a:pathLst>
            </a:custGeom>
            <a:noFill/>
            <a:ln w="38100">
              <a:solidFill>
                <a:srgbClr val="FF0000"/>
              </a:solidFill>
              <a:prstDash val="sysDash"/>
              <a:headEnd type="none" w="med" len="med"/>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5" name="Gerader Verbinder 74"/>
            <p:cNvCxnSpPr/>
            <p:nvPr/>
          </p:nvCxnSpPr>
          <p:spPr>
            <a:xfrm flipH="1">
              <a:off x="1363445" y="2854122"/>
              <a:ext cx="2081722" cy="0"/>
            </a:xfrm>
            <a:prstGeom prst="line">
              <a:avLst/>
            </a:prstGeom>
            <a:ln w="38100">
              <a:solidFill>
                <a:srgbClr val="FF0000"/>
              </a:solidFill>
              <a:prstDash val="sysDash"/>
              <a:tailEnd type="triangle" w="lg" len="med"/>
            </a:ln>
          </p:spPr>
          <p:style>
            <a:lnRef idx="1">
              <a:schemeClr val="accent1"/>
            </a:lnRef>
            <a:fillRef idx="0">
              <a:schemeClr val="accent1"/>
            </a:fillRef>
            <a:effectRef idx="0">
              <a:schemeClr val="accent1"/>
            </a:effectRef>
            <a:fontRef idx="minor">
              <a:schemeClr val="tx1"/>
            </a:fontRef>
          </p:style>
        </p:cxnSp>
        <p:sp>
          <p:nvSpPr>
            <p:cNvPr id="82" name="Rechteck 81"/>
            <p:cNvSpPr/>
            <p:nvPr/>
          </p:nvSpPr>
          <p:spPr>
            <a:xfrm>
              <a:off x="2358826" y="2392457"/>
              <a:ext cx="372218" cy="461665"/>
            </a:xfrm>
            <a:prstGeom prst="rect">
              <a:avLst/>
            </a:prstGeom>
          </p:spPr>
          <p:txBody>
            <a:bodyPr wrap="none">
              <a:spAutoFit/>
            </a:bodyPr>
            <a:lstStyle/>
            <a:p>
              <a:pPr lvl="0"/>
              <a:r>
                <a:rPr lang="de-DE" sz="2400" b="1" i="1" dirty="0">
                  <a:solidFill>
                    <a:srgbClr val="FF0000"/>
                  </a:solidFill>
                  <a:latin typeface="Arial" panose="020B0604020202020204" pitchFamily="34" charset="0"/>
                  <a:cs typeface="Arial" panose="020B0604020202020204" pitchFamily="34" charset="0"/>
                </a:rPr>
                <a:t>b</a:t>
              </a:r>
            </a:p>
          </p:txBody>
        </p:sp>
        <p:sp>
          <p:nvSpPr>
            <p:cNvPr id="84" name="Rechteck 83"/>
            <p:cNvSpPr/>
            <p:nvPr/>
          </p:nvSpPr>
          <p:spPr>
            <a:xfrm>
              <a:off x="6006875" y="2406930"/>
              <a:ext cx="372218" cy="461665"/>
            </a:xfrm>
            <a:prstGeom prst="rect">
              <a:avLst/>
            </a:prstGeom>
          </p:spPr>
          <p:txBody>
            <a:bodyPr wrap="none">
              <a:spAutoFit/>
            </a:bodyPr>
            <a:lstStyle/>
            <a:p>
              <a:pPr lvl="0"/>
              <a:r>
                <a:rPr lang="de-DE" sz="2400" b="1" i="1" dirty="0">
                  <a:solidFill>
                    <a:srgbClr val="FF0000"/>
                  </a:solidFill>
                  <a:latin typeface="Arial" panose="020B0604020202020204" pitchFamily="34" charset="0"/>
                  <a:cs typeface="Arial" panose="020B0604020202020204" pitchFamily="34" charset="0"/>
                </a:rPr>
                <a:t>d</a:t>
              </a:r>
            </a:p>
          </p:txBody>
        </p:sp>
        <p:sp>
          <p:nvSpPr>
            <p:cNvPr id="85" name="Rechteck 84"/>
            <p:cNvSpPr/>
            <p:nvPr/>
          </p:nvSpPr>
          <p:spPr>
            <a:xfrm>
              <a:off x="5883294" y="4957484"/>
              <a:ext cx="356188" cy="461665"/>
            </a:xfrm>
            <a:prstGeom prst="rect">
              <a:avLst/>
            </a:prstGeom>
          </p:spPr>
          <p:txBody>
            <a:bodyPr wrap="none">
              <a:spAutoFit/>
            </a:bodyPr>
            <a:lstStyle/>
            <a:p>
              <a:pPr lvl="0"/>
              <a:r>
                <a:rPr lang="de-DE" sz="2400" b="1" i="1" dirty="0">
                  <a:solidFill>
                    <a:srgbClr val="FF0000"/>
                  </a:solidFill>
                  <a:latin typeface="Arial" panose="020B0604020202020204" pitchFamily="34" charset="0"/>
                  <a:cs typeface="Arial" panose="020B0604020202020204" pitchFamily="34" charset="0"/>
                </a:rPr>
                <a:t>e</a:t>
              </a:r>
            </a:p>
          </p:txBody>
        </p:sp>
        <p:cxnSp>
          <p:nvCxnSpPr>
            <p:cNvPr id="31" name="Gerade Verbindung mit Pfeil 30"/>
            <p:cNvCxnSpPr/>
            <p:nvPr/>
          </p:nvCxnSpPr>
          <p:spPr>
            <a:xfrm flipV="1">
              <a:off x="4624452" y="4441713"/>
              <a:ext cx="4539675" cy="1340803"/>
            </a:xfrm>
            <a:prstGeom prst="straightConnector1">
              <a:avLst/>
            </a:prstGeom>
            <a:ln w="38100">
              <a:solidFill>
                <a:srgbClr val="FF0000"/>
              </a:solidFill>
              <a:prstDash val="sysDash"/>
              <a:tailEnd type="triangle" w="lg" len="med"/>
            </a:ln>
          </p:spPr>
          <p:style>
            <a:lnRef idx="1">
              <a:schemeClr val="accent1"/>
            </a:lnRef>
            <a:fillRef idx="0">
              <a:schemeClr val="accent1"/>
            </a:fillRef>
            <a:effectRef idx="0">
              <a:schemeClr val="accent1"/>
            </a:effectRef>
            <a:fontRef idx="minor">
              <a:schemeClr val="tx1"/>
            </a:fontRef>
          </p:style>
        </p:cxnSp>
      </p:grpSp>
      <p:sp>
        <p:nvSpPr>
          <p:cNvPr id="22" name="Textfeld 21"/>
          <p:cNvSpPr txBox="1"/>
          <p:nvPr/>
        </p:nvSpPr>
        <p:spPr>
          <a:xfrm>
            <a:off x="3924259" y="5790983"/>
            <a:ext cx="1413475" cy="677108"/>
          </a:xfrm>
          <a:prstGeom prst="rect">
            <a:avLst/>
          </a:prstGeom>
          <a:solidFill>
            <a:schemeClr val="bg1">
              <a:lumMod val="95000"/>
            </a:schemeClr>
          </a:solidFill>
          <a:ln w="28575">
            <a:solidFill>
              <a:schemeClr val="tx2"/>
            </a:solidFill>
          </a:ln>
        </p:spPr>
        <p:txBody>
          <a:bodyPr wrap="square" rtlCol="0">
            <a:spAutoFit/>
          </a:bodyPr>
          <a:lstStyle/>
          <a:p>
            <a:pPr algn="ctr"/>
            <a:r>
              <a:rPr lang="en-US" sz="2000" i="1" dirty="0">
                <a:solidFill>
                  <a:schemeClr val="tx2"/>
                </a:solidFill>
                <a:latin typeface="Arial" panose="020B0604020202020204" pitchFamily="34" charset="0"/>
                <a:cs typeface="Arial" panose="020B0604020202020204" pitchFamily="34" charset="0"/>
              </a:rPr>
              <a:t>Z</a:t>
            </a:r>
          </a:p>
          <a:p>
            <a:pPr algn="ctr"/>
            <a:r>
              <a:rPr lang="en-US" dirty="0">
                <a:solidFill>
                  <a:schemeClr val="tx2"/>
                </a:solidFill>
                <a:latin typeface="Arial" panose="020B0604020202020204" pitchFamily="34" charset="0"/>
                <a:cs typeface="Arial" panose="020B0604020202020204" pitchFamily="34" charset="0"/>
              </a:rPr>
              <a:t>(context)</a:t>
            </a:r>
          </a:p>
        </p:txBody>
      </p:sp>
      <p:grpSp>
        <p:nvGrpSpPr>
          <p:cNvPr id="12" name="Gruppieren 11">
            <a:extLst>
              <a:ext uri="{FF2B5EF4-FFF2-40B4-BE49-F238E27FC236}">
                <a16:creationId xmlns:a16="http://schemas.microsoft.com/office/drawing/2014/main" id="{E5EDBCDE-AAFD-4062-B366-2F54096DE65A}"/>
              </a:ext>
            </a:extLst>
          </p:cNvPr>
          <p:cNvGrpSpPr/>
          <p:nvPr/>
        </p:nvGrpSpPr>
        <p:grpSpPr>
          <a:xfrm>
            <a:off x="2426507" y="347309"/>
            <a:ext cx="8529178" cy="4299848"/>
            <a:chOff x="2655107" y="333662"/>
            <a:chExt cx="8529178" cy="4299848"/>
          </a:xfrm>
        </p:grpSpPr>
        <p:sp>
          <p:nvSpPr>
            <p:cNvPr id="50" name="Ellipse 49"/>
            <p:cNvSpPr/>
            <p:nvPr/>
          </p:nvSpPr>
          <p:spPr>
            <a:xfrm>
              <a:off x="9293820" y="3679402"/>
              <a:ext cx="1890465" cy="954108"/>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2"/>
                  </a:solidFill>
                  <a:latin typeface="Arial" panose="020B0604020202020204" pitchFamily="34" charset="0"/>
                  <a:cs typeface="Arial" panose="020B0604020202020204" pitchFamily="34" charset="0"/>
                  <a:sym typeface="Symbol" panose="05050102010706020507" pitchFamily="18" charset="2"/>
                </a:rPr>
                <a:t></a:t>
              </a:r>
            </a:p>
            <a:p>
              <a:pPr algn="ctr"/>
              <a:r>
                <a:rPr lang="en-US" sz="1600" dirty="0">
                  <a:solidFill>
                    <a:schemeClr val="tx2"/>
                  </a:solidFill>
                  <a:latin typeface="Arial" panose="020B0604020202020204" pitchFamily="34" charset="0"/>
                  <a:cs typeface="Arial" panose="020B0604020202020204" pitchFamily="34" charset="0"/>
                </a:rPr>
                <a:t>(measurement error)</a:t>
              </a:r>
              <a:endParaRPr lang="de-DE" sz="1600" dirty="0">
                <a:solidFill>
                  <a:schemeClr val="tx2"/>
                </a:solidFill>
              </a:endParaRPr>
            </a:p>
          </p:txBody>
        </p:sp>
        <p:cxnSp>
          <p:nvCxnSpPr>
            <p:cNvPr id="51" name="Gerade Verbindung mit Pfeil 50"/>
            <p:cNvCxnSpPr>
              <a:cxnSpLocks/>
              <a:stCxn id="50" idx="2"/>
              <a:endCxn id="4" idx="3"/>
            </p:cNvCxnSpPr>
            <p:nvPr/>
          </p:nvCxnSpPr>
          <p:spPr>
            <a:xfrm flipH="1">
              <a:off x="8181676" y="4156456"/>
              <a:ext cx="1112144" cy="1"/>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9" name="Gerade Verbindung mit Pfeil 38"/>
            <p:cNvCxnSpPr/>
            <p:nvPr/>
          </p:nvCxnSpPr>
          <p:spPr>
            <a:xfrm flipH="1">
              <a:off x="2655107" y="679517"/>
              <a:ext cx="528360" cy="399316"/>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sp>
          <p:nvSpPr>
            <p:cNvPr id="40" name="Textfeld 39"/>
            <p:cNvSpPr txBox="1"/>
            <p:nvPr/>
          </p:nvSpPr>
          <p:spPr>
            <a:xfrm>
              <a:off x="3106081" y="333668"/>
              <a:ext cx="452084" cy="369332"/>
            </a:xfrm>
            <a:prstGeom prst="rect">
              <a:avLst/>
            </a:prstGeom>
            <a:noFill/>
            <a:ln>
              <a:noFill/>
            </a:ln>
          </p:spPr>
          <p:txBody>
            <a:bodyPr wrap="square" rtlCol="0">
              <a:spAutoFit/>
            </a:bodyPr>
            <a:lstStyle/>
            <a:p>
              <a:r>
                <a:rPr lang="de-DE" dirty="0">
                  <a:solidFill>
                    <a:schemeClr val="tx2"/>
                  </a:solidFill>
                  <a:sym typeface="Symbol"/>
                </a:rPr>
                <a:t></a:t>
              </a:r>
              <a:r>
                <a:rPr lang="de-DE" baseline="-25000" dirty="0">
                  <a:solidFill>
                    <a:schemeClr val="tx2"/>
                  </a:solidFill>
                  <a:latin typeface="Arial" panose="020B0604020202020204" pitchFamily="34" charset="0"/>
                  <a:sym typeface="Symbol"/>
                </a:rPr>
                <a:t>1</a:t>
              </a:r>
              <a:endParaRPr lang="de-DE" baseline="-25000" dirty="0">
                <a:solidFill>
                  <a:schemeClr val="tx2"/>
                </a:solidFill>
                <a:latin typeface="Arial" panose="020B0604020202020204" pitchFamily="34" charset="0"/>
              </a:endParaRPr>
            </a:p>
          </p:txBody>
        </p:sp>
        <p:cxnSp>
          <p:nvCxnSpPr>
            <p:cNvPr id="49" name="Gerade Verbindung mit Pfeil 48"/>
            <p:cNvCxnSpPr/>
            <p:nvPr/>
          </p:nvCxnSpPr>
          <p:spPr>
            <a:xfrm flipH="1">
              <a:off x="8141717" y="679511"/>
              <a:ext cx="528360" cy="399316"/>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sp>
          <p:nvSpPr>
            <p:cNvPr id="52" name="Textfeld 51"/>
            <p:cNvSpPr txBox="1"/>
            <p:nvPr/>
          </p:nvSpPr>
          <p:spPr>
            <a:xfrm>
              <a:off x="8592691" y="333662"/>
              <a:ext cx="452084" cy="369332"/>
            </a:xfrm>
            <a:prstGeom prst="rect">
              <a:avLst/>
            </a:prstGeom>
            <a:noFill/>
            <a:ln>
              <a:noFill/>
            </a:ln>
          </p:spPr>
          <p:txBody>
            <a:bodyPr wrap="square" rtlCol="0">
              <a:spAutoFit/>
            </a:bodyPr>
            <a:lstStyle/>
            <a:p>
              <a:r>
                <a:rPr lang="de-DE" dirty="0">
                  <a:solidFill>
                    <a:schemeClr val="tx2"/>
                  </a:solidFill>
                  <a:sym typeface="Symbol"/>
                </a:rPr>
                <a:t></a:t>
              </a:r>
              <a:r>
                <a:rPr lang="de-DE" baseline="-25000" dirty="0">
                  <a:solidFill>
                    <a:schemeClr val="tx2"/>
                  </a:solidFill>
                  <a:latin typeface="Arial" panose="020B0604020202020204" pitchFamily="34" charset="0"/>
                  <a:sym typeface="Symbol"/>
                </a:rPr>
                <a:t>2</a:t>
              </a:r>
              <a:endParaRPr lang="de-DE" baseline="-25000" dirty="0">
                <a:solidFill>
                  <a:schemeClr val="tx2"/>
                </a:solidFill>
                <a:latin typeface="Arial" panose="020B0604020202020204" pitchFamily="34" charset="0"/>
              </a:endParaRPr>
            </a:p>
          </p:txBody>
        </p:sp>
      </p:grpSp>
      <p:sp>
        <p:nvSpPr>
          <p:cNvPr id="32" name="Textfeld 31">
            <a:extLst>
              <a:ext uri="{FF2B5EF4-FFF2-40B4-BE49-F238E27FC236}">
                <a16:creationId xmlns:a16="http://schemas.microsoft.com/office/drawing/2014/main" id="{F7EE6F21-0A73-4646-928A-27249587BA2A}"/>
              </a:ext>
            </a:extLst>
          </p:cNvPr>
          <p:cNvSpPr txBox="1"/>
          <p:nvPr/>
        </p:nvSpPr>
        <p:spPr>
          <a:xfrm>
            <a:off x="7561860" y="6223402"/>
            <a:ext cx="4092166" cy="307777"/>
          </a:xfrm>
          <a:prstGeom prst="rect">
            <a:avLst/>
          </a:prstGeom>
          <a:noFill/>
        </p:spPr>
        <p:txBody>
          <a:bodyPr wrap="square" rtlCol="0">
            <a:spAutoFit/>
          </a:bodyPr>
          <a:lstStyle/>
          <a:p>
            <a:pPr algn="r"/>
            <a:r>
              <a:rPr lang="en-US" sz="1400" i="1" dirty="0"/>
              <a:t>from Gollwitzer &amp; Schwabe (2022)</a:t>
            </a:r>
          </a:p>
        </p:txBody>
      </p:sp>
      <p:sp>
        <p:nvSpPr>
          <p:cNvPr id="41" name="Foliennummernplatzhalter 3">
            <a:extLst>
              <a:ext uri="{FF2B5EF4-FFF2-40B4-BE49-F238E27FC236}">
                <a16:creationId xmlns:a16="http://schemas.microsoft.com/office/drawing/2014/main" id="{7E5FBD4F-D5F0-43B5-B32F-11853029AC97}"/>
              </a:ext>
            </a:extLst>
          </p:cNvPr>
          <p:cNvSpPr txBox="1">
            <a:spLocks/>
          </p:cNvSpPr>
          <p:nvPr/>
        </p:nvSpPr>
        <p:spPr>
          <a:xfrm>
            <a:off x="11416683" y="6510018"/>
            <a:ext cx="720000" cy="2700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3889EAAA-2A39-E347-B0AA-909793490C00}" type="slidenum">
              <a:rPr lang="de-DE" sz="1100" b="1" smtClean="0"/>
              <a:pPr algn="r"/>
              <a:t>10</a:t>
            </a:fld>
            <a:endParaRPr lang="de-DE" sz="1100" b="1" dirty="0"/>
          </a:p>
        </p:txBody>
      </p:sp>
      <p:sp>
        <p:nvSpPr>
          <p:cNvPr id="5" name="Rechteck 4">
            <a:extLst>
              <a:ext uri="{FF2B5EF4-FFF2-40B4-BE49-F238E27FC236}">
                <a16:creationId xmlns:a16="http://schemas.microsoft.com/office/drawing/2014/main" id="{825D83AA-8278-46F2-9C49-F53633CD0106}"/>
              </a:ext>
            </a:extLst>
          </p:cNvPr>
          <p:cNvSpPr/>
          <p:nvPr/>
        </p:nvSpPr>
        <p:spPr>
          <a:xfrm>
            <a:off x="162930" y="5040823"/>
            <a:ext cx="3204723" cy="1631216"/>
          </a:xfrm>
          <a:prstGeom prst="rect">
            <a:avLst/>
          </a:prstGeom>
          <a:solidFill>
            <a:srgbClr val="CCECFF"/>
          </a:solidFill>
          <a:effectLst>
            <a:outerShdw blurRad="50800" dist="38100" dir="2700000" algn="tl" rotWithShape="0">
              <a:prstClr val="black">
                <a:alpha val="40000"/>
              </a:prstClr>
            </a:outerShdw>
          </a:effectLst>
        </p:spPr>
        <p:txBody>
          <a:bodyPr wrap="none">
            <a:spAutoFit/>
          </a:bodyPr>
          <a:lstStyle/>
          <a:p>
            <a:pPr>
              <a:spcAft>
                <a:spcPts val="600"/>
              </a:spcAft>
            </a:pPr>
            <a:r>
              <a:rPr lang="en-US" b="1" dirty="0">
                <a:solidFill>
                  <a:srgbClr val="000000"/>
                </a:solidFill>
              </a:rPr>
              <a:t>“</a:t>
            </a:r>
            <a:r>
              <a:rPr lang="en-US" b="1" dirty="0" err="1">
                <a:solidFill>
                  <a:srgbClr val="000000"/>
                </a:solidFill>
              </a:rPr>
              <a:t>ManyLabs</a:t>
            </a:r>
            <a:r>
              <a:rPr lang="en-US" b="1" dirty="0">
                <a:solidFill>
                  <a:srgbClr val="000000"/>
                </a:solidFill>
              </a:rPr>
              <a:t>” projects:</a:t>
            </a:r>
          </a:p>
          <a:p>
            <a:pPr marL="285750" indent="-285750">
              <a:spcAft>
                <a:spcPts val="600"/>
              </a:spcAft>
              <a:buFont typeface="Arial" panose="020B0604020202020204" pitchFamily="34" charset="0"/>
              <a:buChar char="•"/>
            </a:pPr>
            <a:r>
              <a:rPr lang="en-US" dirty="0">
                <a:solidFill>
                  <a:srgbClr val="000000"/>
                </a:solidFill>
              </a:rPr>
              <a:t>Only 13% include an MC</a:t>
            </a:r>
          </a:p>
          <a:p>
            <a:pPr marL="285750" indent="-285750">
              <a:spcAft>
                <a:spcPts val="600"/>
              </a:spcAft>
              <a:buFont typeface="Arial" panose="020B0604020202020204" pitchFamily="34" charset="0"/>
              <a:buChar char="•"/>
            </a:pPr>
            <a:r>
              <a:rPr lang="en-US" dirty="0">
                <a:solidFill>
                  <a:srgbClr val="000000"/>
                </a:solidFill>
              </a:rPr>
              <a:t>Only 40% used more than </a:t>
            </a:r>
            <a:br>
              <a:rPr lang="en-US" dirty="0">
                <a:solidFill>
                  <a:srgbClr val="000000"/>
                </a:solidFill>
              </a:rPr>
            </a:br>
            <a:r>
              <a:rPr lang="en-US" dirty="0">
                <a:solidFill>
                  <a:srgbClr val="000000"/>
                </a:solidFill>
              </a:rPr>
              <a:t>one outcome measure at </a:t>
            </a:r>
            <a:br>
              <a:rPr lang="en-US" dirty="0">
                <a:solidFill>
                  <a:srgbClr val="000000"/>
                </a:solidFill>
              </a:rPr>
            </a:br>
            <a:r>
              <a:rPr lang="en-US" dirty="0">
                <a:solidFill>
                  <a:srgbClr val="000000"/>
                </a:solidFill>
              </a:rPr>
              <a:t>all replication sites</a:t>
            </a:r>
          </a:p>
        </p:txBody>
      </p:sp>
    </p:spTree>
    <p:extLst>
      <p:ext uri="{BB962C8B-B14F-4D97-AF65-F5344CB8AC3E}">
        <p14:creationId xmlns:p14="http://schemas.microsoft.com/office/powerpoint/2010/main" val="91690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righ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down)">
                                      <p:cBhvr>
                                        <p:cTn id="22" dur="500"/>
                                        <p:tgtEl>
                                          <p:spTgt spid="22"/>
                                        </p:tgtEl>
                                      </p:cBhvr>
                                    </p:animEffect>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down)">
                                      <p:cBhvr>
                                        <p:cTn id="26" dur="500"/>
                                        <p:tgtEl>
                                          <p:spTgt spid="26"/>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80"/>
                                        </p:tgtEl>
                                        <p:attrNameLst>
                                          <p:attrName>style.visibility</p:attrName>
                                        </p:attrNameLst>
                                      </p:cBhvr>
                                      <p:to>
                                        <p:strVal val="visible"/>
                                      </p:to>
                                    </p:set>
                                    <p:animEffect transition="in" filter="wipe(down)">
                                      <p:cBhvr>
                                        <p:cTn id="29" dur="500"/>
                                        <p:tgtEl>
                                          <p:spTgt spid="8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down)">
                                      <p:cBhvr>
                                        <p:cTn id="39" dur="500"/>
                                        <p:tgtEl>
                                          <p:spTgt spid="24"/>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83"/>
                                        </p:tgtEl>
                                        <p:attrNameLst>
                                          <p:attrName>style.visibility</p:attrName>
                                        </p:attrNameLst>
                                      </p:cBhvr>
                                      <p:to>
                                        <p:strVal val="visible"/>
                                      </p:to>
                                    </p:set>
                                    <p:animEffect transition="in" filter="wipe(down)">
                                      <p:cBhvr>
                                        <p:cTn id="42" dur="500"/>
                                        <p:tgtEl>
                                          <p:spTgt spid="8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6"/>
                                        </p:tgtEl>
                                        <p:attrNameLst>
                                          <p:attrName>style.visibility</p:attrName>
                                        </p:attrNameLst>
                                      </p:cBhvr>
                                      <p:to>
                                        <p:strVal val="visible"/>
                                      </p:to>
                                    </p:set>
                                    <p:animEffect transition="in" filter="wipe(left)">
                                      <p:cBhvr>
                                        <p:cTn id="47" dur="500"/>
                                        <p:tgtEl>
                                          <p:spTgt spid="8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86" grpId="0" animBg="1"/>
      <p:bldP spid="83" grpId="0"/>
      <p:bldP spid="22"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12">
            <a:extLst>
              <a:ext uri="{FF2B5EF4-FFF2-40B4-BE49-F238E27FC236}">
                <a16:creationId xmlns:a16="http://schemas.microsoft.com/office/drawing/2014/main" id="{42AC78B8-1083-4644-9D98-98740BD52D4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63B2FA3F-B075-49AB-A6DB-B2FFFB272FD3}"/>
              </a:ext>
            </a:extLst>
          </p:cNvPr>
          <p:cNvSpPr>
            <a:spLocks noGrp="1"/>
          </p:cNvSpPr>
          <p:nvPr>
            <p:ph type="sldNum" sz="quarter" idx="4"/>
          </p:nvPr>
        </p:nvSpPr>
        <p:spPr/>
        <p:txBody>
          <a:bodyPr/>
          <a:lstStyle/>
          <a:p>
            <a:fld id="{3889EAAA-2A39-E347-B0AA-909793490C00}" type="slidenum">
              <a:rPr lang="de-DE" smtClean="0"/>
              <a:pPr/>
              <a:t>11</a:t>
            </a:fld>
            <a:endParaRPr lang="de-DE" dirty="0"/>
          </a:p>
        </p:txBody>
      </p:sp>
      <p:sp>
        <p:nvSpPr>
          <p:cNvPr id="3" name="Textplatzhalter 2"/>
          <p:cNvSpPr>
            <a:spLocks noGrp="1"/>
          </p:cNvSpPr>
          <p:nvPr>
            <p:ph type="body" sz="quarter" idx="12"/>
          </p:nvPr>
        </p:nvSpPr>
        <p:spPr>
          <a:xfrm>
            <a:off x="442800" y="1449239"/>
            <a:ext cx="11306175" cy="543463"/>
          </a:xfrm>
        </p:spPr>
        <p:txBody>
          <a:bodyPr/>
          <a:lstStyle/>
          <a:p>
            <a:pPr>
              <a:lnSpc>
                <a:spcPct val="100000"/>
              </a:lnSpc>
            </a:pPr>
            <a:r>
              <a:rPr lang="en-US" sz="2800" dirty="0"/>
              <a:t>Testing the role of contextual variation</a:t>
            </a:r>
          </a:p>
        </p:txBody>
      </p:sp>
      <p:sp>
        <p:nvSpPr>
          <p:cNvPr id="2" name="TextBox 1">
            <a:extLst>
              <a:ext uri="{FF2B5EF4-FFF2-40B4-BE49-F238E27FC236}">
                <a16:creationId xmlns:a16="http://schemas.microsoft.com/office/drawing/2014/main" id="{CA8F2B77-8F4C-B8B4-7E82-99F0C72D14D5}"/>
              </a:ext>
            </a:extLst>
          </p:cNvPr>
          <p:cNvSpPr txBox="1"/>
          <p:nvPr/>
        </p:nvSpPr>
        <p:spPr>
          <a:xfrm>
            <a:off x="577970" y="1992702"/>
            <a:ext cx="11171005" cy="458587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de-DE" dirty="0" err="1">
                <a:solidFill>
                  <a:schemeClr val="tx2"/>
                </a:solidFill>
              </a:rPr>
              <a:t>Examined</a:t>
            </a:r>
            <a:r>
              <a:rPr lang="de-DE" dirty="0">
                <a:solidFill>
                  <a:schemeClr val="tx2"/>
                </a:solidFill>
              </a:rPr>
              <a:t> </a:t>
            </a:r>
            <a:r>
              <a:rPr lang="de-DE" dirty="0" err="1">
                <a:solidFill>
                  <a:schemeClr val="tx2"/>
                </a:solidFill>
              </a:rPr>
              <a:t>the</a:t>
            </a:r>
            <a:r>
              <a:rPr lang="de-DE" dirty="0">
                <a:solidFill>
                  <a:schemeClr val="tx2"/>
                </a:solidFill>
              </a:rPr>
              <a:t> </a:t>
            </a:r>
            <a:r>
              <a:rPr lang="de-DE" dirty="0" err="1">
                <a:solidFill>
                  <a:schemeClr val="tx2"/>
                </a:solidFill>
              </a:rPr>
              <a:t>role</a:t>
            </a:r>
            <a:r>
              <a:rPr lang="de-DE" dirty="0">
                <a:solidFill>
                  <a:schemeClr val="tx2"/>
                </a:solidFill>
              </a:rPr>
              <a:t> </a:t>
            </a:r>
            <a:r>
              <a:rPr lang="de-DE" dirty="0" err="1">
                <a:solidFill>
                  <a:schemeClr val="tx2"/>
                </a:solidFill>
              </a:rPr>
              <a:t>of</a:t>
            </a:r>
            <a:r>
              <a:rPr lang="de-DE" dirty="0">
                <a:solidFill>
                  <a:schemeClr val="tx2"/>
                </a:solidFill>
              </a:rPr>
              <a:t> „</a:t>
            </a:r>
            <a:r>
              <a:rPr lang="de-DE" b="1" i="1" u="sng" dirty="0" err="1">
                <a:solidFill>
                  <a:schemeClr val="tx2"/>
                </a:solidFill>
              </a:rPr>
              <a:t>conceptually</a:t>
            </a:r>
            <a:r>
              <a:rPr lang="de-DE" b="1" i="1" u="sng" dirty="0">
                <a:solidFill>
                  <a:schemeClr val="tx2"/>
                </a:solidFill>
              </a:rPr>
              <a:t> relevant</a:t>
            </a:r>
            <a:r>
              <a:rPr lang="de-DE" dirty="0">
                <a:solidFill>
                  <a:schemeClr val="tx2"/>
                </a:solidFill>
              </a:rPr>
              <a:t>“ and „</a:t>
            </a:r>
            <a:r>
              <a:rPr lang="de-DE" b="1" i="1" u="sng" dirty="0" err="1">
                <a:solidFill>
                  <a:schemeClr val="tx2"/>
                </a:solidFill>
              </a:rPr>
              <a:t>conceptually</a:t>
            </a:r>
            <a:r>
              <a:rPr lang="de-DE" b="1" i="1" u="sng" dirty="0">
                <a:solidFill>
                  <a:schemeClr val="tx2"/>
                </a:solidFill>
              </a:rPr>
              <a:t> irrelevant</a:t>
            </a:r>
            <a:r>
              <a:rPr lang="de-DE" dirty="0">
                <a:solidFill>
                  <a:schemeClr val="tx2"/>
                </a:solidFill>
              </a:rPr>
              <a:t>“ </a:t>
            </a:r>
            <a:r>
              <a:rPr lang="de-DE" dirty="0" err="1">
                <a:solidFill>
                  <a:schemeClr val="tx2"/>
                </a:solidFill>
              </a:rPr>
              <a:t>contextual</a:t>
            </a:r>
            <a:r>
              <a:rPr lang="de-DE" dirty="0">
                <a:solidFill>
                  <a:schemeClr val="tx2"/>
                </a:solidFill>
              </a:rPr>
              <a:t> variables (Gollwitzer &amp; Schwabe, 2022) </a:t>
            </a:r>
            <a:r>
              <a:rPr lang="de-DE" dirty="0" err="1">
                <a:solidFill>
                  <a:schemeClr val="tx2"/>
                </a:solidFill>
              </a:rPr>
              <a:t>by</a:t>
            </a:r>
            <a:r>
              <a:rPr lang="de-DE" dirty="0">
                <a:solidFill>
                  <a:schemeClr val="tx2"/>
                </a:solidFill>
              </a:rPr>
              <a:t> </a:t>
            </a:r>
            <a:r>
              <a:rPr lang="de-DE" dirty="0" err="1">
                <a:solidFill>
                  <a:schemeClr val="tx2"/>
                </a:solidFill>
              </a:rPr>
              <a:t>reanalyzing</a:t>
            </a:r>
            <a:r>
              <a:rPr lang="de-DE" dirty="0">
                <a:solidFill>
                  <a:schemeClr val="tx2"/>
                </a:solidFill>
              </a:rPr>
              <a:t> </a:t>
            </a:r>
            <a:r>
              <a:rPr lang="de-DE" dirty="0" err="1">
                <a:solidFill>
                  <a:schemeClr val="tx2"/>
                </a:solidFill>
              </a:rPr>
              <a:t>data</a:t>
            </a:r>
            <a:r>
              <a:rPr lang="de-DE" dirty="0">
                <a:solidFill>
                  <a:schemeClr val="tx2"/>
                </a:solidFill>
              </a:rPr>
              <a:t> </a:t>
            </a:r>
            <a:r>
              <a:rPr lang="de-DE" dirty="0" err="1">
                <a:solidFill>
                  <a:schemeClr val="tx2"/>
                </a:solidFill>
              </a:rPr>
              <a:t>from</a:t>
            </a:r>
            <a:r>
              <a:rPr lang="de-DE" dirty="0">
                <a:solidFill>
                  <a:schemeClr val="tx2"/>
                </a:solidFill>
              </a:rPr>
              <a:t> </a:t>
            </a:r>
            <a:r>
              <a:rPr lang="de-DE" dirty="0" err="1">
                <a:solidFill>
                  <a:schemeClr val="tx2"/>
                </a:solidFill>
              </a:rPr>
              <a:t>past</a:t>
            </a:r>
            <a:r>
              <a:rPr lang="de-DE" dirty="0">
                <a:solidFill>
                  <a:schemeClr val="tx2"/>
                </a:solidFill>
              </a:rPr>
              <a:t> multi-lab </a:t>
            </a:r>
            <a:r>
              <a:rPr lang="de-DE" dirty="0" err="1">
                <a:solidFill>
                  <a:schemeClr val="tx2"/>
                </a:solidFill>
              </a:rPr>
              <a:t>replications</a:t>
            </a:r>
            <a:r>
              <a:rPr lang="de-DE" dirty="0">
                <a:solidFill>
                  <a:schemeClr val="tx2"/>
                </a:solidFill>
              </a:rPr>
              <a:t>.</a:t>
            </a:r>
          </a:p>
          <a:p>
            <a:pPr marL="285750" indent="-285750">
              <a:spcAft>
                <a:spcPts val="600"/>
              </a:spcAft>
              <a:buFont typeface="Arial" panose="020B0604020202020204" pitchFamily="34" charset="0"/>
              <a:buChar char="•"/>
            </a:pPr>
            <a:r>
              <a:rPr lang="de-DE" dirty="0" err="1">
                <a:solidFill>
                  <a:schemeClr val="tx2"/>
                </a:solidFill>
              </a:rPr>
              <a:t>We</a:t>
            </a:r>
            <a:r>
              <a:rPr lang="de-DE" dirty="0">
                <a:solidFill>
                  <a:schemeClr val="tx2"/>
                </a:solidFill>
              </a:rPr>
              <a:t> </a:t>
            </a:r>
            <a:r>
              <a:rPr lang="de-DE" dirty="0" err="1">
                <a:solidFill>
                  <a:schemeClr val="tx2"/>
                </a:solidFill>
              </a:rPr>
              <a:t>searched</a:t>
            </a:r>
            <a:r>
              <a:rPr lang="de-DE" dirty="0">
                <a:solidFill>
                  <a:schemeClr val="tx2"/>
                </a:solidFill>
              </a:rPr>
              <a:t> </a:t>
            </a:r>
            <a:r>
              <a:rPr lang="de-DE" dirty="0" err="1">
                <a:solidFill>
                  <a:schemeClr val="tx2"/>
                </a:solidFill>
              </a:rPr>
              <a:t>the</a:t>
            </a:r>
            <a:r>
              <a:rPr lang="de-DE" dirty="0">
                <a:solidFill>
                  <a:schemeClr val="tx2"/>
                </a:solidFill>
              </a:rPr>
              <a:t> FORRT Replication Database (</a:t>
            </a:r>
            <a:r>
              <a:rPr lang="de-DE" dirty="0" err="1">
                <a:solidFill>
                  <a:schemeClr val="tx2"/>
                </a:solidFill>
              </a:rPr>
              <a:t>FReD</a:t>
            </a:r>
            <a:r>
              <a:rPr lang="de-DE" dirty="0">
                <a:solidFill>
                  <a:schemeClr val="tx2"/>
                </a:solidFill>
              </a:rPr>
              <a:t>) </a:t>
            </a:r>
            <a:r>
              <a:rPr lang="de-DE" dirty="0" err="1">
                <a:solidFill>
                  <a:schemeClr val="tx2"/>
                </a:solidFill>
              </a:rPr>
              <a:t>through</a:t>
            </a:r>
            <a:r>
              <a:rPr lang="de-DE" dirty="0">
                <a:solidFill>
                  <a:schemeClr val="tx2"/>
                </a:solidFill>
              </a:rPr>
              <a:t> 17.12.2025 and </a:t>
            </a:r>
            <a:r>
              <a:rPr lang="de-DE" dirty="0" err="1">
                <a:solidFill>
                  <a:schemeClr val="tx2"/>
                </a:solidFill>
              </a:rPr>
              <a:t>reviewed</a:t>
            </a:r>
            <a:r>
              <a:rPr lang="de-DE" dirty="0">
                <a:solidFill>
                  <a:schemeClr val="tx2"/>
                </a:solidFill>
              </a:rPr>
              <a:t> </a:t>
            </a:r>
            <a:r>
              <a:rPr lang="de-DE" dirty="0" err="1">
                <a:solidFill>
                  <a:schemeClr val="tx2"/>
                </a:solidFill>
              </a:rPr>
              <a:t>ongoing</a:t>
            </a:r>
            <a:r>
              <a:rPr lang="de-DE" dirty="0">
                <a:solidFill>
                  <a:schemeClr val="tx2"/>
                </a:solidFill>
              </a:rPr>
              <a:t> Psychological Science </a:t>
            </a:r>
            <a:r>
              <a:rPr lang="de-DE" dirty="0" err="1">
                <a:solidFill>
                  <a:schemeClr val="tx2"/>
                </a:solidFill>
              </a:rPr>
              <a:t>Accelerator</a:t>
            </a:r>
            <a:r>
              <a:rPr lang="de-DE" dirty="0">
                <a:solidFill>
                  <a:schemeClr val="tx2"/>
                </a:solidFill>
              </a:rPr>
              <a:t> (PSA) </a:t>
            </a:r>
            <a:r>
              <a:rPr lang="de-DE" dirty="0" err="1">
                <a:solidFill>
                  <a:schemeClr val="tx2"/>
                </a:solidFill>
              </a:rPr>
              <a:t>projects</a:t>
            </a:r>
            <a:r>
              <a:rPr lang="de-DE" dirty="0">
                <a:solidFill>
                  <a:schemeClr val="tx2"/>
                </a:solidFill>
              </a:rPr>
              <a:t>.</a:t>
            </a:r>
          </a:p>
          <a:p>
            <a:pPr marL="285750" indent="-285750">
              <a:spcAft>
                <a:spcPts val="600"/>
              </a:spcAft>
              <a:buFont typeface="Arial" panose="020B0604020202020204" pitchFamily="34" charset="0"/>
              <a:buChar char="•"/>
            </a:pPr>
            <a:r>
              <a:rPr lang="de-DE" dirty="0">
                <a:solidFill>
                  <a:schemeClr val="tx2"/>
                </a:solidFill>
              </a:rPr>
              <a:t>384 </a:t>
            </a:r>
            <a:r>
              <a:rPr lang="de-DE" dirty="0" err="1">
                <a:solidFill>
                  <a:schemeClr val="tx2"/>
                </a:solidFill>
              </a:rPr>
              <a:t>effect</a:t>
            </a:r>
            <a:r>
              <a:rPr lang="de-DE" dirty="0">
                <a:solidFill>
                  <a:schemeClr val="tx2"/>
                </a:solidFill>
              </a:rPr>
              <a:t> </a:t>
            </a:r>
            <a:r>
              <a:rPr lang="de-DE" dirty="0" err="1">
                <a:solidFill>
                  <a:schemeClr val="tx2"/>
                </a:solidFill>
              </a:rPr>
              <a:t>size</a:t>
            </a:r>
            <a:r>
              <a:rPr lang="de-DE" dirty="0">
                <a:solidFill>
                  <a:schemeClr val="tx2"/>
                </a:solidFill>
              </a:rPr>
              <a:t> </a:t>
            </a:r>
            <a:r>
              <a:rPr lang="de-DE" dirty="0" err="1">
                <a:solidFill>
                  <a:schemeClr val="tx2"/>
                </a:solidFill>
              </a:rPr>
              <a:t>were</a:t>
            </a:r>
            <a:r>
              <a:rPr lang="de-DE" dirty="0">
                <a:solidFill>
                  <a:schemeClr val="tx2"/>
                </a:solidFill>
              </a:rPr>
              <a:t> </a:t>
            </a:r>
            <a:r>
              <a:rPr lang="de-DE" dirty="0" err="1">
                <a:solidFill>
                  <a:schemeClr val="tx2"/>
                </a:solidFill>
              </a:rPr>
              <a:t>coded</a:t>
            </a:r>
            <a:r>
              <a:rPr lang="de-DE" dirty="0">
                <a:solidFill>
                  <a:schemeClr val="tx2"/>
                </a:solidFill>
              </a:rPr>
              <a:t> </a:t>
            </a:r>
            <a:r>
              <a:rPr lang="de-DE" dirty="0" err="1">
                <a:solidFill>
                  <a:schemeClr val="tx2"/>
                </a:solidFill>
              </a:rPr>
              <a:t>across</a:t>
            </a:r>
            <a:r>
              <a:rPr lang="de-DE" dirty="0">
                <a:solidFill>
                  <a:schemeClr val="tx2"/>
                </a:solidFill>
              </a:rPr>
              <a:t> 44 multi-site </a:t>
            </a:r>
            <a:r>
              <a:rPr lang="de-DE" dirty="0" err="1">
                <a:solidFill>
                  <a:schemeClr val="tx2"/>
                </a:solidFill>
              </a:rPr>
              <a:t>replication</a:t>
            </a:r>
            <a:r>
              <a:rPr lang="de-DE" dirty="0">
                <a:solidFill>
                  <a:schemeClr val="tx2"/>
                </a:solidFill>
              </a:rPr>
              <a:t> </a:t>
            </a:r>
            <a:r>
              <a:rPr lang="de-DE" dirty="0" err="1">
                <a:solidFill>
                  <a:schemeClr val="tx2"/>
                </a:solidFill>
              </a:rPr>
              <a:t>projects</a:t>
            </a:r>
            <a:r>
              <a:rPr lang="de-DE" dirty="0">
                <a:solidFill>
                  <a:schemeClr val="tx2"/>
                </a:solidFill>
              </a:rPr>
              <a:t>.</a:t>
            </a:r>
          </a:p>
          <a:p>
            <a:pPr marL="285750" indent="-285750">
              <a:spcAft>
                <a:spcPts val="600"/>
              </a:spcAft>
              <a:buFont typeface="Arial" panose="020B0604020202020204" pitchFamily="34" charset="0"/>
              <a:buChar char="•"/>
            </a:pPr>
            <a:r>
              <a:rPr lang="de-DE" dirty="0" err="1">
                <a:solidFill>
                  <a:schemeClr val="tx2"/>
                </a:solidFill>
              </a:rPr>
              <a:t>We</a:t>
            </a:r>
            <a:r>
              <a:rPr lang="de-DE" dirty="0">
                <a:solidFill>
                  <a:schemeClr val="tx2"/>
                </a:solidFill>
              </a:rPr>
              <a:t> </a:t>
            </a:r>
            <a:r>
              <a:rPr lang="de-DE" dirty="0" err="1">
                <a:solidFill>
                  <a:schemeClr val="tx2"/>
                </a:solidFill>
              </a:rPr>
              <a:t>applied</a:t>
            </a:r>
            <a:r>
              <a:rPr lang="de-DE" dirty="0">
                <a:solidFill>
                  <a:schemeClr val="tx2"/>
                </a:solidFill>
              </a:rPr>
              <a:t> </a:t>
            </a:r>
            <a:r>
              <a:rPr lang="de-DE" b="1" dirty="0" err="1">
                <a:solidFill>
                  <a:srgbClr val="FF0000"/>
                </a:solidFill>
              </a:rPr>
              <a:t>four</a:t>
            </a:r>
            <a:r>
              <a:rPr lang="de-DE" dirty="0">
                <a:solidFill>
                  <a:schemeClr val="tx2"/>
                </a:solidFill>
              </a:rPr>
              <a:t> </a:t>
            </a:r>
            <a:r>
              <a:rPr lang="de-DE" dirty="0" err="1">
                <a:solidFill>
                  <a:schemeClr val="tx2"/>
                </a:solidFill>
              </a:rPr>
              <a:t>inclusion</a:t>
            </a:r>
            <a:r>
              <a:rPr lang="de-DE" dirty="0">
                <a:solidFill>
                  <a:schemeClr val="tx2"/>
                </a:solidFill>
              </a:rPr>
              <a:t> </a:t>
            </a:r>
            <a:r>
              <a:rPr lang="de-DE" dirty="0" err="1">
                <a:solidFill>
                  <a:schemeClr val="tx2"/>
                </a:solidFill>
              </a:rPr>
              <a:t>criteria</a:t>
            </a:r>
            <a:r>
              <a:rPr lang="de-DE" dirty="0">
                <a:solidFill>
                  <a:schemeClr val="tx2"/>
                </a:solidFill>
              </a:rPr>
              <a:t>:</a:t>
            </a:r>
          </a:p>
          <a:p>
            <a:pPr marL="742950" lvl="1" indent="-285750">
              <a:spcAft>
                <a:spcPts val="600"/>
              </a:spcAft>
              <a:buFont typeface="Arial" panose="020B0604020202020204" pitchFamily="34" charset="0"/>
              <a:buChar char="•"/>
            </a:pPr>
            <a:r>
              <a:rPr lang="de-DE" dirty="0" err="1">
                <a:solidFill>
                  <a:schemeClr val="tx2"/>
                </a:solidFill>
              </a:rPr>
              <a:t>To</a:t>
            </a:r>
            <a:r>
              <a:rPr lang="de-DE" dirty="0">
                <a:solidFill>
                  <a:schemeClr val="tx2"/>
                </a:solidFill>
              </a:rPr>
              <a:t> </a:t>
            </a:r>
            <a:r>
              <a:rPr lang="de-DE" dirty="0" err="1">
                <a:solidFill>
                  <a:schemeClr val="tx2"/>
                </a:solidFill>
              </a:rPr>
              <a:t>calculate</a:t>
            </a:r>
            <a:r>
              <a:rPr lang="de-DE" dirty="0">
                <a:solidFill>
                  <a:schemeClr val="tx2"/>
                </a:solidFill>
              </a:rPr>
              <a:t> </a:t>
            </a:r>
            <a:r>
              <a:rPr lang="de-DE" dirty="0" err="1">
                <a:solidFill>
                  <a:schemeClr val="tx2"/>
                </a:solidFill>
              </a:rPr>
              <a:t>path</a:t>
            </a:r>
            <a:r>
              <a:rPr lang="de-DE" dirty="0">
                <a:solidFill>
                  <a:schemeClr val="tx2"/>
                </a:solidFill>
              </a:rPr>
              <a:t> </a:t>
            </a:r>
            <a:r>
              <a:rPr lang="de-DE" i="1" dirty="0">
                <a:solidFill>
                  <a:schemeClr val="tx2"/>
                </a:solidFill>
              </a:rPr>
              <a:t>b, </a:t>
            </a:r>
            <a:r>
              <a:rPr lang="de-DE" dirty="0" err="1">
                <a:solidFill>
                  <a:schemeClr val="tx2"/>
                </a:solidFill>
              </a:rPr>
              <a:t>manipulation</a:t>
            </a:r>
            <a:r>
              <a:rPr lang="de-DE" dirty="0">
                <a:solidFill>
                  <a:schemeClr val="tx2"/>
                </a:solidFill>
              </a:rPr>
              <a:t> check </a:t>
            </a:r>
            <a:r>
              <a:rPr lang="de-DE" dirty="0" err="1">
                <a:solidFill>
                  <a:schemeClr val="tx2"/>
                </a:solidFill>
              </a:rPr>
              <a:t>should</a:t>
            </a:r>
            <a:r>
              <a:rPr lang="de-DE" dirty="0">
                <a:solidFill>
                  <a:schemeClr val="tx2"/>
                </a:solidFill>
              </a:rPr>
              <a:t> </a:t>
            </a:r>
            <a:r>
              <a:rPr lang="de-DE" dirty="0" err="1">
                <a:solidFill>
                  <a:schemeClr val="tx2"/>
                </a:solidFill>
              </a:rPr>
              <a:t>be</a:t>
            </a:r>
            <a:r>
              <a:rPr lang="de-DE" dirty="0">
                <a:solidFill>
                  <a:schemeClr val="tx2"/>
                </a:solidFill>
              </a:rPr>
              <a:t> </a:t>
            </a:r>
            <a:r>
              <a:rPr lang="de-DE" dirty="0" err="1">
                <a:solidFill>
                  <a:schemeClr val="tx2"/>
                </a:solidFill>
              </a:rPr>
              <a:t>used</a:t>
            </a:r>
            <a:r>
              <a:rPr lang="de-DE" dirty="0">
                <a:solidFill>
                  <a:schemeClr val="tx2"/>
                </a:solidFill>
              </a:rPr>
              <a:t> in </a:t>
            </a:r>
            <a:r>
              <a:rPr lang="de-DE" dirty="0" err="1">
                <a:solidFill>
                  <a:schemeClr val="tx2"/>
                </a:solidFill>
              </a:rPr>
              <a:t>the</a:t>
            </a:r>
            <a:r>
              <a:rPr lang="de-DE" dirty="0">
                <a:solidFill>
                  <a:schemeClr val="tx2"/>
                </a:solidFill>
              </a:rPr>
              <a:t> </a:t>
            </a:r>
            <a:r>
              <a:rPr lang="de-DE" dirty="0" err="1">
                <a:solidFill>
                  <a:schemeClr val="tx2"/>
                </a:solidFill>
              </a:rPr>
              <a:t>study</a:t>
            </a:r>
            <a:r>
              <a:rPr lang="de-DE" dirty="0">
                <a:solidFill>
                  <a:schemeClr val="tx2"/>
                </a:solidFill>
              </a:rPr>
              <a:t>.</a:t>
            </a:r>
          </a:p>
          <a:p>
            <a:pPr marL="742950" lvl="1" indent="-285750">
              <a:spcAft>
                <a:spcPts val="600"/>
              </a:spcAft>
              <a:buFont typeface="Arial" panose="020B0604020202020204" pitchFamily="34" charset="0"/>
              <a:buChar char="•"/>
            </a:pPr>
            <a:r>
              <a:rPr lang="de-DE" dirty="0" err="1">
                <a:solidFill>
                  <a:schemeClr val="tx2"/>
                </a:solidFill>
              </a:rPr>
              <a:t>To</a:t>
            </a:r>
            <a:r>
              <a:rPr lang="de-DE" dirty="0">
                <a:solidFill>
                  <a:schemeClr val="tx2"/>
                </a:solidFill>
              </a:rPr>
              <a:t> </a:t>
            </a:r>
            <a:r>
              <a:rPr lang="de-DE" dirty="0" err="1">
                <a:solidFill>
                  <a:schemeClr val="tx2"/>
                </a:solidFill>
              </a:rPr>
              <a:t>estimate</a:t>
            </a:r>
            <a:r>
              <a:rPr lang="de-DE" dirty="0">
                <a:solidFill>
                  <a:schemeClr val="tx2"/>
                </a:solidFill>
              </a:rPr>
              <a:t> </a:t>
            </a:r>
            <a:r>
              <a:rPr lang="de-DE" dirty="0" err="1">
                <a:solidFill>
                  <a:schemeClr val="tx2"/>
                </a:solidFill>
              </a:rPr>
              <a:t>path</a:t>
            </a:r>
            <a:r>
              <a:rPr lang="de-DE" dirty="0">
                <a:solidFill>
                  <a:schemeClr val="tx2"/>
                </a:solidFill>
              </a:rPr>
              <a:t> </a:t>
            </a:r>
            <a:r>
              <a:rPr lang="de-DE" i="1" dirty="0">
                <a:solidFill>
                  <a:schemeClr val="tx2"/>
                </a:solidFill>
              </a:rPr>
              <a:t>d </a:t>
            </a:r>
            <a:r>
              <a:rPr lang="de-DE" dirty="0">
                <a:solidFill>
                  <a:schemeClr val="tx2"/>
                </a:solidFill>
              </a:rPr>
              <a:t>and </a:t>
            </a:r>
            <a:r>
              <a:rPr lang="de-DE" i="1" dirty="0">
                <a:solidFill>
                  <a:schemeClr val="tx2"/>
                </a:solidFill>
              </a:rPr>
              <a:t>e</a:t>
            </a:r>
            <a:r>
              <a:rPr lang="de-DE" dirty="0">
                <a:solidFill>
                  <a:schemeClr val="tx2"/>
                </a:solidFill>
              </a:rPr>
              <a:t>, </a:t>
            </a:r>
            <a:r>
              <a:rPr lang="de-DE" dirty="0" err="1">
                <a:solidFill>
                  <a:schemeClr val="tx2"/>
                </a:solidFill>
              </a:rPr>
              <a:t>the</a:t>
            </a:r>
            <a:r>
              <a:rPr lang="de-DE" dirty="0">
                <a:solidFill>
                  <a:schemeClr val="tx2"/>
                </a:solidFill>
              </a:rPr>
              <a:t> </a:t>
            </a:r>
            <a:r>
              <a:rPr lang="de-DE" dirty="0" err="1">
                <a:solidFill>
                  <a:schemeClr val="tx2"/>
                </a:solidFill>
              </a:rPr>
              <a:t>outcome</a:t>
            </a:r>
            <a:r>
              <a:rPr lang="de-DE" dirty="0">
                <a:solidFill>
                  <a:schemeClr val="tx2"/>
                </a:solidFill>
              </a:rPr>
              <a:t> variable </a:t>
            </a:r>
            <a:r>
              <a:rPr lang="de-DE" dirty="0" err="1">
                <a:solidFill>
                  <a:schemeClr val="tx2"/>
                </a:solidFill>
              </a:rPr>
              <a:t>should</a:t>
            </a:r>
            <a:r>
              <a:rPr lang="de-DE" dirty="0">
                <a:solidFill>
                  <a:schemeClr val="tx2"/>
                </a:solidFill>
              </a:rPr>
              <a:t> </a:t>
            </a:r>
            <a:r>
              <a:rPr lang="de-DE" dirty="0" err="1">
                <a:solidFill>
                  <a:schemeClr val="tx2"/>
                </a:solidFill>
              </a:rPr>
              <a:t>be</a:t>
            </a:r>
            <a:r>
              <a:rPr lang="de-DE" dirty="0">
                <a:solidFill>
                  <a:schemeClr val="tx2"/>
                </a:solidFill>
              </a:rPr>
              <a:t> </a:t>
            </a:r>
            <a:r>
              <a:rPr lang="de-DE" dirty="0" err="1">
                <a:solidFill>
                  <a:schemeClr val="tx2"/>
                </a:solidFill>
              </a:rPr>
              <a:t>measured</a:t>
            </a:r>
            <a:r>
              <a:rPr lang="de-DE" dirty="0">
                <a:solidFill>
                  <a:schemeClr val="tx2"/>
                </a:solidFill>
              </a:rPr>
              <a:t> </a:t>
            </a:r>
            <a:r>
              <a:rPr lang="de-DE" dirty="0" err="1">
                <a:solidFill>
                  <a:schemeClr val="tx2"/>
                </a:solidFill>
              </a:rPr>
              <a:t>by</a:t>
            </a:r>
            <a:r>
              <a:rPr lang="de-DE" dirty="0">
                <a:solidFill>
                  <a:schemeClr val="tx2"/>
                </a:solidFill>
              </a:rPr>
              <a:t> a multi-item </a:t>
            </a:r>
            <a:r>
              <a:rPr lang="de-DE" dirty="0" err="1">
                <a:solidFill>
                  <a:schemeClr val="tx2"/>
                </a:solidFill>
              </a:rPr>
              <a:t>self</a:t>
            </a:r>
            <a:r>
              <a:rPr lang="de-DE" dirty="0">
                <a:solidFill>
                  <a:schemeClr val="tx2"/>
                </a:solidFill>
              </a:rPr>
              <a:t>-report </a:t>
            </a:r>
            <a:r>
              <a:rPr lang="de-DE" dirty="0" err="1">
                <a:solidFill>
                  <a:schemeClr val="tx2"/>
                </a:solidFill>
              </a:rPr>
              <a:t>scale</a:t>
            </a:r>
            <a:r>
              <a:rPr lang="de-DE" dirty="0">
                <a:solidFill>
                  <a:schemeClr val="tx2"/>
                </a:solidFill>
              </a:rPr>
              <a:t> </a:t>
            </a:r>
            <a:r>
              <a:rPr lang="de-DE" dirty="0" err="1">
                <a:solidFill>
                  <a:schemeClr val="tx2"/>
                </a:solidFill>
              </a:rPr>
              <a:t>consisting</a:t>
            </a:r>
            <a:r>
              <a:rPr lang="de-DE" dirty="0">
                <a:solidFill>
                  <a:schemeClr val="tx2"/>
                </a:solidFill>
              </a:rPr>
              <a:t> </a:t>
            </a:r>
            <a:r>
              <a:rPr lang="de-DE" dirty="0" err="1">
                <a:solidFill>
                  <a:schemeClr val="tx2"/>
                </a:solidFill>
              </a:rPr>
              <a:t>of</a:t>
            </a:r>
            <a:r>
              <a:rPr lang="de-DE" dirty="0">
                <a:solidFill>
                  <a:schemeClr val="tx2"/>
                </a:solidFill>
              </a:rPr>
              <a:t> </a:t>
            </a:r>
            <a:r>
              <a:rPr lang="de-DE" dirty="0" err="1">
                <a:solidFill>
                  <a:schemeClr val="tx2"/>
                </a:solidFill>
              </a:rPr>
              <a:t>minimum</a:t>
            </a:r>
            <a:r>
              <a:rPr lang="de-DE" dirty="0">
                <a:solidFill>
                  <a:schemeClr val="tx2"/>
                </a:solidFill>
              </a:rPr>
              <a:t> </a:t>
            </a:r>
            <a:r>
              <a:rPr lang="de-DE" dirty="0" err="1">
                <a:solidFill>
                  <a:schemeClr val="tx2"/>
                </a:solidFill>
              </a:rPr>
              <a:t>three</a:t>
            </a:r>
            <a:r>
              <a:rPr lang="de-DE" dirty="0">
                <a:solidFill>
                  <a:schemeClr val="tx2"/>
                </a:solidFill>
              </a:rPr>
              <a:t> </a:t>
            </a:r>
            <a:r>
              <a:rPr lang="de-DE" dirty="0" err="1">
                <a:solidFill>
                  <a:schemeClr val="tx2"/>
                </a:solidFill>
              </a:rPr>
              <a:t>items</a:t>
            </a:r>
            <a:r>
              <a:rPr lang="de-DE" dirty="0">
                <a:solidFill>
                  <a:schemeClr val="tx2"/>
                </a:solidFill>
              </a:rPr>
              <a:t>, </a:t>
            </a:r>
            <a:r>
              <a:rPr lang="de-DE" dirty="0" err="1">
                <a:solidFill>
                  <a:schemeClr val="tx2"/>
                </a:solidFill>
              </a:rPr>
              <a:t>allowing</a:t>
            </a:r>
            <a:r>
              <a:rPr lang="de-DE" dirty="0">
                <a:solidFill>
                  <a:schemeClr val="tx2"/>
                </a:solidFill>
              </a:rPr>
              <a:t> </a:t>
            </a:r>
            <a:r>
              <a:rPr lang="de-DE" i="1" dirty="0">
                <a:solidFill>
                  <a:schemeClr val="tx2"/>
                </a:solidFill>
              </a:rPr>
              <a:t>differential item </a:t>
            </a:r>
            <a:r>
              <a:rPr lang="de-DE" i="1" dirty="0" err="1">
                <a:solidFill>
                  <a:schemeClr val="tx2"/>
                </a:solidFill>
              </a:rPr>
              <a:t>functioning</a:t>
            </a:r>
            <a:r>
              <a:rPr lang="de-DE" i="1" dirty="0">
                <a:solidFill>
                  <a:schemeClr val="tx2"/>
                </a:solidFill>
              </a:rPr>
              <a:t> </a:t>
            </a:r>
            <a:r>
              <a:rPr lang="de-DE" dirty="0">
                <a:solidFill>
                  <a:schemeClr val="tx2"/>
                </a:solidFill>
              </a:rPr>
              <a:t>(DIF) </a:t>
            </a:r>
            <a:r>
              <a:rPr lang="de-DE" dirty="0" err="1">
                <a:solidFill>
                  <a:schemeClr val="tx2"/>
                </a:solidFill>
              </a:rPr>
              <a:t>analysis</a:t>
            </a:r>
            <a:r>
              <a:rPr lang="de-DE" dirty="0">
                <a:solidFill>
                  <a:schemeClr val="tx2"/>
                </a:solidFill>
              </a:rPr>
              <a:t> and marginal </a:t>
            </a:r>
            <a:r>
              <a:rPr lang="de-DE" dirty="0" err="1">
                <a:solidFill>
                  <a:schemeClr val="tx2"/>
                </a:solidFill>
              </a:rPr>
              <a:t>reliability</a:t>
            </a:r>
            <a:r>
              <a:rPr lang="de-DE" dirty="0">
                <a:solidFill>
                  <a:schemeClr val="tx2"/>
                </a:solidFill>
              </a:rPr>
              <a:t> </a:t>
            </a:r>
            <a:r>
              <a:rPr lang="de-DE" dirty="0" err="1">
                <a:solidFill>
                  <a:schemeClr val="tx2"/>
                </a:solidFill>
              </a:rPr>
              <a:t>estimation</a:t>
            </a:r>
            <a:r>
              <a:rPr lang="de-DE" dirty="0">
                <a:solidFill>
                  <a:schemeClr val="tx2"/>
                </a:solidFill>
              </a:rPr>
              <a:t>.</a:t>
            </a:r>
          </a:p>
          <a:p>
            <a:pPr marL="742950" lvl="1" indent="-285750">
              <a:spcAft>
                <a:spcPts val="600"/>
              </a:spcAft>
              <a:buFont typeface="Arial" panose="020B0604020202020204" pitchFamily="34" charset="0"/>
              <a:buChar char="•"/>
            </a:pPr>
            <a:r>
              <a:rPr lang="de-DE" dirty="0">
                <a:solidFill>
                  <a:schemeClr val="tx2"/>
                </a:solidFill>
              </a:rPr>
              <a:t>Item-level </a:t>
            </a:r>
            <a:r>
              <a:rPr lang="de-DE" dirty="0" err="1">
                <a:solidFill>
                  <a:schemeClr val="tx2"/>
                </a:solidFill>
              </a:rPr>
              <a:t>data</a:t>
            </a:r>
            <a:r>
              <a:rPr lang="de-DE" dirty="0">
                <a:solidFill>
                  <a:schemeClr val="tx2"/>
                </a:solidFill>
              </a:rPr>
              <a:t> </a:t>
            </a:r>
            <a:r>
              <a:rPr lang="de-DE" dirty="0" err="1">
                <a:solidFill>
                  <a:schemeClr val="tx2"/>
                </a:solidFill>
              </a:rPr>
              <a:t>must</a:t>
            </a:r>
            <a:r>
              <a:rPr lang="de-DE" dirty="0">
                <a:solidFill>
                  <a:schemeClr val="tx2"/>
                </a:solidFill>
              </a:rPr>
              <a:t> </a:t>
            </a:r>
            <a:r>
              <a:rPr lang="de-DE" dirty="0" err="1">
                <a:solidFill>
                  <a:schemeClr val="tx2"/>
                </a:solidFill>
              </a:rPr>
              <a:t>be</a:t>
            </a:r>
            <a:r>
              <a:rPr lang="de-DE" dirty="0">
                <a:solidFill>
                  <a:schemeClr val="tx2"/>
                </a:solidFill>
              </a:rPr>
              <a:t> </a:t>
            </a:r>
            <a:r>
              <a:rPr lang="de-DE" dirty="0" err="1">
                <a:solidFill>
                  <a:schemeClr val="tx2"/>
                </a:solidFill>
              </a:rPr>
              <a:t>publicly</a:t>
            </a:r>
            <a:r>
              <a:rPr lang="de-DE" dirty="0">
                <a:solidFill>
                  <a:schemeClr val="tx2"/>
                </a:solidFill>
              </a:rPr>
              <a:t> </a:t>
            </a:r>
            <a:r>
              <a:rPr lang="de-DE" dirty="0" err="1">
                <a:solidFill>
                  <a:schemeClr val="tx2"/>
                </a:solidFill>
              </a:rPr>
              <a:t>available</a:t>
            </a:r>
            <a:r>
              <a:rPr lang="de-DE" dirty="0">
                <a:solidFill>
                  <a:schemeClr val="tx2"/>
                </a:solidFill>
              </a:rPr>
              <a:t>.</a:t>
            </a:r>
          </a:p>
          <a:p>
            <a:pPr marL="742950" lvl="1" indent="-285750">
              <a:spcAft>
                <a:spcPts val="600"/>
              </a:spcAft>
              <a:buFont typeface="Arial" panose="020B0604020202020204" pitchFamily="34" charset="0"/>
              <a:buChar char="•"/>
            </a:pPr>
            <a:r>
              <a:rPr lang="en-US" dirty="0">
                <a:solidFill>
                  <a:schemeClr val="tx2"/>
                </a:solidFill>
              </a:rPr>
              <a:t>A comparison single-lab study, either the original or a pre-registered single-site replication, must be available to serve as the reference group for DIF analysis.</a:t>
            </a:r>
            <a:endParaRPr lang="de-DE" dirty="0">
              <a:solidFill>
                <a:schemeClr val="tx2"/>
              </a:solidFill>
            </a:endParaRPr>
          </a:p>
          <a:p>
            <a:pPr marL="285750" indent="-285750">
              <a:spcAft>
                <a:spcPts val="600"/>
              </a:spcAft>
              <a:buFont typeface="Arial" panose="020B0604020202020204" pitchFamily="34" charset="0"/>
              <a:buChar char="•"/>
            </a:pPr>
            <a:r>
              <a:rPr lang="de-DE" dirty="0">
                <a:solidFill>
                  <a:schemeClr val="tx2"/>
                </a:solidFill>
              </a:rPr>
              <a:t>Only </a:t>
            </a:r>
            <a:r>
              <a:rPr lang="de-DE" dirty="0" err="1">
                <a:solidFill>
                  <a:schemeClr val="tx2"/>
                </a:solidFill>
              </a:rPr>
              <a:t>one</a:t>
            </a:r>
            <a:r>
              <a:rPr lang="de-DE" dirty="0">
                <a:solidFill>
                  <a:schemeClr val="tx2"/>
                </a:solidFill>
              </a:rPr>
              <a:t> </a:t>
            </a:r>
            <a:r>
              <a:rPr lang="de-DE" dirty="0" err="1">
                <a:solidFill>
                  <a:schemeClr val="tx2"/>
                </a:solidFill>
              </a:rPr>
              <a:t>effect</a:t>
            </a:r>
            <a:r>
              <a:rPr lang="de-DE" dirty="0">
                <a:solidFill>
                  <a:schemeClr val="tx2"/>
                </a:solidFill>
              </a:rPr>
              <a:t>, </a:t>
            </a:r>
            <a:r>
              <a:rPr lang="de-DE" dirty="0" err="1">
                <a:solidFill>
                  <a:schemeClr val="tx2"/>
                </a:solidFill>
              </a:rPr>
              <a:t>Shnabel</a:t>
            </a:r>
            <a:r>
              <a:rPr lang="de-DE" dirty="0">
                <a:solidFill>
                  <a:schemeClr val="tx2"/>
                </a:solidFill>
              </a:rPr>
              <a:t> &amp; Nadler (2008), Study 4 </a:t>
            </a:r>
            <a:r>
              <a:rPr lang="de-DE" dirty="0" err="1">
                <a:solidFill>
                  <a:schemeClr val="tx2"/>
                </a:solidFill>
              </a:rPr>
              <a:t>fulfilled</a:t>
            </a:r>
            <a:r>
              <a:rPr lang="de-DE" dirty="0">
                <a:solidFill>
                  <a:schemeClr val="tx2"/>
                </a:solidFill>
              </a:rPr>
              <a:t> all </a:t>
            </a:r>
            <a:r>
              <a:rPr lang="de-DE" dirty="0" err="1">
                <a:solidFill>
                  <a:schemeClr val="tx2"/>
                </a:solidFill>
              </a:rPr>
              <a:t>of</a:t>
            </a:r>
            <a:r>
              <a:rPr lang="de-DE" dirty="0">
                <a:solidFill>
                  <a:schemeClr val="tx2"/>
                </a:solidFill>
              </a:rPr>
              <a:t> </a:t>
            </a:r>
            <a:r>
              <a:rPr lang="de-DE" dirty="0" err="1">
                <a:solidFill>
                  <a:schemeClr val="tx2"/>
                </a:solidFill>
              </a:rPr>
              <a:t>these</a:t>
            </a:r>
            <a:r>
              <a:rPr lang="de-DE" dirty="0">
                <a:solidFill>
                  <a:schemeClr val="tx2"/>
                </a:solidFill>
              </a:rPr>
              <a:t> </a:t>
            </a:r>
            <a:r>
              <a:rPr lang="de-DE" dirty="0" err="1">
                <a:solidFill>
                  <a:schemeClr val="tx2"/>
                </a:solidFill>
              </a:rPr>
              <a:t>criteria</a:t>
            </a:r>
            <a:r>
              <a:rPr lang="de-DE" dirty="0">
                <a:solidFill>
                  <a:schemeClr val="tx2"/>
                </a:solidFill>
              </a:rPr>
              <a:t>.</a:t>
            </a:r>
          </a:p>
        </p:txBody>
      </p:sp>
    </p:spTree>
    <p:extLst>
      <p:ext uri="{BB962C8B-B14F-4D97-AF65-F5344CB8AC3E}">
        <p14:creationId xmlns:p14="http://schemas.microsoft.com/office/powerpoint/2010/main" val="201402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9F988-FB65-568A-177B-BA2A7B5BB76C}"/>
            </a:ext>
          </a:extLst>
        </p:cNvPr>
        <p:cNvGrpSpPr/>
        <p:nvPr/>
      </p:nvGrpSpPr>
      <p:grpSpPr>
        <a:xfrm>
          <a:off x="0" y="0"/>
          <a:ext cx="0" cy="0"/>
          <a:chOff x="0" y="0"/>
          <a:chExt cx="0" cy="0"/>
        </a:xfrm>
      </p:grpSpPr>
      <p:sp>
        <p:nvSpPr>
          <p:cNvPr id="7" name="Textplatzhalter 12">
            <a:extLst>
              <a:ext uri="{FF2B5EF4-FFF2-40B4-BE49-F238E27FC236}">
                <a16:creationId xmlns:a16="http://schemas.microsoft.com/office/drawing/2014/main" id="{ED7AB596-C271-1D3A-019B-2FD771CE2B05}"/>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91C208FF-AABC-5955-D4F2-FB4F0D4E17C0}"/>
              </a:ext>
            </a:extLst>
          </p:cNvPr>
          <p:cNvSpPr>
            <a:spLocks noGrp="1"/>
          </p:cNvSpPr>
          <p:nvPr>
            <p:ph type="sldNum" sz="quarter" idx="4"/>
          </p:nvPr>
        </p:nvSpPr>
        <p:spPr/>
        <p:txBody>
          <a:bodyPr/>
          <a:lstStyle/>
          <a:p>
            <a:fld id="{3889EAAA-2A39-E347-B0AA-909793490C00}" type="slidenum">
              <a:rPr lang="de-DE" smtClean="0"/>
              <a:pPr/>
              <a:t>12</a:t>
            </a:fld>
            <a:endParaRPr lang="de-DE" dirty="0"/>
          </a:p>
        </p:txBody>
      </p:sp>
      <p:sp>
        <p:nvSpPr>
          <p:cNvPr id="3" name="Textplatzhalter 2">
            <a:extLst>
              <a:ext uri="{FF2B5EF4-FFF2-40B4-BE49-F238E27FC236}">
                <a16:creationId xmlns:a16="http://schemas.microsoft.com/office/drawing/2014/main" id="{C7552B0F-A0B3-5069-C16D-AD6E8F63E8E5}"/>
              </a:ext>
            </a:extLst>
          </p:cNvPr>
          <p:cNvSpPr>
            <a:spLocks noGrp="1"/>
          </p:cNvSpPr>
          <p:nvPr>
            <p:ph type="body" sz="quarter" idx="12"/>
          </p:nvPr>
        </p:nvSpPr>
        <p:spPr>
          <a:xfrm>
            <a:off x="442800" y="1449239"/>
            <a:ext cx="11306175" cy="543463"/>
          </a:xfrm>
        </p:spPr>
        <p:txBody>
          <a:bodyPr/>
          <a:lstStyle/>
          <a:p>
            <a:pPr>
              <a:lnSpc>
                <a:spcPct val="100000"/>
              </a:lnSpc>
            </a:pPr>
            <a:r>
              <a:rPr lang="en-US" sz="2800" dirty="0"/>
              <a:t>Reanalysis of </a:t>
            </a:r>
            <a:r>
              <a:rPr lang="en-US" sz="2800" dirty="0" err="1"/>
              <a:t>Shnabel</a:t>
            </a:r>
            <a:r>
              <a:rPr lang="en-US" sz="2800" dirty="0"/>
              <a:t> &amp; Nadler (2008), Study 4 data</a:t>
            </a:r>
          </a:p>
        </p:txBody>
      </p:sp>
      <p:sp>
        <p:nvSpPr>
          <p:cNvPr id="2" name="TextBox 1">
            <a:extLst>
              <a:ext uri="{FF2B5EF4-FFF2-40B4-BE49-F238E27FC236}">
                <a16:creationId xmlns:a16="http://schemas.microsoft.com/office/drawing/2014/main" id="{328D37A5-686E-F344-2591-007E634D936F}"/>
              </a:ext>
            </a:extLst>
          </p:cNvPr>
          <p:cNvSpPr txBox="1"/>
          <p:nvPr/>
        </p:nvSpPr>
        <p:spPr>
          <a:xfrm>
            <a:off x="442800" y="2175116"/>
            <a:ext cx="11171005" cy="4385816"/>
          </a:xfrm>
          <a:prstGeom prst="rect">
            <a:avLst/>
          </a:prstGeom>
          <a:noFill/>
        </p:spPr>
        <p:txBody>
          <a:bodyPr wrap="square" rtlCol="0">
            <a:spAutoFit/>
          </a:bodyPr>
          <a:lstStyle/>
          <a:p>
            <a:pPr algn="ctr">
              <a:spcAft>
                <a:spcPts val="600"/>
              </a:spcAft>
            </a:pPr>
            <a:r>
              <a:rPr lang="en-US" b="1" i="1" dirty="0"/>
              <a:t>“</a:t>
            </a:r>
            <a:r>
              <a:rPr lang="en-DE" altLang="en-DE" b="1" i="1" dirty="0">
                <a:latin typeface="Arial" panose="020B0604020202020204" pitchFamily="34" charset="0"/>
              </a:rPr>
              <a:t>Victims are more likely to reconcile if they feel empowered, while perpetrators are more likely to do so if they feel accepted</a:t>
            </a:r>
            <a:r>
              <a:rPr lang="en-US" b="1" i="1" dirty="0"/>
              <a:t>”</a:t>
            </a:r>
          </a:p>
          <a:p>
            <a:pPr marL="285750" indent="-285750">
              <a:spcAft>
                <a:spcPts val="600"/>
              </a:spcAft>
              <a:buFont typeface="Arial" panose="020B0604020202020204" pitchFamily="34" charset="0"/>
              <a:buChar char="•"/>
            </a:pPr>
            <a:endParaRPr lang="de-DE" dirty="0">
              <a:solidFill>
                <a:schemeClr val="tx2"/>
              </a:solidFill>
            </a:endParaRPr>
          </a:p>
          <a:p>
            <a:pPr marL="285750" indent="-285750">
              <a:spcAft>
                <a:spcPts val="600"/>
              </a:spcAft>
              <a:buFont typeface="Arial" panose="020B0604020202020204" pitchFamily="34" charset="0"/>
              <a:buChar char="•"/>
            </a:pPr>
            <a:r>
              <a:rPr lang="en-US" dirty="0">
                <a:solidFill>
                  <a:schemeClr val="tx2"/>
                </a:solidFill>
              </a:rPr>
              <a:t>We decomposed the interaction effect into two contrasts: effects for </a:t>
            </a:r>
            <a:r>
              <a:rPr lang="en-US" b="1" i="1" dirty="0">
                <a:solidFill>
                  <a:schemeClr val="tx2"/>
                </a:solidFill>
              </a:rPr>
              <a:t>victims</a:t>
            </a:r>
            <a:r>
              <a:rPr lang="en-US" dirty="0">
                <a:solidFill>
                  <a:schemeClr val="tx2"/>
                </a:solidFill>
              </a:rPr>
              <a:t> and effects for </a:t>
            </a:r>
            <a:r>
              <a:rPr lang="en-US" b="1" i="1" dirty="0">
                <a:solidFill>
                  <a:schemeClr val="tx2"/>
                </a:solidFill>
              </a:rPr>
              <a:t>perpetrators</a:t>
            </a:r>
            <a:r>
              <a:rPr lang="en-US" dirty="0">
                <a:solidFill>
                  <a:schemeClr val="tx2"/>
                </a:solidFill>
              </a:rPr>
              <a:t>.</a:t>
            </a:r>
          </a:p>
          <a:p>
            <a:pPr marL="285750" indent="-285750">
              <a:spcAft>
                <a:spcPts val="600"/>
              </a:spcAft>
              <a:buFont typeface="Arial" panose="020B0604020202020204" pitchFamily="34" charset="0"/>
              <a:buChar char="•"/>
            </a:pPr>
            <a:r>
              <a:rPr lang="de-DE" dirty="0" err="1">
                <a:solidFill>
                  <a:schemeClr val="tx2"/>
                </a:solidFill>
              </a:rPr>
              <a:t>We</a:t>
            </a:r>
            <a:r>
              <a:rPr lang="de-DE" dirty="0">
                <a:solidFill>
                  <a:schemeClr val="tx2"/>
                </a:solidFill>
              </a:rPr>
              <a:t> </a:t>
            </a:r>
            <a:r>
              <a:rPr lang="de-DE" dirty="0" err="1">
                <a:solidFill>
                  <a:schemeClr val="tx2"/>
                </a:solidFill>
              </a:rPr>
              <a:t>used</a:t>
            </a:r>
            <a:r>
              <a:rPr lang="de-DE" dirty="0">
                <a:solidFill>
                  <a:schemeClr val="tx2"/>
                </a:solidFill>
              </a:rPr>
              <a:t> RP:P </a:t>
            </a:r>
            <a:r>
              <a:rPr lang="de-DE" dirty="0" err="1">
                <a:solidFill>
                  <a:schemeClr val="tx2"/>
                </a:solidFill>
              </a:rPr>
              <a:t>data</a:t>
            </a:r>
            <a:r>
              <a:rPr lang="de-DE" dirty="0">
                <a:solidFill>
                  <a:schemeClr val="tx2"/>
                </a:solidFill>
              </a:rPr>
              <a:t> </a:t>
            </a:r>
            <a:r>
              <a:rPr lang="de-DE" dirty="0" err="1">
                <a:solidFill>
                  <a:schemeClr val="tx2"/>
                </a:solidFill>
              </a:rPr>
              <a:t>as</a:t>
            </a:r>
            <a:r>
              <a:rPr lang="de-DE" dirty="0">
                <a:solidFill>
                  <a:schemeClr val="tx2"/>
                </a:solidFill>
              </a:rPr>
              <a:t> a </a:t>
            </a:r>
            <a:r>
              <a:rPr lang="de-DE" dirty="0" err="1">
                <a:solidFill>
                  <a:schemeClr val="tx2"/>
                </a:solidFill>
              </a:rPr>
              <a:t>reference</a:t>
            </a:r>
            <a:r>
              <a:rPr lang="de-DE" dirty="0">
                <a:solidFill>
                  <a:schemeClr val="tx2"/>
                </a:solidFill>
              </a:rPr>
              <a:t>, and ML5 (</a:t>
            </a:r>
            <a:r>
              <a:rPr lang="de-DE" i="1" dirty="0">
                <a:solidFill>
                  <a:schemeClr val="tx2"/>
                </a:solidFill>
              </a:rPr>
              <a:t>k = </a:t>
            </a:r>
            <a:r>
              <a:rPr lang="de-DE" dirty="0">
                <a:solidFill>
                  <a:schemeClr val="tx2"/>
                </a:solidFill>
              </a:rPr>
              <a:t>8, all US </a:t>
            </a:r>
            <a:r>
              <a:rPr lang="de-DE" dirty="0" err="1">
                <a:solidFill>
                  <a:schemeClr val="tx2"/>
                </a:solidFill>
              </a:rPr>
              <a:t>samples</a:t>
            </a:r>
            <a:r>
              <a:rPr lang="de-DE" dirty="0">
                <a:solidFill>
                  <a:schemeClr val="tx2"/>
                </a:solidFill>
              </a:rPr>
              <a:t>) </a:t>
            </a:r>
            <a:r>
              <a:rPr lang="de-DE" dirty="0" err="1">
                <a:solidFill>
                  <a:schemeClr val="tx2"/>
                </a:solidFill>
              </a:rPr>
              <a:t>as</a:t>
            </a:r>
            <a:r>
              <a:rPr lang="de-DE" dirty="0">
                <a:solidFill>
                  <a:schemeClr val="tx2"/>
                </a:solidFill>
              </a:rPr>
              <a:t> a </a:t>
            </a:r>
            <a:r>
              <a:rPr lang="de-DE" dirty="0" err="1">
                <a:solidFill>
                  <a:schemeClr val="tx2"/>
                </a:solidFill>
              </a:rPr>
              <a:t>test</a:t>
            </a:r>
            <a:r>
              <a:rPr lang="de-DE" dirty="0">
                <a:solidFill>
                  <a:schemeClr val="tx2"/>
                </a:solidFill>
              </a:rPr>
              <a:t> </a:t>
            </a:r>
            <a:r>
              <a:rPr lang="de-DE" dirty="0" err="1">
                <a:solidFill>
                  <a:schemeClr val="tx2"/>
                </a:solidFill>
              </a:rPr>
              <a:t>data</a:t>
            </a:r>
            <a:r>
              <a:rPr lang="de-DE" dirty="0">
                <a:solidFill>
                  <a:schemeClr val="tx2"/>
                </a:solidFill>
              </a:rPr>
              <a:t>.</a:t>
            </a:r>
          </a:p>
          <a:p>
            <a:pPr marL="285750" indent="-285750">
              <a:spcAft>
                <a:spcPts val="600"/>
              </a:spcAft>
              <a:buFont typeface="Arial" panose="020B0604020202020204" pitchFamily="34" charset="0"/>
              <a:buChar char="•"/>
            </a:pPr>
            <a:r>
              <a:rPr lang="de-DE" dirty="0" err="1">
                <a:solidFill>
                  <a:schemeClr val="tx2"/>
                </a:solidFill>
              </a:rPr>
              <a:t>To</a:t>
            </a:r>
            <a:r>
              <a:rPr lang="de-DE" dirty="0">
                <a:solidFill>
                  <a:schemeClr val="tx2"/>
                </a:solidFill>
              </a:rPr>
              <a:t> </a:t>
            </a:r>
            <a:r>
              <a:rPr lang="de-DE" dirty="0" err="1">
                <a:solidFill>
                  <a:schemeClr val="tx2"/>
                </a:solidFill>
              </a:rPr>
              <a:t>estimate</a:t>
            </a:r>
            <a:r>
              <a:rPr lang="de-DE" dirty="0">
                <a:solidFill>
                  <a:schemeClr val="tx2"/>
                </a:solidFill>
              </a:rPr>
              <a:t> </a:t>
            </a:r>
            <a:r>
              <a:rPr lang="de-DE" dirty="0" err="1">
                <a:solidFill>
                  <a:schemeClr val="tx2"/>
                </a:solidFill>
              </a:rPr>
              <a:t>the</a:t>
            </a:r>
            <a:r>
              <a:rPr lang="de-DE" dirty="0">
                <a:solidFill>
                  <a:schemeClr val="tx2"/>
                </a:solidFill>
              </a:rPr>
              <a:t> </a:t>
            </a:r>
            <a:r>
              <a:rPr lang="de-DE" dirty="0" err="1">
                <a:solidFill>
                  <a:schemeClr val="tx2"/>
                </a:solidFill>
              </a:rPr>
              <a:t>heterogeneity</a:t>
            </a:r>
            <a:r>
              <a:rPr lang="de-DE" dirty="0">
                <a:solidFill>
                  <a:schemeClr val="tx2"/>
                </a:solidFill>
              </a:rPr>
              <a:t> </a:t>
            </a:r>
            <a:r>
              <a:rPr lang="de-DE" dirty="0" err="1">
                <a:solidFill>
                  <a:schemeClr val="tx2"/>
                </a:solidFill>
              </a:rPr>
              <a:t>of</a:t>
            </a:r>
            <a:r>
              <a:rPr lang="de-DE" dirty="0">
                <a:solidFill>
                  <a:schemeClr val="tx2"/>
                </a:solidFill>
              </a:rPr>
              <a:t> </a:t>
            </a:r>
            <a:r>
              <a:rPr lang="de-DE" dirty="0" err="1">
                <a:solidFill>
                  <a:schemeClr val="tx2"/>
                </a:solidFill>
              </a:rPr>
              <a:t>victims</a:t>
            </a:r>
            <a:r>
              <a:rPr lang="de-DE" dirty="0">
                <a:solidFill>
                  <a:schemeClr val="tx2"/>
                </a:solidFill>
              </a:rPr>
              <a:t> and </a:t>
            </a:r>
            <a:r>
              <a:rPr lang="de-DE" dirty="0" err="1">
                <a:solidFill>
                  <a:schemeClr val="tx2"/>
                </a:solidFill>
              </a:rPr>
              <a:t>perpetrators</a:t>
            </a:r>
            <a:r>
              <a:rPr lang="de-DE" dirty="0">
                <a:solidFill>
                  <a:schemeClr val="tx2"/>
                </a:solidFill>
              </a:rPr>
              <a:t> </a:t>
            </a:r>
            <a:r>
              <a:rPr lang="de-DE" dirty="0" err="1">
                <a:solidFill>
                  <a:schemeClr val="tx2"/>
                </a:solidFill>
              </a:rPr>
              <a:t>effects</a:t>
            </a:r>
            <a:r>
              <a:rPr lang="de-DE" dirty="0">
                <a:solidFill>
                  <a:schemeClr val="tx2"/>
                </a:solidFill>
              </a:rPr>
              <a:t>, </a:t>
            </a:r>
            <a:r>
              <a:rPr lang="de-DE" dirty="0" err="1">
                <a:solidFill>
                  <a:schemeClr val="tx2"/>
                </a:solidFill>
              </a:rPr>
              <a:t>we</a:t>
            </a:r>
            <a:r>
              <a:rPr lang="de-DE" dirty="0">
                <a:solidFill>
                  <a:schemeClr val="tx2"/>
                </a:solidFill>
              </a:rPr>
              <a:t> </a:t>
            </a:r>
            <a:r>
              <a:rPr lang="de-DE" dirty="0" err="1">
                <a:solidFill>
                  <a:schemeClr val="tx2"/>
                </a:solidFill>
              </a:rPr>
              <a:t>performed</a:t>
            </a:r>
            <a:r>
              <a:rPr lang="de-DE" dirty="0">
                <a:solidFill>
                  <a:schemeClr val="tx2"/>
                </a:solidFill>
              </a:rPr>
              <a:t> meta-</a:t>
            </a:r>
            <a:r>
              <a:rPr lang="de-DE" dirty="0" err="1">
                <a:solidFill>
                  <a:schemeClr val="tx2"/>
                </a:solidFill>
              </a:rPr>
              <a:t>regressions</a:t>
            </a:r>
            <a:r>
              <a:rPr lang="de-DE" dirty="0">
                <a:solidFill>
                  <a:schemeClr val="tx2"/>
                </a:solidFill>
              </a:rPr>
              <a:t>, </a:t>
            </a:r>
            <a:r>
              <a:rPr lang="de-DE" dirty="0" err="1">
                <a:solidFill>
                  <a:schemeClr val="tx2"/>
                </a:solidFill>
              </a:rPr>
              <a:t>where</a:t>
            </a:r>
            <a:r>
              <a:rPr lang="de-DE" dirty="0">
                <a:solidFill>
                  <a:schemeClr val="tx2"/>
                </a:solidFill>
              </a:rPr>
              <a:t>:</a:t>
            </a:r>
          </a:p>
          <a:p>
            <a:pPr marL="742950" lvl="1" indent="-285750">
              <a:spcAft>
                <a:spcPts val="600"/>
              </a:spcAft>
              <a:buFont typeface="Arial" panose="020B0604020202020204" pitchFamily="34" charset="0"/>
              <a:buChar char="•"/>
            </a:pPr>
            <a:r>
              <a:rPr lang="de-DE" i="1" dirty="0">
                <a:solidFill>
                  <a:schemeClr val="tx2"/>
                </a:solidFill>
              </a:rPr>
              <a:t>b = </a:t>
            </a:r>
            <a:r>
              <a:rPr lang="de-DE" dirty="0">
                <a:solidFill>
                  <a:schemeClr val="tx2"/>
                </a:solidFill>
              </a:rPr>
              <a:t>absolute </a:t>
            </a:r>
            <a:r>
              <a:rPr lang="de-DE" dirty="0" err="1">
                <a:solidFill>
                  <a:schemeClr val="tx2"/>
                </a:solidFill>
              </a:rPr>
              <a:t>differences</a:t>
            </a:r>
            <a:r>
              <a:rPr lang="de-DE" dirty="0">
                <a:solidFill>
                  <a:schemeClr val="tx2"/>
                </a:solidFill>
              </a:rPr>
              <a:t> </a:t>
            </a:r>
            <a:r>
              <a:rPr lang="de-DE" dirty="0" err="1">
                <a:solidFill>
                  <a:schemeClr val="tx2"/>
                </a:solidFill>
              </a:rPr>
              <a:t>of</a:t>
            </a:r>
            <a:r>
              <a:rPr lang="de-DE" dirty="0">
                <a:solidFill>
                  <a:schemeClr val="tx2"/>
                </a:solidFill>
              </a:rPr>
              <a:t> </a:t>
            </a:r>
            <a:r>
              <a:rPr lang="de-DE" dirty="0" err="1">
                <a:solidFill>
                  <a:schemeClr val="tx2"/>
                </a:solidFill>
              </a:rPr>
              <a:t>manipulation</a:t>
            </a:r>
            <a:r>
              <a:rPr lang="de-DE" dirty="0">
                <a:solidFill>
                  <a:schemeClr val="tx2"/>
                </a:solidFill>
              </a:rPr>
              <a:t> </a:t>
            </a:r>
            <a:r>
              <a:rPr lang="de-DE" dirty="0" err="1">
                <a:solidFill>
                  <a:schemeClr val="tx2"/>
                </a:solidFill>
              </a:rPr>
              <a:t>effectiveness</a:t>
            </a:r>
            <a:r>
              <a:rPr lang="de-DE" dirty="0">
                <a:solidFill>
                  <a:schemeClr val="tx2"/>
                </a:solidFill>
              </a:rPr>
              <a:t> (</a:t>
            </a:r>
            <a:r>
              <a:rPr lang="de-DE" i="1" dirty="0">
                <a:solidFill>
                  <a:schemeClr val="tx2"/>
                </a:solidFill>
              </a:rPr>
              <a:t>b</a:t>
            </a:r>
            <a:r>
              <a:rPr lang="de-DE" dirty="0">
                <a:solidFill>
                  <a:schemeClr val="tx2"/>
                </a:solidFill>
              </a:rPr>
              <a:t>1: </a:t>
            </a:r>
            <a:r>
              <a:rPr lang="de-DE" dirty="0" err="1">
                <a:solidFill>
                  <a:schemeClr val="tx2"/>
                </a:solidFill>
              </a:rPr>
              <a:t>role</a:t>
            </a:r>
            <a:r>
              <a:rPr lang="de-DE" dirty="0">
                <a:solidFill>
                  <a:schemeClr val="tx2"/>
                </a:solidFill>
              </a:rPr>
              <a:t>, </a:t>
            </a:r>
            <a:r>
              <a:rPr lang="de-DE" i="1" dirty="0">
                <a:solidFill>
                  <a:schemeClr val="tx2"/>
                </a:solidFill>
              </a:rPr>
              <a:t>b</a:t>
            </a:r>
            <a:r>
              <a:rPr lang="de-DE" dirty="0">
                <a:solidFill>
                  <a:schemeClr val="tx2"/>
                </a:solidFill>
              </a:rPr>
              <a:t>2: </a:t>
            </a:r>
            <a:r>
              <a:rPr lang="de-DE" dirty="0" err="1">
                <a:solidFill>
                  <a:schemeClr val="tx2"/>
                </a:solidFill>
              </a:rPr>
              <a:t>message</a:t>
            </a:r>
            <a:r>
              <a:rPr lang="de-DE" dirty="0">
                <a:solidFill>
                  <a:schemeClr val="tx2"/>
                </a:solidFill>
              </a:rPr>
              <a:t>)</a:t>
            </a:r>
          </a:p>
          <a:p>
            <a:pPr marL="742950" lvl="1" indent="-285750">
              <a:spcAft>
                <a:spcPts val="600"/>
              </a:spcAft>
              <a:buFont typeface="Arial" panose="020B0604020202020204" pitchFamily="34" charset="0"/>
              <a:buChar char="•"/>
            </a:pPr>
            <a:r>
              <a:rPr lang="de-DE" i="1" dirty="0">
                <a:solidFill>
                  <a:schemeClr val="tx2"/>
                </a:solidFill>
              </a:rPr>
              <a:t>c = </a:t>
            </a:r>
            <a:r>
              <a:rPr lang="de-DE" dirty="0" err="1">
                <a:solidFill>
                  <a:schemeClr val="tx2"/>
                </a:solidFill>
              </a:rPr>
              <a:t>protocol</a:t>
            </a:r>
            <a:r>
              <a:rPr lang="de-DE" dirty="0">
                <a:solidFill>
                  <a:schemeClr val="tx2"/>
                </a:solidFill>
              </a:rPr>
              <a:t> type (ML5 </a:t>
            </a:r>
            <a:r>
              <a:rPr lang="de-DE" dirty="0" err="1">
                <a:solidFill>
                  <a:schemeClr val="tx2"/>
                </a:solidFill>
              </a:rPr>
              <a:t>participants</a:t>
            </a:r>
            <a:r>
              <a:rPr lang="de-DE" dirty="0">
                <a:solidFill>
                  <a:schemeClr val="tx2"/>
                </a:solidFill>
              </a:rPr>
              <a:t> </a:t>
            </a:r>
            <a:r>
              <a:rPr lang="de-DE" dirty="0" err="1">
                <a:solidFill>
                  <a:schemeClr val="tx2"/>
                </a:solidFill>
              </a:rPr>
              <a:t>were</a:t>
            </a:r>
            <a:r>
              <a:rPr lang="de-DE" dirty="0">
                <a:solidFill>
                  <a:schemeClr val="tx2"/>
                </a:solidFill>
              </a:rPr>
              <a:t> </a:t>
            </a:r>
            <a:r>
              <a:rPr lang="de-DE" dirty="0" err="1">
                <a:solidFill>
                  <a:schemeClr val="tx2"/>
                </a:solidFill>
              </a:rPr>
              <a:t>randomly</a:t>
            </a:r>
            <a:r>
              <a:rPr lang="de-DE" dirty="0">
                <a:solidFill>
                  <a:schemeClr val="tx2"/>
                </a:solidFill>
              </a:rPr>
              <a:t> </a:t>
            </a:r>
            <a:r>
              <a:rPr lang="de-DE" dirty="0" err="1">
                <a:solidFill>
                  <a:schemeClr val="tx2"/>
                </a:solidFill>
              </a:rPr>
              <a:t>assigned</a:t>
            </a:r>
            <a:r>
              <a:rPr lang="de-DE" dirty="0">
                <a:solidFill>
                  <a:schemeClr val="tx2"/>
                </a:solidFill>
              </a:rPr>
              <a:t> </a:t>
            </a:r>
            <a:r>
              <a:rPr lang="de-DE" dirty="0" err="1">
                <a:solidFill>
                  <a:schemeClr val="tx2"/>
                </a:solidFill>
              </a:rPr>
              <a:t>to</a:t>
            </a:r>
            <a:r>
              <a:rPr lang="de-DE" dirty="0">
                <a:solidFill>
                  <a:schemeClr val="tx2"/>
                </a:solidFill>
              </a:rPr>
              <a:t> </a:t>
            </a:r>
            <a:r>
              <a:rPr lang="de-DE" dirty="0" err="1">
                <a:solidFill>
                  <a:schemeClr val="tx2"/>
                </a:solidFill>
              </a:rPr>
              <a:t>either</a:t>
            </a:r>
            <a:r>
              <a:rPr lang="de-DE" dirty="0">
                <a:solidFill>
                  <a:schemeClr val="tx2"/>
                </a:solidFill>
              </a:rPr>
              <a:t> </a:t>
            </a:r>
            <a:r>
              <a:rPr lang="de-DE" dirty="0" err="1">
                <a:solidFill>
                  <a:schemeClr val="tx2"/>
                </a:solidFill>
              </a:rPr>
              <a:t>the</a:t>
            </a:r>
            <a:r>
              <a:rPr lang="de-DE" dirty="0">
                <a:solidFill>
                  <a:schemeClr val="tx2"/>
                </a:solidFill>
              </a:rPr>
              <a:t> same </a:t>
            </a:r>
            <a:r>
              <a:rPr lang="de-DE" dirty="0" err="1">
                <a:solidFill>
                  <a:schemeClr val="tx2"/>
                </a:solidFill>
              </a:rPr>
              <a:t>vignette</a:t>
            </a:r>
            <a:r>
              <a:rPr lang="de-DE" dirty="0">
                <a:solidFill>
                  <a:schemeClr val="tx2"/>
                </a:solidFill>
              </a:rPr>
              <a:t> </a:t>
            </a:r>
            <a:r>
              <a:rPr lang="de-DE" dirty="0" err="1">
                <a:solidFill>
                  <a:schemeClr val="tx2"/>
                </a:solidFill>
              </a:rPr>
              <a:t>used</a:t>
            </a:r>
            <a:r>
              <a:rPr lang="de-DE" dirty="0">
                <a:solidFill>
                  <a:schemeClr val="tx2"/>
                </a:solidFill>
              </a:rPr>
              <a:t> in </a:t>
            </a:r>
            <a:r>
              <a:rPr lang="de-DE" dirty="0" err="1">
                <a:solidFill>
                  <a:schemeClr val="tx2"/>
                </a:solidFill>
              </a:rPr>
              <a:t>the</a:t>
            </a:r>
            <a:r>
              <a:rPr lang="de-DE" dirty="0">
                <a:solidFill>
                  <a:schemeClr val="tx2"/>
                </a:solidFill>
              </a:rPr>
              <a:t> original </a:t>
            </a:r>
            <a:r>
              <a:rPr lang="de-DE" dirty="0" err="1">
                <a:solidFill>
                  <a:schemeClr val="tx2"/>
                </a:solidFill>
              </a:rPr>
              <a:t>study</a:t>
            </a:r>
            <a:r>
              <a:rPr lang="de-DE" dirty="0">
                <a:solidFill>
                  <a:schemeClr val="tx2"/>
                </a:solidFill>
              </a:rPr>
              <a:t> and RP:P, i.e., </a:t>
            </a:r>
            <a:r>
              <a:rPr lang="de-DE" dirty="0" err="1">
                <a:solidFill>
                  <a:schemeClr val="tx2"/>
                </a:solidFill>
              </a:rPr>
              <a:t>the</a:t>
            </a:r>
            <a:r>
              <a:rPr lang="de-DE" dirty="0">
                <a:solidFill>
                  <a:schemeClr val="tx2"/>
                </a:solidFill>
              </a:rPr>
              <a:t> „original“ </a:t>
            </a:r>
            <a:r>
              <a:rPr lang="de-DE" dirty="0" err="1">
                <a:solidFill>
                  <a:schemeClr val="tx2"/>
                </a:solidFill>
              </a:rPr>
              <a:t>protocol</a:t>
            </a:r>
            <a:r>
              <a:rPr lang="de-DE" dirty="0">
                <a:solidFill>
                  <a:schemeClr val="tx2"/>
                </a:solidFill>
              </a:rPr>
              <a:t>, </a:t>
            </a:r>
            <a:r>
              <a:rPr lang="de-DE" b="1" i="1" dirty="0" err="1">
                <a:solidFill>
                  <a:srgbClr val="FF0000"/>
                </a:solidFill>
              </a:rPr>
              <a:t>or</a:t>
            </a:r>
            <a:r>
              <a:rPr lang="de-DE" dirty="0">
                <a:solidFill>
                  <a:schemeClr val="tx2"/>
                </a:solidFill>
              </a:rPr>
              <a:t> </a:t>
            </a:r>
            <a:r>
              <a:rPr lang="de-DE" dirty="0" err="1">
                <a:solidFill>
                  <a:schemeClr val="tx2"/>
                </a:solidFill>
              </a:rPr>
              <a:t>the</a:t>
            </a:r>
            <a:r>
              <a:rPr lang="de-DE" dirty="0">
                <a:solidFill>
                  <a:schemeClr val="tx2"/>
                </a:solidFill>
              </a:rPr>
              <a:t> „</a:t>
            </a:r>
            <a:r>
              <a:rPr lang="de-DE" i="1" dirty="0" err="1">
                <a:solidFill>
                  <a:schemeClr val="tx2"/>
                </a:solidFill>
              </a:rPr>
              <a:t>modified</a:t>
            </a:r>
            <a:r>
              <a:rPr lang="de-DE" dirty="0">
                <a:solidFill>
                  <a:schemeClr val="tx2"/>
                </a:solidFill>
              </a:rPr>
              <a:t>“ </a:t>
            </a:r>
            <a:r>
              <a:rPr lang="de-DE" dirty="0" err="1">
                <a:solidFill>
                  <a:schemeClr val="tx2"/>
                </a:solidFill>
              </a:rPr>
              <a:t>vignette</a:t>
            </a:r>
            <a:r>
              <a:rPr lang="de-DE" dirty="0">
                <a:solidFill>
                  <a:schemeClr val="tx2"/>
                </a:solidFill>
              </a:rPr>
              <a:t>)</a:t>
            </a:r>
          </a:p>
          <a:p>
            <a:pPr marL="742950" lvl="1" indent="-285750">
              <a:spcAft>
                <a:spcPts val="600"/>
              </a:spcAft>
              <a:buFont typeface="Arial" panose="020B0604020202020204" pitchFamily="34" charset="0"/>
              <a:buChar char="•"/>
            </a:pPr>
            <a:r>
              <a:rPr lang="de-DE" i="1" dirty="0">
                <a:solidFill>
                  <a:schemeClr val="tx2"/>
                </a:solidFill>
              </a:rPr>
              <a:t>d </a:t>
            </a:r>
            <a:r>
              <a:rPr lang="de-DE" dirty="0">
                <a:solidFill>
                  <a:schemeClr val="tx2"/>
                </a:solidFill>
              </a:rPr>
              <a:t>= </a:t>
            </a:r>
            <a:r>
              <a:rPr lang="de-DE" dirty="0" err="1">
                <a:solidFill>
                  <a:schemeClr val="tx2"/>
                </a:solidFill>
              </a:rPr>
              <a:t>expected</a:t>
            </a:r>
            <a:r>
              <a:rPr lang="de-DE" dirty="0">
                <a:solidFill>
                  <a:schemeClr val="tx2"/>
                </a:solidFill>
              </a:rPr>
              <a:t> </a:t>
            </a:r>
            <a:r>
              <a:rPr lang="de-DE" dirty="0" err="1">
                <a:solidFill>
                  <a:schemeClr val="tx2"/>
                </a:solidFill>
              </a:rPr>
              <a:t>test</a:t>
            </a:r>
            <a:r>
              <a:rPr lang="de-DE" dirty="0">
                <a:solidFill>
                  <a:schemeClr val="tx2"/>
                </a:solidFill>
              </a:rPr>
              <a:t> score </a:t>
            </a:r>
            <a:r>
              <a:rPr lang="de-DE" dirty="0" err="1">
                <a:solidFill>
                  <a:schemeClr val="tx2"/>
                </a:solidFill>
              </a:rPr>
              <a:t>standardized</a:t>
            </a:r>
            <a:r>
              <a:rPr lang="de-DE" dirty="0">
                <a:solidFill>
                  <a:schemeClr val="tx2"/>
                </a:solidFill>
              </a:rPr>
              <a:t> </a:t>
            </a:r>
            <a:r>
              <a:rPr lang="de-DE" dirty="0" err="1">
                <a:solidFill>
                  <a:schemeClr val="tx2"/>
                </a:solidFill>
              </a:rPr>
              <a:t>differences</a:t>
            </a:r>
            <a:r>
              <a:rPr lang="de-DE" dirty="0">
                <a:solidFill>
                  <a:schemeClr val="tx2"/>
                </a:solidFill>
              </a:rPr>
              <a:t> (ETSSD, Meade &amp; Wright, 2012)</a:t>
            </a:r>
          </a:p>
          <a:p>
            <a:pPr marL="742950" lvl="1" indent="-285750">
              <a:spcAft>
                <a:spcPts val="600"/>
              </a:spcAft>
              <a:buFont typeface="Arial" panose="020B0604020202020204" pitchFamily="34" charset="0"/>
              <a:buChar char="•"/>
            </a:pPr>
            <a:r>
              <a:rPr lang="de-DE" i="1" dirty="0">
                <a:solidFill>
                  <a:schemeClr val="tx2"/>
                </a:solidFill>
              </a:rPr>
              <a:t>e</a:t>
            </a:r>
            <a:r>
              <a:rPr lang="de-DE" dirty="0">
                <a:solidFill>
                  <a:schemeClr val="tx2"/>
                </a:solidFill>
              </a:rPr>
              <a:t> = absolute </a:t>
            </a:r>
            <a:r>
              <a:rPr lang="de-DE" dirty="0" err="1">
                <a:solidFill>
                  <a:schemeClr val="tx2"/>
                </a:solidFill>
              </a:rPr>
              <a:t>differences</a:t>
            </a:r>
            <a:r>
              <a:rPr lang="de-DE" dirty="0">
                <a:solidFill>
                  <a:schemeClr val="tx2"/>
                </a:solidFill>
              </a:rPr>
              <a:t> </a:t>
            </a:r>
            <a:r>
              <a:rPr lang="de-DE" dirty="0" err="1">
                <a:solidFill>
                  <a:schemeClr val="tx2"/>
                </a:solidFill>
              </a:rPr>
              <a:t>of</a:t>
            </a:r>
            <a:r>
              <a:rPr lang="de-DE" dirty="0">
                <a:solidFill>
                  <a:schemeClr val="tx2"/>
                </a:solidFill>
              </a:rPr>
              <a:t> marginal </a:t>
            </a:r>
            <a:r>
              <a:rPr lang="de-DE" dirty="0" err="1">
                <a:solidFill>
                  <a:schemeClr val="tx2"/>
                </a:solidFill>
              </a:rPr>
              <a:t>reliability</a:t>
            </a:r>
            <a:r>
              <a:rPr lang="de-DE" dirty="0">
                <a:solidFill>
                  <a:schemeClr val="tx2"/>
                </a:solidFill>
              </a:rPr>
              <a:t> (</a:t>
            </a:r>
            <a:r>
              <a:rPr lang="de-DE" i="1" dirty="0">
                <a:solidFill>
                  <a:schemeClr val="tx2"/>
                </a:solidFill>
              </a:rPr>
              <a:t>ρ</a:t>
            </a:r>
            <a:r>
              <a:rPr lang="de-DE" dirty="0">
                <a:solidFill>
                  <a:schemeClr val="tx2"/>
                </a:solidFill>
              </a:rPr>
              <a:t>)</a:t>
            </a:r>
          </a:p>
          <a:p>
            <a:pPr marL="285750" indent="-285750">
              <a:spcAft>
                <a:spcPts val="600"/>
              </a:spcAft>
              <a:buFont typeface="Arial" panose="020B0604020202020204" pitchFamily="34" charset="0"/>
              <a:buChar char="•"/>
            </a:pPr>
            <a:r>
              <a:rPr lang="de-DE" dirty="0">
                <a:solidFill>
                  <a:schemeClr val="tx2"/>
                </a:solidFill>
              </a:rPr>
              <a:t>ML5 </a:t>
            </a:r>
            <a:r>
              <a:rPr lang="de-DE" dirty="0" err="1">
                <a:solidFill>
                  <a:schemeClr val="tx2"/>
                </a:solidFill>
              </a:rPr>
              <a:t>findings</a:t>
            </a:r>
            <a:r>
              <a:rPr lang="de-DE" dirty="0">
                <a:solidFill>
                  <a:schemeClr val="tx2"/>
                </a:solidFill>
              </a:rPr>
              <a:t>: </a:t>
            </a:r>
            <a:r>
              <a:rPr lang="de-DE" dirty="0" err="1">
                <a:solidFill>
                  <a:schemeClr val="tx2"/>
                </a:solidFill>
              </a:rPr>
              <a:t>focal</a:t>
            </a:r>
            <a:r>
              <a:rPr lang="de-DE" dirty="0">
                <a:solidFill>
                  <a:schemeClr val="tx2"/>
                </a:solidFill>
              </a:rPr>
              <a:t> </a:t>
            </a:r>
            <a:r>
              <a:rPr lang="de-DE" dirty="0" err="1">
                <a:solidFill>
                  <a:schemeClr val="tx2"/>
                </a:solidFill>
              </a:rPr>
              <a:t>interaction</a:t>
            </a:r>
            <a:r>
              <a:rPr lang="de-DE" dirty="0">
                <a:solidFill>
                  <a:schemeClr val="tx2"/>
                </a:solidFill>
              </a:rPr>
              <a:t> </a:t>
            </a:r>
            <a:r>
              <a:rPr lang="de-DE" dirty="0" err="1">
                <a:solidFill>
                  <a:schemeClr val="tx2"/>
                </a:solidFill>
              </a:rPr>
              <a:t>effect</a:t>
            </a:r>
            <a:r>
              <a:rPr lang="de-DE" dirty="0">
                <a:solidFill>
                  <a:schemeClr val="tx2"/>
                </a:solidFill>
              </a:rPr>
              <a:t> </a:t>
            </a:r>
            <a:r>
              <a:rPr lang="de-DE" b="1" dirty="0">
                <a:solidFill>
                  <a:schemeClr val="tx2"/>
                </a:solidFill>
              </a:rPr>
              <a:t>was </a:t>
            </a:r>
            <a:r>
              <a:rPr lang="de-DE" b="1" dirty="0" err="1">
                <a:solidFill>
                  <a:schemeClr val="tx2"/>
                </a:solidFill>
              </a:rPr>
              <a:t>significant</a:t>
            </a:r>
            <a:r>
              <a:rPr lang="de-DE" dirty="0">
                <a:solidFill>
                  <a:schemeClr val="tx2"/>
                </a:solidFill>
              </a:rPr>
              <a:t> </a:t>
            </a:r>
            <a:r>
              <a:rPr lang="de-DE" dirty="0" err="1">
                <a:solidFill>
                  <a:schemeClr val="tx2"/>
                </a:solidFill>
              </a:rPr>
              <a:t>only</a:t>
            </a:r>
            <a:r>
              <a:rPr lang="de-DE" dirty="0">
                <a:solidFill>
                  <a:schemeClr val="tx2"/>
                </a:solidFill>
              </a:rPr>
              <a:t> </a:t>
            </a:r>
            <a:r>
              <a:rPr lang="de-DE" dirty="0" err="1">
                <a:solidFill>
                  <a:schemeClr val="tx2"/>
                </a:solidFill>
              </a:rPr>
              <a:t>among</a:t>
            </a:r>
            <a:r>
              <a:rPr lang="de-DE" dirty="0">
                <a:solidFill>
                  <a:schemeClr val="tx2"/>
                </a:solidFill>
              </a:rPr>
              <a:t> </a:t>
            </a:r>
            <a:r>
              <a:rPr lang="de-DE" dirty="0" err="1">
                <a:solidFill>
                  <a:schemeClr val="tx2"/>
                </a:solidFill>
              </a:rPr>
              <a:t>participants</a:t>
            </a:r>
            <a:r>
              <a:rPr lang="de-DE" dirty="0">
                <a:solidFill>
                  <a:schemeClr val="tx2"/>
                </a:solidFill>
              </a:rPr>
              <a:t> </a:t>
            </a:r>
            <a:r>
              <a:rPr lang="de-DE" dirty="0" err="1">
                <a:solidFill>
                  <a:schemeClr val="tx2"/>
                </a:solidFill>
              </a:rPr>
              <a:t>who</a:t>
            </a:r>
            <a:r>
              <a:rPr lang="de-DE" dirty="0">
                <a:solidFill>
                  <a:schemeClr val="tx2"/>
                </a:solidFill>
              </a:rPr>
              <a:t> </a:t>
            </a:r>
            <a:r>
              <a:rPr lang="de-DE" dirty="0" err="1">
                <a:solidFill>
                  <a:schemeClr val="tx2"/>
                </a:solidFill>
              </a:rPr>
              <a:t>were</a:t>
            </a:r>
            <a:r>
              <a:rPr lang="de-DE" dirty="0">
                <a:solidFill>
                  <a:schemeClr val="tx2"/>
                </a:solidFill>
              </a:rPr>
              <a:t> </a:t>
            </a:r>
            <a:r>
              <a:rPr lang="de-DE" dirty="0" err="1">
                <a:solidFill>
                  <a:schemeClr val="tx2"/>
                </a:solidFill>
              </a:rPr>
              <a:t>given</a:t>
            </a:r>
            <a:r>
              <a:rPr lang="de-DE" dirty="0">
                <a:solidFill>
                  <a:schemeClr val="tx2"/>
                </a:solidFill>
              </a:rPr>
              <a:t> </a:t>
            </a:r>
            <a:r>
              <a:rPr lang="de-DE" dirty="0" err="1">
                <a:solidFill>
                  <a:schemeClr val="tx2"/>
                </a:solidFill>
              </a:rPr>
              <a:t>the</a:t>
            </a:r>
            <a:r>
              <a:rPr lang="de-DE" dirty="0">
                <a:solidFill>
                  <a:schemeClr val="tx2"/>
                </a:solidFill>
              </a:rPr>
              <a:t> </a:t>
            </a:r>
            <a:r>
              <a:rPr lang="de-DE" b="1" i="1" dirty="0" err="1">
                <a:solidFill>
                  <a:schemeClr val="tx2"/>
                </a:solidFill>
              </a:rPr>
              <a:t>modified</a:t>
            </a:r>
            <a:r>
              <a:rPr lang="de-DE" b="1" i="1" dirty="0">
                <a:solidFill>
                  <a:schemeClr val="tx2"/>
                </a:solidFill>
              </a:rPr>
              <a:t> </a:t>
            </a:r>
            <a:r>
              <a:rPr lang="de-DE" b="1" dirty="0" err="1">
                <a:solidFill>
                  <a:schemeClr val="tx2"/>
                </a:solidFill>
              </a:rPr>
              <a:t>vignette</a:t>
            </a:r>
            <a:r>
              <a:rPr lang="de-DE" b="1" dirty="0">
                <a:solidFill>
                  <a:schemeClr val="tx2"/>
                </a:solidFill>
              </a:rPr>
              <a:t> </a:t>
            </a:r>
            <a:r>
              <a:rPr lang="de-DE" dirty="0">
                <a:solidFill>
                  <a:schemeClr val="tx2"/>
                </a:solidFill>
              </a:rPr>
              <a:t>(Baranski et al., 2020)</a:t>
            </a:r>
            <a:r>
              <a:rPr lang="de-DE" i="1" dirty="0">
                <a:solidFill>
                  <a:schemeClr val="tx2"/>
                </a:solidFill>
              </a:rPr>
              <a:t>.</a:t>
            </a:r>
            <a:endParaRPr lang="de-DE" dirty="0">
              <a:solidFill>
                <a:schemeClr val="tx2"/>
              </a:solidFill>
            </a:endParaRPr>
          </a:p>
        </p:txBody>
      </p:sp>
    </p:spTree>
    <p:extLst>
      <p:ext uri="{BB962C8B-B14F-4D97-AF65-F5344CB8AC3E}">
        <p14:creationId xmlns:p14="http://schemas.microsoft.com/office/powerpoint/2010/main" val="325508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E53E3-FEBD-79DC-FE45-3692F9A61966}"/>
            </a:ext>
          </a:extLst>
        </p:cNvPr>
        <p:cNvGrpSpPr/>
        <p:nvPr/>
      </p:nvGrpSpPr>
      <p:grpSpPr>
        <a:xfrm>
          <a:off x="0" y="0"/>
          <a:ext cx="0" cy="0"/>
          <a:chOff x="0" y="0"/>
          <a:chExt cx="0" cy="0"/>
        </a:xfrm>
      </p:grpSpPr>
      <p:sp>
        <p:nvSpPr>
          <p:cNvPr id="7" name="Textplatzhalter 12">
            <a:extLst>
              <a:ext uri="{FF2B5EF4-FFF2-40B4-BE49-F238E27FC236}">
                <a16:creationId xmlns:a16="http://schemas.microsoft.com/office/drawing/2014/main" id="{93357CCE-0562-6365-29E3-7019AD4523DA}"/>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C479316A-60C5-E700-FBE4-0F462E8D1A33}"/>
              </a:ext>
            </a:extLst>
          </p:cNvPr>
          <p:cNvSpPr>
            <a:spLocks noGrp="1"/>
          </p:cNvSpPr>
          <p:nvPr>
            <p:ph type="sldNum" sz="quarter" idx="4"/>
          </p:nvPr>
        </p:nvSpPr>
        <p:spPr/>
        <p:txBody>
          <a:bodyPr/>
          <a:lstStyle/>
          <a:p>
            <a:fld id="{3889EAAA-2A39-E347-B0AA-909793490C00}" type="slidenum">
              <a:rPr lang="de-DE" smtClean="0"/>
              <a:pPr/>
              <a:t>13</a:t>
            </a:fld>
            <a:endParaRPr lang="de-DE" dirty="0"/>
          </a:p>
        </p:txBody>
      </p:sp>
      <p:sp>
        <p:nvSpPr>
          <p:cNvPr id="3" name="Textplatzhalter 2">
            <a:extLst>
              <a:ext uri="{FF2B5EF4-FFF2-40B4-BE49-F238E27FC236}">
                <a16:creationId xmlns:a16="http://schemas.microsoft.com/office/drawing/2014/main" id="{F6796250-9D8B-AF75-14C6-4DBF7EA3E5BC}"/>
              </a:ext>
            </a:extLst>
          </p:cNvPr>
          <p:cNvSpPr>
            <a:spLocks noGrp="1"/>
          </p:cNvSpPr>
          <p:nvPr>
            <p:ph type="body" sz="quarter" idx="12"/>
          </p:nvPr>
        </p:nvSpPr>
        <p:spPr>
          <a:xfrm>
            <a:off x="442800" y="1449239"/>
            <a:ext cx="11306175" cy="543463"/>
          </a:xfrm>
        </p:spPr>
        <p:txBody>
          <a:bodyPr/>
          <a:lstStyle/>
          <a:p>
            <a:pPr>
              <a:lnSpc>
                <a:spcPct val="100000"/>
              </a:lnSpc>
            </a:pPr>
            <a:r>
              <a:rPr lang="en-US" sz="2800" dirty="0"/>
              <a:t>Results: Victims effect</a:t>
            </a:r>
          </a:p>
        </p:txBody>
      </p:sp>
      <p:sp>
        <p:nvSpPr>
          <p:cNvPr id="2" name="TextBox 1">
            <a:extLst>
              <a:ext uri="{FF2B5EF4-FFF2-40B4-BE49-F238E27FC236}">
                <a16:creationId xmlns:a16="http://schemas.microsoft.com/office/drawing/2014/main" id="{A8DE7D75-684B-B05F-1770-F9CC32B7EB15}"/>
              </a:ext>
            </a:extLst>
          </p:cNvPr>
          <p:cNvSpPr txBox="1"/>
          <p:nvPr/>
        </p:nvSpPr>
        <p:spPr>
          <a:xfrm>
            <a:off x="8731138" y="2714269"/>
            <a:ext cx="3184180" cy="2308324"/>
          </a:xfrm>
          <a:prstGeom prst="rect">
            <a:avLst/>
          </a:prstGeom>
          <a:noFill/>
        </p:spPr>
        <p:txBody>
          <a:bodyPr wrap="square" rtlCol="0">
            <a:spAutoFit/>
          </a:bodyPr>
          <a:lstStyle/>
          <a:p>
            <a:r>
              <a:rPr lang="en-US" dirty="0"/>
              <a:t>Heterogeneity was low </a:t>
            </a:r>
          </a:p>
          <a:p>
            <a:r>
              <a:rPr lang="en-US" dirty="0"/>
              <a:t>(τ² = 0.0025, </a:t>
            </a:r>
            <a:r>
              <a:rPr lang="en-US" i="1" dirty="0"/>
              <a:t>I</a:t>
            </a:r>
            <a:r>
              <a:rPr lang="en-US" baseline="30000" dirty="0"/>
              <a:t>2</a:t>
            </a:r>
            <a:r>
              <a:rPr lang="en-US" dirty="0"/>
              <a:t> = 5.15%). </a:t>
            </a:r>
          </a:p>
          <a:p>
            <a:endParaRPr lang="en-US" dirty="0"/>
          </a:p>
          <a:p>
            <a:r>
              <a:rPr lang="en-US" dirty="0"/>
              <a:t>Conceptually-relevant (protocol types) and conceptually-irrelevant context (</a:t>
            </a:r>
            <a:r>
              <a:rPr lang="en-US" i="1" dirty="0"/>
              <a:t>b, d</a:t>
            </a:r>
            <a:r>
              <a:rPr lang="en-US" dirty="0"/>
              <a:t> and </a:t>
            </a:r>
            <a:r>
              <a:rPr lang="en-US" i="1" dirty="0"/>
              <a:t>e</a:t>
            </a:r>
            <a:r>
              <a:rPr lang="en-US" dirty="0"/>
              <a:t>) failed to explain heterogeneity. </a:t>
            </a:r>
          </a:p>
        </p:txBody>
      </p:sp>
      <p:pic>
        <p:nvPicPr>
          <p:cNvPr id="5" name="Content Placeholder 4" descr="A graph of a graph with black and white lines&#10;&#10;AI-generated content may be incorrect.">
            <a:extLst>
              <a:ext uri="{FF2B5EF4-FFF2-40B4-BE49-F238E27FC236}">
                <a16:creationId xmlns:a16="http://schemas.microsoft.com/office/drawing/2014/main" id="{5174760A-0AE9-88A7-54D6-0332EEB740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800" y="1992702"/>
            <a:ext cx="8120340" cy="4553660"/>
          </a:xfrm>
          <a:prstGeom prst="rect">
            <a:avLst/>
          </a:prstGeom>
        </p:spPr>
      </p:pic>
      <p:sp>
        <p:nvSpPr>
          <p:cNvPr id="6" name="TextBox 5">
            <a:extLst>
              <a:ext uri="{FF2B5EF4-FFF2-40B4-BE49-F238E27FC236}">
                <a16:creationId xmlns:a16="http://schemas.microsoft.com/office/drawing/2014/main" id="{394F99BD-DC69-7E2E-0EE1-CC0C67A33E19}"/>
              </a:ext>
            </a:extLst>
          </p:cNvPr>
          <p:cNvSpPr txBox="1"/>
          <p:nvPr/>
        </p:nvSpPr>
        <p:spPr>
          <a:xfrm>
            <a:off x="8731138" y="5263926"/>
            <a:ext cx="2794112" cy="738664"/>
          </a:xfrm>
          <a:prstGeom prst="rect">
            <a:avLst/>
          </a:prstGeom>
          <a:noFill/>
        </p:spPr>
        <p:txBody>
          <a:bodyPr wrap="square" rtlCol="0">
            <a:spAutoFit/>
          </a:bodyPr>
          <a:lstStyle/>
          <a:p>
            <a:r>
              <a:rPr lang="de-DE" sz="1400" dirty="0" err="1">
                <a:solidFill>
                  <a:srgbClr val="FF0000"/>
                </a:solidFill>
              </a:rPr>
              <a:t>Regardless</a:t>
            </a:r>
            <a:r>
              <a:rPr lang="de-DE" sz="1400" dirty="0">
                <a:solidFill>
                  <a:srgbClr val="FF0000"/>
                </a:solidFill>
              </a:rPr>
              <a:t> </a:t>
            </a:r>
            <a:r>
              <a:rPr lang="de-DE" sz="1400" dirty="0" err="1">
                <a:solidFill>
                  <a:srgbClr val="FF0000"/>
                </a:solidFill>
              </a:rPr>
              <a:t>of</a:t>
            </a:r>
            <a:r>
              <a:rPr lang="de-DE" sz="1400" dirty="0">
                <a:solidFill>
                  <a:srgbClr val="FF0000"/>
                </a:solidFill>
              </a:rPr>
              <a:t> </a:t>
            </a:r>
            <a:r>
              <a:rPr lang="de-DE" sz="1400" dirty="0" err="1">
                <a:solidFill>
                  <a:srgbClr val="FF0000"/>
                </a:solidFill>
              </a:rPr>
              <a:t>any</a:t>
            </a:r>
            <a:r>
              <a:rPr lang="de-DE" sz="1400" dirty="0">
                <a:solidFill>
                  <a:srgbClr val="FF0000"/>
                </a:solidFill>
              </a:rPr>
              <a:t> </a:t>
            </a:r>
            <a:r>
              <a:rPr lang="de-DE" sz="1400" dirty="0" err="1">
                <a:solidFill>
                  <a:srgbClr val="FF0000"/>
                </a:solidFill>
              </a:rPr>
              <a:t>contextual</a:t>
            </a:r>
            <a:r>
              <a:rPr lang="de-DE" sz="1400" dirty="0">
                <a:solidFill>
                  <a:srgbClr val="FF0000"/>
                </a:solidFill>
              </a:rPr>
              <a:t> variables, </a:t>
            </a:r>
            <a:r>
              <a:rPr lang="de-DE" sz="1400" dirty="0" err="1">
                <a:solidFill>
                  <a:srgbClr val="FF0000"/>
                </a:solidFill>
              </a:rPr>
              <a:t>we</a:t>
            </a:r>
            <a:r>
              <a:rPr lang="de-DE" sz="1400" dirty="0">
                <a:solidFill>
                  <a:srgbClr val="FF0000"/>
                </a:solidFill>
              </a:rPr>
              <a:t> </a:t>
            </a:r>
            <a:r>
              <a:rPr lang="de-DE" sz="1400" b="1" dirty="0" err="1">
                <a:solidFill>
                  <a:srgbClr val="FF0000"/>
                </a:solidFill>
              </a:rPr>
              <a:t>failed</a:t>
            </a:r>
            <a:r>
              <a:rPr lang="de-DE" sz="1400" b="1" dirty="0">
                <a:solidFill>
                  <a:srgbClr val="FF0000"/>
                </a:solidFill>
              </a:rPr>
              <a:t> </a:t>
            </a:r>
            <a:r>
              <a:rPr lang="de-DE" sz="1400" b="1" dirty="0" err="1">
                <a:solidFill>
                  <a:srgbClr val="FF0000"/>
                </a:solidFill>
              </a:rPr>
              <a:t>to</a:t>
            </a:r>
            <a:r>
              <a:rPr lang="de-DE" sz="1400" b="1" dirty="0">
                <a:solidFill>
                  <a:srgbClr val="FF0000"/>
                </a:solidFill>
              </a:rPr>
              <a:t> </a:t>
            </a:r>
            <a:r>
              <a:rPr lang="de-DE" sz="1400" b="1" dirty="0" err="1">
                <a:solidFill>
                  <a:srgbClr val="FF0000"/>
                </a:solidFill>
              </a:rPr>
              <a:t>detect</a:t>
            </a:r>
            <a:r>
              <a:rPr lang="de-DE" sz="1400" dirty="0">
                <a:solidFill>
                  <a:srgbClr val="FF0000"/>
                </a:solidFill>
              </a:rPr>
              <a:t> </a:t>
            </a:r>
            <a:r>
              <a:rPr lang="de-DE" sz="1400" dirty="0" err="1">
                <a:solidFill>
                  <a:srgbClr val="FF0000"/>
                </a:solidFill>
              </a:rPr>
              <a:t>the</a:t>
            </a:r>
            <a:r>
              <a:rPr lang="de-DE" sz="1400" dirty="0">
                <a:solidFill>
                  <a:srgbClr val="FF0000"/>
                </a:solidFill>
              </a:rPr>
              <a:t> </a:t>
            </a:r>
            <a:r>
              <a:rPr lang="de-DE" sz="1400" dirty="0" err="1">
                <a:solidFill>
                  <a:srgbClr val="FF0000"/>
                </a:solidFill>
              </a:rPr>
              <a:t>victims</a:t>
            </a:r>
            <a:r>
              <a:rPr lang="de-DE" sz="1400" dirty="0">
                <a:solidFill>
                  <a:srgbClr val="FF0000"/>
                </a:solidFill>
              </a:rPr>
              <a:t> </a:t>
            </a:r>
            <a:r>
              <a:rPr lang="de-DE" sz="1400" dirty="0" err="1">
                <a:solidFill>
                  <a:srgbClr val="FF0000"/>
                </a:solidFill>
              </a:rPr>
              <a:t>effect</a:t>
            </a:r>
            <a:r>
              <a:rPr lang="de-DE" sz="1400" dirty="0">
                <a:solidFill>
                  <a:srgbClr val="FF0000"/>
                </a:solidFill>
              </a:rPr>
              <a:t>.</a:t>
            </a:r>
          </a:p>
        </p:txBody>
      </p:sp>
    </p:spTree>
    <p:extLst>
      <p:ext uri="{BB962C8B-B14F-4D97-AF65-F5344CB8AC3E}">
        <p14:creationId xmlns:p14="http://schemas.microsoft.com/office/powerpoint/2010/main" val="290169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7B8F6-5683-E574-BB9D-955819D6A88C}"/>
            </a:ext>
          </a:extLst>
        </p:cNvPr>
        <p:cNvGrpSpPr/>
        <p:nvPr/>
      </p:nvGrpSpPr>
      <p:grpSpPr>
        <a:xfrm>
          <a:off x="0" y="0"/>
          <a:ext cx="0" cy="0"/>
          <a:chOff x="0" y="0"/>
          <a:chExt cx="0" cy="0"/>
        </a:xfrm>
      </p:grpSpPr>
      <p:sp>
        <p:nvSpPr>
          <p:cNvPr id="7" name="Textplatzhalter 12">
            <a:extLst>
              <a:ext uri="{FF2B5EF4-FFF2-40B4-BE49-F238E27FC236}">
                <a16:creationId xmlns:a16="http://schemas.microsoft.com/office/drawing/2014/main" id="{EC0D58CB-9146-45A0-4491-7EB2189DB74C}"/>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835CB141-67BE-16A7-AC1E-635B6B693668}"/>
              </a:ext>
            </a:extLst>
          </p:cNvPr>
          <p:cNvSpPr>
            <a:spLocks noGrp="1"/>
          </p:cNvSpPr>
          <p:nvPr>
            <p:ph type="sldNum" sz="quarter" idx="4"/>
          </p:nvPr>
        </p:nvSpPr>
        <p:spPr/>
        <p:txBody>
          <a:bodyPr/>
          <a:lstStyle/>
          <a:p>
            <a:fld id="{3889EAAA-2A39-E347-B0AA-909793490C00}" type="slidenum">
              <a:rPr lang="de-DE" smtClean="0"/>
              <a:pPr/>
              <a:t>14</a:t>
            </a:fld>
            <a:endParaRPr lang="de-DE" dirty="0"/>
          </a:p>
        </p:txBody>
      </p:sp>
      <p:sp>
        <p:nvSpPr>
          <p:cNvPr id="3" name="Textplatzhalter 2">
            <a:extLst>
              <a:ext uri="{FF2B5EF4-FFF2-40B4-BE49-F238E27FC236}">
                <a16:creationId xmlns:a16="http://schemas.microsoft.com/office/drawing/2014/main" id="{CD946FFA-3DAC-0A5B-8150-DA2F7B5E4880}"/>
              </a:ext>
            </a:extLst>
          </p:cNvPr>
          <p:cNvSpPr>
            <a:spLocks noGrp="1"/>
          </p:cNvSpPr>
          <p:nvPr>
            <p:ph type="body" sz="quarter" idx="12"/>
          </p:nvPr>
        </p:nvSpPr>
        <p:spPr>
          <a:xfrm>
            <a:off x="442800" y="1449239"/>
            <a:ext cx="11306175" cy="543463"/>
          </a:xfrm>
        </p:spPr>
        <p:txBody>
          <a:bodyPr/>
          <a:lstStyle/>
          <a:p>
            <a:pPr>
              <a:lnSpc>
                <a:spcPct val="100000"/>
              </a:lnSpc>
            </a:pPr>
            <a:r>
              <a:rPr lang="en-US" sz="2800" dirty="0"/>
              <a:t>Results: Perpetrators effect</a:t>
            </a:r>
          </a:p>
        </p:txBody>
      </p:sp>
      <p:sp>
        <p:nvSpPr>
          <p:cNvPr id="2" name="TextBox 1">
            <a:extLst>
              <a:ext uri="{FF2B5EF4-FFF2-40B4-BE49-F238E27FC236}">
                <a16:creationId xmlns:a16="http://schemas.microsoft.com/office/drawing/2014/main" id="{202E7CCB-C19E-82F0-0BCA-459DE214F783}"/>
              </a:ext>
            </a:extLst>
          </p:cNvPr>
          <p:cNvSpPr txBox="1"/>
          <p:nvPr/>
        </p:nvSpPr>
        <p:spPr>
          <a:xfrm>
            <a:off x="8111622" y="2159632"/>
            <a:ext cx="3794628" cy="2800767"/>
          </a:xfrm>
          <a:prstGeom prst="rect">
            <a:avLst/>
          </a:prstGeom>
          <a:noFill/>
        </p:spPr>
        <p:txBody>
          <a:bodyPr wrap="square" rtlCol="0">
            <a:spAutoFit/>
          </a:bodyPr>
          <a:lstStyle/>
          <a:p>
            <a:r>
              <a:rPr lang="en-US" sz="1600" dirty="0"/>
              <a:t>Heterogeneity was moderate </a:t>
            </a:r>
          </a:p>
          <a:p>
            <a:r>
              <a:rPr lang="en-US" sz="1600" dirty="0"/>
              <a:t>(τ² = 0.0162, </a:t>
            </a:r>
            <a:r>
              <a:rPr lang="en-US" sz="1600" i="1" dirty="0"/>
              <a:t>I</a:t>
            </a:r>
            <a:r>
              <a:rPr lang="en-US" sz="1600" baseline="30000" dirty="0"/>
              <a:t>2</a:t>
            </a:r>
            <a:r>
              <a:rPr lang="en-US" sz="1600" dirty="0"/>
              <a:t> = 25.67%). </a:t>
            </a:r>
          </a:p>
          <a:p>
            <a:endParaRPr lang="en-US" sz="1600" dirty="0"/>
          </a:p>
          <a:p>
            <a:r>
              <a:rPr lang="en-US" sz="1600" dirty="0"/>
              <a:t>Only </a:t>
            </a:r>
            <a:r>
              <a:rPr lang="en-US" sz="1600" b="1" dirty="0"/>
              <a:t>protocol type</a:t>
            </a:r>
            <a:r>
              <a:rPr lang="en-US" sz="1600" dirty="0"/>
              <a:t> was significant and </a:t>
            </a:r>
            <a:r>
              <a:rPr lang="en-US" sz="1600" b="1" dirty="0"/>
              <a:t>explained the entire heterogeneity</a:t>
            </a:r>
            <a:r>
              <a:rPr lang="en-US" sz="1600" dirty="0"/>
              <a:t> in the model. </a:t>
            </a:r>
          </a:p>
          <a:p>
            <a:endParaRPr lang="en-US" sz="1600" dirty="0"/>
          </a:p>
          <a:p>
            <a:r>
              <a:rPr lang="en-US" sz="1600" dirty="0"/>
              <a:t>ML5 samples that used </a:t>
            </a:r>
            <a:r>
              <a:rPr lang="en-US" sz="1600" b="1" dirty="0">
                <a:solidFill>
                  <a:srgbClr val="FF0000"/>
                </a:solidFill>
              </a:rPr>
              <a:t>“original” protocol</a:t>
            </a:r>
            <a:r>
              <a:rPr lang="en-US" sz="1600" dirty="0"/>
              <a:t> yielded more heterogeneous ES, while the ES from </a:t>
            </a:r>
            <a:r>
              <a:rPr lang="en-US" sz="1600" b="1" dirty="0">
                <a:solidFill>
                  <a:srgbClr val="002060"/>
                </a:solidFill>
              </a:rPr>
              <a:t>“modified” protocol</a:t>
            </a:r>
            <a:r>
              <a:rPr lang="en-US" sz="1600" dirty="0"/>
              <a:t> were consistently positive.</a:t>
            </a:r>
            <a:endParaRPr lang="en-DE" sz="1600" dirty="0"/>
          </a:p>
        </p:txBody>
      </p:sp>
      <p:sp>
        <p:nvSpPr>
          <p:cNvPr id="6" name="TextBox 5">
            <a:extLst>
              <a:ext uri="{FF2B5EF4-FFF2-40B4-BE49-F238E27FC236}">
                <a16:creationId xmlns:a16="http://schemas.microsoft.com/office/drawing/2014/main" id="{952367C9-AB6C-1DC8-E853-1B7A5B7BBA0F}"/>
              </a:ext>
            </a:extLst>
          </p:cNvPr>
          <p:cNvSpPr txBox="1"/>
          <p:nvPr/>
        </p:nvSpPr>
        <p:spPr>
          <a:xfrm>
            <a:off x="8111622" y="5127330"/>
            <a:ext cx="3216117" cy="738664"/>
          </a:xfrm>
          <a:prstGeom prst="rect">
            <a:avLst/>
          </a:prstGeom>
          <a:noFill/>
        </p:spPr>
        <p:txBody>
          <a:bodyPr wrap="square" rtlCol="0">
            <a:spAutoFit/>
          </a:bodyPr>
          <a:lstStyle/>
          <a:p>
            <a:r>
              <a:rPr lang="en-US" sz="1400" dirty="0">
                <a:solidFill>
                  <a:srgbClr val="FF0000"/>
                </a:solidFill>
              </a:rPr>
              <a:t>The perpetrator effect was small and positive </a:t>
            </a:r>
            <a:r>
              <a:rPr lang="en-US" sz="1400" b="1" i="1" dirty="0">
                <a:solidFill>
                  <a:srgbClr val="FF0000"/>
                </a:solidFill>
              </a:rPr>
              <a:t>only</a:t>
            </a:r>
            <a:r>
              <a:rPr lang="en-US" sz="1400" b="1" dirty="0">
                <a:solidFill>
                  <a:srgbClr val="FF0000"/>
                </a:solidFill>
              </a:rPr>
              <a:t> </a:t>
            </a:r>
            <a:r>
              <a:rPr lang="en-US" sz="1400" dirty="0">
                <a:solidFill>
                  <a:srgbClr val="FF0000"/>
                </a:solidFill>
              </a:rPr>
              <a:t>among participants who were given </a:t>
            </a:r>
            <a:r>
              <a:rPr lang="en-US" sz="1400" b="1" i="1" dirty="0">
                <a:solidFill>
                  <a:srgbClr val="FF0000"/>
                </a:solidFill>
              </a:rPr>
              <a:t>the modified protocol</a:t>
            </a:r>
            <a:r>
              <a:rPr lang="en-US" sz="1400" dirty="0">
                <a:solidFill>
                  <a:srgbClr val="FF0000"/>
                </a:solidFill>
              </a:rPr>
              <a:t>.</a:t>
            </a:r>
          </a:p>
        </p:txBody>
      </p:sp>
      <p:pic>
        <p:nvPicPr>
          <p:cNvPr id="11" name="Picture 10">
            <a:extLst>
              <a:ext uri="{FF2B5EF4-FFF2-40B4-BE49-F238E27FC236}">
                <a16:creationId xmlns:a16="http://schemas.microsoft.com/office/drawing/2014/main" id="{0D4462B0-4869-F2EC-EC89-5B2E04821D6F}"/>
              </a:ext>
            </a:extLst>
          </p:cNvPr>
          <p:cNvPicPr>
            <a:picLocks noChangeAspect="1"/>
          </p:cNvPicPr>
          <p:nvPr/>
        </p:nvPicPr>
        <p:blipFill>
          <a:blip r:embed="rId3"/>
          <a:stretch>
            <a:fillRect/>
          </a:stretch>
        </p:blipFill>
        <p:spPr>
          <a:xfrm>
            <a:off x="442800" y="2071130"/>
            <a:ext cx="7424943" cy="4480569"/>
          </a:xfrm>
          <a:prstGeom prst="rect">
            <a:avLst/>
          </a:prstGeom>
        </p:spPr>
      </p:pic>
    </p:spTree>
    <p:extLst>
      <p:ext uri="{BB962C8B-B14F-4D97-AF65-F5344CB8AC3E}">
        <p14:creationId xmlns:p14="http://schemas.microsoft.com/office/powerpoint/2010/main" val="241475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35C9-1A76-E8EE-D122-50A3252AA882}"/>
            </a:ext>
          </a:extLst>
        </p:cNvPr>
        <p:cNvGrpSpPr/>
        <p:nvPr/>
      </p:nvGrpSpPr>
      <p:grpSpPr>
        <a:xfrm>
          <a:off x="0" y="0"/>
          <a:ext cx="0" cy="0"/>
          <a:chOff x="0" y="0"/>
          <a:chExt cx="0" cy="0"/>
        </a:xfrm>
      </p:grpSpPr>
      <p:sp>
        <p:nvSpPr>
          <p:cNvPr id="7" name="Textplatzhalter 12">
            <a:extLst>
              <a:ext uri="{FF2B5EF4-FFF2-40B4-BE49-F238E27FC236}">
                <a16:creationId xmlns:a16="http://schemas.microsoft.com/office/drawing/2014/main" id="{6E8F6D56-9470-AC97-A01B-E2CF51001AD0}"/>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8A8C2EDF-62C5-F310-0AAB-3774AC3B216D}"/>
              </a:ext>
            </a:extLst>
          </p:cNvPr>
          <p:cNvSpPr>
            <a:spLocks noGrp="1"/>
          </p:cNvSpPr>
          <p:nvPr>
            <p:ph type="sldNum" sz="quarter" idx="4"/>
          </p:nvPr>
        </p:nvSpPr>
        <p:spPr/>
        <p:txBody>
          <a:bodyPr/>
          <a:lstStyle/>
          <a:p>
            <a:fld id="{3889EAAA-2A39-E347-B0AA-909793490C00}" type="slidenum">
              <a:rPr lang="de-DE" smtClean="0"/>
              <a:pPr/>
              <a:t>15</a:t>
            </a:fld>
            <a:endParaRPr lang="de-DE" dirty="0"/>
          </a:p>
        </p:txBody>
      </p:sp>
      <p:sp>
        <p:nvSpPr>
          <p:cNvPr id="3" name="Textplatzhalter 2">
            <a:extLst>
              <a:ext uri="{FF2B5EF4-FFF2-40B4-BE49-F238E27FC236}">
                <a16:creationId xmlns:a16="http://schemas.microsoft.com/office/drawing/2014/main" id="{821B14DB-7C9F-3C70-6A60-B83C7668F55E}"/>
              </a:ext>
            </a:extLst>
          </p:cNvPr>
          <p:cNvSpPr>
            <a:spLocks noGrp="1"/>
          </p:cNvSpPr>
          <p:nvPr>
            <p:ph type="body" sz="quarter" idx="12"/>
          </p:nvPr>
        </p:nvSpPr>
        <p:spPr>
          <a:xfrm>
            <a:off x="442800" y="1449239"/>
            <a:ext cx="11306175" cy="543463"/>
          </a:xfrm>
        </p:spPr>
        <p:txBody>
          <a:bodyPr/>
          <a:lstStyle/>
          <a:p>
            <a:pPr>
              <a:lnSpc>
                <a:spcPct val="100000"/>
              </a:lnSpc>
            </a:pPr>
            <a:r>
              <a:rPr lang="en-US" sz="2800" dirty="0"/>
              <a:t>Conclusions</a:t>
            </a:r>
          </a:p>
        </p:txBody>
      </p:sp>
      <p:sp>
        <p:nvSpPr>
          <p:cNvPr id="2" name="TextBox 1">
            <a:extLst>
              <a:ext uri="{FF2B5EF4-FFF2-40B4-BE49-F238E27FC236}">
                <a16:creationId xmlns:a16="http://schemas.microsoft.com/office/drawing/2014/main" id="{F57C383E-6BAB-F8C3-0338-E465AE1FEBCB}"/>
              </a:ext>
            </a:extLst>
          </p:cNvPr>
          <p:cNvSpPr txBox="1"/>
          <p:nvPr/>
        </p:nvSpPr>
        <p:spPr>
          <a:xfrm>
            <a:off x="577970" y="2433767"/>
            <a:ext cx="11171005" cy="3862596"/>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000" dirty="0">
                <a:solidFill>
                  <a:schemeClr val="tx2"/>
                </a:solidFill>
              </a:rPr>
              <a:t>Conceptually relevant context characteristics (nature of the transgression; type of relationship between victim and transgressor) explain effect heterogeneity in the effects found by Shnabel and Nadler (2008) ― these might have to be built into the theory (“Needs-Based Model”).</a:t>
            </a:r>
          </a:p>
          <a:p>
            <a:pPr marL="285750" indent="-285750">
              <a:spcAft>
                <a:spcPts val="600"/>
              </a:spcAft>
              <a:buFont typeface="Arial" panose="020B0604020202020204" pitchFamily="34" charset="0"/>
              <a:buChar char="•"/>
            </a:pPr>
            <a:r>
              <a:rPr lang="en-US" sz="2000" dirty="0">
                <a:solidFill>
                  <a:schemeClr val="tx2"/>
                </a:solidFill>
              </a:rPr>
              <a:t>The example shows: </a:t>
            </a:r>
            <a:r>
              <a:rPr lang="en-US" sz="2000" b="1" dirty="0">
                <a:solidFill>
                  <a:srgbClr val="FF0000"/>
                </a:solidFill>
              </a:rPr>
              <a:t>Context does matter!</a:t>
            </a:r>
          </a:p>
          <a:p>
            <a:pPr marL="285750" indent="-285750">
              <a:spcAft>
                <a:spcPts val="600"/>
              </a:spcAft>
              <a:buFont typeface="Arial" panose="020B0604020202020204" pitchFamily="34" charset="0"/>
              <a:buChar char="•"/>
            </a:pPr>
            <a:r>
              <a:rPr lang="en-US" sz="2000" dirty="0">
                <a:solidFill>
                  <a:schemeClr val="tx2"/>
                </a:solidFill>
              </a:rPr>
              <a:t>Effect heterogeneity can be informative in many-labs replication studies ― especially if the effect to be replicated is (likely) a true positive (Fünderich, Beinhauer, &amp; Renkewitz, 2025).</a:t>
            </a:r>
          </a:p>
          <a:p>
            <a:pPr marL="285750" indent="-285750">
              <a:spcAft>
                <a:spcPts val="600"/>
              </a:spcAft>
              <a:buFont typeface="Arial" panose="020B0604020202020204" pitchFamily="34" charset="0"/>
              <a:buChar char="•"/>
            </a:pPr>
            <a:r>
              <a:rPr lang="en-US" sz="2000" dirty="0">
                <a:solidFill>
                  <a:schemeClr val="tx2"/>
                </a:solidFill>
              </a:rPr>
              <a:t>Context can be modeled in </a:t>
            </a:r>
            <a:r>
              <a:rPr lang="en-US" sz="2000" b="1" dirty="0">
                <a:solidFill>
                  <a:srgbClr val="FF0000"/>
                </a:solidFill>
              </a:rPr>
              <a:t>several different ways </a:t>
            </a:r>
            <a:r>
              <a:rPr lang="en-US" sz="2000" dirty="0">
                <a:solidFill>
                  <a:schemeClr val="tx2"/>
                </a:solidFill>
              </a:rPr>
              <a:t>(e.g., Pohl et al., in press; </a:t>
            </a:r>
            <a:r>
              <a:rPr lang="en-US" sz="2000" i="1" dirty="0" err="1">
                <a:solidFill>
                  <a:schemeClr val="tx2"/>
                </a:solidFill>
              </a:rPr>
              <a:t>PsychMethods</a:t>
            </a:r>
            <a:r>
              <a:rPr lang="en-US" sz="2000" dirty="0">
                <a:solidFill>
                  <a:schemeClr val="tx2"/>
                </a:solidFill>
              </a:rPr>
              <a:t>). Replication studies can be designed to test context effects (Hoffmann et al., 2025; </a:t>
            </a:r>
            <a:r>
              <a:rPr lang="en-US" sz="2000" i="1" dirty="0">
                <a:solidFill>
                  <a:schemeClr val="tx2"/>
                </a:solidFill>
              </a:rPr>
              <a:t>AMPPS</a:t>
            </a:r>
            <a:r>
              <a:rPr lang="en-US" sz="2000" dirty="0">
                <a:solidFill>
                  <a:schemeClr val="tx2"/>
                </a:solidFill>
              </a:rPr>
              <a:t>).</a:t>
            </a:r>
          </a:p>
          <a:p>
            <a:pPr marL="285750" indent="-285750">
              <a:spcAft>
                <a:spcPts val="600"/>
              </a:spcAft>
              <a:buFont typeface="Arial" panose="020B0604020202020204" pitchFamily="34" charset="0"/>
              <a:buChar char="•"/>
            </a:pPr>
            <a:r>
              <a:rPr lang="en-US" sz="2000" dirty="0">
                <a:solidFill>
                  <a:schemeClr val="tx2"/>
                </a:solidFill>
              </a:rPr>
              <a:t>Our approach shows how meta-regression can be used to analyze how much heterogeneity is due to </a:t>
            </a:r>
            <a:r>
              <a:rPr lang="en-US" sz="2000" b="1" dirty="0">
                <a:solidFill>
                  <a:srgbClr val="FF0000"/>
                </a:solidFill>
              </a:rPr>
              <a:t>psychometric properties </a:t>
            </a:r>
            <a:r>
              <a:rPr lang="en-US" sz="2000" dirty="0">
                <a:solidFill>
                  <a:schemeClr val="tx2"/>
                </a:solidFill>
              </a:rPr>
              <a:t>(i.e., conceptually irrelevant context characteristics).</a:t>
            </a:r>
          </a:p>
          <a:p>
            <a:pPr marL="285750" indent="-285750">
              <a:spcAft>
                <a:spcPts val="600"/>
              </a:spcAft>
              <a:buFont typeface="Arial" panose="020B0604020202020204" pitchFamily="34" charset="0"/>
              <a:buChar char="•"/>
            </a:pPr>
            <a:r>
              <a:rPr lang="en-US" sz="2000" dirty="0">
                <a:solidFill>
                  <a:schemeClr val="tx2"/>
                </a:solidFill>
              </a:rPr>
              <a:t>BUT: We need more test cases to find out how much they really matter.</a:t>
            </a:r>
          </a:p>
        </p:txBody>
      </p:sp>
    </p:spTree>
    <p:extLst>
      <p:ext uri="{BB962C8B-B14F-4D97-AF65-F5344CB8AC3E}">
        <p14:creationId xmlns:p14="http://schemas.microsoft.com/office/powerpoint/2010/main" val="155800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F98E7FC-1EB9-4441-A011-A0827B9AB01F}"/>
              </a:ext>
            </a:extLst>
          </p:cNvPr>
          <p:cNvSpPr>
            <a:spLocks noGrp="1"/>
          </p:cNvSpPr>
          <p:nvPr>
            <p:ph type="body" sz="quarter" idx="11"/>
          </p:nvPr>
        </p:nvSpPr>
        <p:spPr>
          <a:xfrm>
            <a:off x="168103" y="5184000"/>
            <a:ext cx="8667783" cy="1276350"/>
          </a:xfrm>
        </p:spPr>
        <p:txBody>
          <a:bodyPr/>
          <a:lstStyle/>
          <a:p>
            <a:r>
              <a:rPr lang="en-US" dirty="0"/>
              <a:t>Rizqy Amelia Zein &amp; Mario Gollwitzer </a:t>
            </a:r>
            <a:br>
              <a:rPr lang="en-US" dirty="0"/>
            </a:br>
            <a:r>
              <a:rPr lang="en-US" dirty="0"/>
              <a:t>Center for Advanced Internet Studies (CAIS) &amp; LMU München, Department of Psychology</a:t>
            </a:r>
            <a:br>
              <a:rPr lang="en-US" dirty="0"/>
            </a:br>
            <a:r>
              <a:rPr lang="en-US" dirty="0">
                <a:hlinkClick r:id="rId3"/>
              </a:rPr>
              <a:t>amelia.zein@cais-research.de</a:t>
            </a:r>
            <a:r>
              <a:rPr lang="en-US" dirty="0"/>
              <a:t> / </a:t>
            </a:r>
            <a:r>
              <a:rPr lang="en-US" dirty="0">
                <a:hlinkClick r:id="rId4"/>
              </a:rPr>
              <a:t>mario.gollwitzer@lmu.de</a:t>
            </a:r>
            <a:r>
              <a:rPr lang="en-US" dirty="0"/>
              <a:t> · </a:t>
            </a:r>
            <a:r>
              <a:rPr lang="en-US" dirty="0">
                <a:hlinkClick r:id="rId5"/>
              </a:rPr>
              <a:t>www.psy.lmu.de/soz</a:t>
            </a:r>
            <a:r>
              <a:rPr lang="en-US" dirty="0"/>
              <a:t> </a:t>
            </a:r>
          </a:p>
        </p:txBody>
      </p:sp>
      <p:sp>
        <p:nvSpPr>
          <p:cNvPr id="4" name="Rechteck 3"/>
          <p:cNvSpPr/>
          <p:nvPr/>
        </p:nvSpPr>
        <p:spPr>
          <a:xfrm>
            <a:off x="2993230" y="2967335"/>
            <a:ext cx="6205545" cy="1446550"/>
          </a:xfrm>
          <a:prstGeom prst="rect">
            <a:avLst/>
          </a:prstGeom>
          <a:noFill/>
        </p:spPr>
        <p:txBody>
          <a:bodyPr wrap="none" lIns="91440" tIns="45720" rIns="91440" bIns="45720">
            <a:spAutoFit/>
          </a:bodyPr>
          <a:lstStyle/>
          <a:p>
            <a:pPr algn="ctr"/>
            <a:r>
              <a:rPr lang="en-US" sz="8800" b="1" cap="none" spc="0" dirty="0">
                <a:ln w="9525">
                  <a:solidFill>
                    <a:schemeClr val="bg1"/>
                  </a:solidFill>
                  <a:prstDash val="solid"/>
                </a:ln>
                <a:solidFill>
                  <a:schemeClr val="bg1"/>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359888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0E974B5-6F5C-F619-7853-8DA726460094}"/>
            </a:ext>
          </a:extLst>
        </p:cNvPr>
        <p:cNvGrpSpPr/>
        <p:nvPr/>
      </p:nvGrpSpPr>
      <p:grpSpPr>
        <a:xfrm>
          <a:off x="0" y="0"/>
          <a:ext cx="0" cy="0"/>
          <a:chOff x="0" y="0"/>
          <a:chExt cx="0" cy="0"/>
        </a:xfrm>
      </p:grpSpPr>
      <p:sp>
        <p:nvSpPr>
          <p:cNvPr id="7" name="Textplatzhalter 12">
            <a:extLst>
              <a:ext uri="{FF2B5EF4-FFF2-40B4-BE49-F238E27FC236}">
                <a16:creationId xmlns:a16="http://schemas.microsoft.com/office/drawing/2014/main" id="{CCC308D4-429A-91FA-3491-84B61B0A3BC3}"/>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71204EA3-D60A-2639-2594-8A32976C88A2}"/>
              </a:ext>
            </a:extLst>
          </p:cNvPr>
          <p:cNvSpPr>
            <a:spLocks noGrp="1"/>
          </p:cNvSpPr>
          <p:nvPr>
            <p:ph type="sldNum" sz="quarter" idx="4"/>
          </p:nvPr>
        </p:nvSpPr>
        <p:spPr/>
        <p:txBody>
          <a:bodyPr/>
          <a:lstStyle/>
          <a:p>
            <a:fld id="{3889EAAA-2A39-E347-B0AA-909793490C00}" type="slidenum">
              <a:rPr lang="de-DE" smtClean="0"/>
              <a:pPr/>
              <a:t>17</a:t>
            </a:fld>
            <a:endParaRPr lang="de-DE" dirty="0"/>
          </a:p>
        </p:txBody>
      </p:sp>
      <p:sp>
        <p:nvSpPr>
          <p:cNvPr id="3" name="Textplatzhalter 2">
            <a:extLst>
              <a:ext uri="{FF2B5EF4-FFF2-40B4-BE49-F238E27FC236}">
                <a16:creationId xmlns:a16="http://schemas.microsoft.com/office/drawing/2014/main" id="{3FF6034F-2E42-C07A-6D08-6BB138C7BA6A}"/>
              </a:ext>
            </a:extLst>
          </p:cNvPr>
          <p:cNvSpPr>
            <a:spLocks noGrp="1"/>
          </p:cNvSpPr>
          <p:nvPr>
            <p:ph type="body" sz="quarter" idx="12"/>
          </p:nvPr>
        </p:nvSpPr>
        <p:spPr>
          <a:xfrm rot="10800000" flipV="1">
            <a:off x="9367284" y="1992702"/>
            <a:ext cx="2381691" cy="750498"/>
          </a:xfrm>
        </p:spPr>
        <p:txBody>
          <a:bodyPr/>
          <a:lstStyle/>
          <a:p>
            <a:pPr>
              <a:lnSpc>
                <a:spcPct val="100000"/>
              </a:lnSpc>
            </a:pPr>
            <a:r>
              <a:rPr lang="en-US" sz="2800" dirty="0"/>
              <a:t>Descriptive stats</a:t>
            </a:r>
          </a:p>
        </p:txBody>
      </p:sp>
      <p:pic>
        <p:nvPicPr>
          <p:cNvPr id="5" name="Picture 4">
            <a:extLst>
              <a:ext uri="{FF2B5EF4-FFF2-40B4-BE49-F238E27FC236}">
                <a16:creationId xmlns:a16="http://schemas.microsoft.com/office/drawing/2014/main" id="{F4C4D417-AF49-6C25-A9A2-66EC177669F0}"/>
              </a:ext>
            </a:extLst>
          </p:cNvPr>
          <p:cNvPicPr>
            <a:picLocks noChangeAspect="1"/>
          </p:cNvPicPr>
          <p:nvPr/>
        </p:nvPicPr>
        <p:blipFill>
          <a:blip r:embed="rId3"/>
          <a:stretch>
            <a:fillRect/>
          </a:stretch>
        </p:blipFill>
        <p:spPr>
          <a:xfrm>
            <a:off x="346374" y="156706"/>
            <a:ext cx="8926171" cy="6544588"/>
          </a:xfrm>
          <a:prstGeom prst="rect">
            <a:avLst/>
          </a:prstGeom>
        </p:spPr>
      </p:pic>
    </p:spTree>
    <p:extLst>
      <p:ext uri="{BB962C8B-B14F-4D97-AF65-F5344CB8AC3E}">
        <p14:creationId xmlns:p14="http://schemas.microsoft.com/office/powerpoint/2010/main" val="1308130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2C0E7953-DD70-7218-AB92-DE80A84AE52C}"/>
            </a:ext>
          </a:extLst>
        </p:cNvPr>
        <p:cNvGrpSpPr/>
        <p:nvPr/>
      </p:nvGrpSpPr>
      <p:grpSpPr>
        <a:xfrm>
          <a:off x="0" y="0"/>
          <a:ext cx="0" cy="0"/>
          <a:chOff x="0" y="0"/>
          <a:chExt cx="0" cy="0"/>
        </a:xfrm>
      </p:grpSpPr>
      <p:sp>
        <p:nvSpPr>
          <p:cNvPr id="7" name="Textplatzhalter 12">
            <a:extLst>
              <a:ext uri="{FF2B5EF4-FFF2-40B4-BE49-F238E27FC236}">
                <a16:creationId xmlns:a16="http://schemas.microsoft.com/office/drawing/2014/main" id="{144B2F93-9FD4-1145-3B8F-D1E7E7D01BC8}"/>
              </a:ext>
            </a:extLst>
          </p:cNvPr>
          <p:cNvSpPr>
            <a:spLocks noGrp="1"/>
          </p:cNvSpPr>
          <p:nvPr>
            <p:ph type="body" sz="quarter" idx="14"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a:lnSpc>
                <a:spcPct val="100000"/>
              </a:lnSpc>
            </a:pPr>
            <a:r>
              <a:rPr lang="en-US" sz="700" dirty="0">
                <a:latin typeface="LMU CompatilFact" panose="02000500060000020003" pitchFamily="2" charset="0"/>
              </a:rPr>
              <a:t>Symposium “Who Critiques the Critique? Toward a Reflexive Metascience”</a:t>
            </a:r>
          </a:p>
          <a:p>
            <a:pPr>
              <a:lnSpc>
                <a:spcPct val="100000"/>
              </a:lnSpc>
            </a:pPr>
            <a:r>
              <a:rPr lang="en-US" sz="700" dirty="0">
                <a:latin typeface="LMU CompatilFact" panose="02000500060000020003" pitchFamily="2" charset="0"/>
              </a:rPr>
              <a:t>EASP 2026, Strasbourg</a:t>
            </a:r>
          </a:p>
        </p:txBody>
      </p:sp>
      <p:sp>
        <p:nvSpPr>
          <p:cNvPr id="4" name="Foliennummernplatzhalter 3">
            <a:extLst>
              <a:ext uri="{FF2B5EF4-FFF2-40B4-BE49-F238E27FC236}">
                <a16:creationId xmlns:a16="http://schemas.microsoft.com/office/drawing/2014/main" id="{8ABF7215-1A44-D774-7405-4B06DBFDE61B}"/>
              </a:ext>
            </a:extLst>
          </p:cNvPr>
          <p:cNvSpPr>
            <a:spLocks noGrp="1"/>
          </p:cNvSpPr>
          <p:nvPr>
            <p:ph type="sldNum" sz="quarter" idx="4"/>
          </p:nvPr>
        </p:nvSpPr>
        <p:spPr/>
        <p:txBody>
          <a:bodyPr/>
          <a:lstStyle/>
          <a:p>
            <a:fld id="{3889EAAA-2A39-E347-B0AA-909793490C00}" type="slidenum">
              <a:rPr lang="de-DE" smtClean="0"/>
              <a:pPr/>
              <a:t>18</a:t>
            </a:fld>
            <a:endParaRPr lang="de-DE" dirty="0"/>
          </a:p>
        </p:txBody>
      </p:sp>
      <p:sp>
        <p:nvSpPr>
          <p:cNvPr id="3" name="Textplatzhalter 2">
            <a:extLst>
              <a:ext uri="{FF2B5EF4-FFF2-40B4-BE49-F238E27FC236}">
                <a16:creationId xmlns:a16="http://schemas.microsoft.com/office/drawing/2014/main" id="{E5D0BECC-13E8-3E74-E286-026998888370}"/>
              </a:ext>
            </a:extLst>
          </p:cNvPr>
          <p:cNvSpPr>
            <a:spLocks noGrp="1"/>
          </p:cNvSpPr>
          <p:nvPr>
            <p:ph type="body" sz="quarter" idx="12"/>
          </p:nvPr>
        </p:nvSpPr>
        <p:spPr>
          <a:xfrm>
            <a:off x="9494876" y="2990960"/>
            <a:ext cx="2073348" cy="543463"/>
          </a:xfrm>
        </p:spPr>
        <p:txBody>
          <a:bodyPr/>
          <a:lstStyle/>
          <a:p>
            <a:pPr>
              <a:lnSpc>
                <a:spcPct val="100000"/>
              </a:lnSpc>
            </a:pPr>
            <a:r>
              <a:rPr lang="en-US" sz="2800" dirty="0"/>
              <a:t>Model parameters</a:t>
            </a:r>
          </a:p>
        </p:txBody>
      </p:sp>
      <p:pic>
        <p:nvPicPr>
          <p:cNvPr id="6" name="Picture 5">
            <a:extLst>
              <a:ext uri="{FF2B5EF4-FFF2-40B4-BE49-F238E27FC236}">
                <a16:creationId xmlns:a16="http://schemas.microsoft.com/office/drawing/2014/main" id="{89A6E309-338B-9A77-61E6-E9E2DBFB3304}"/>
              </a:ext>
            </a:extLst>
          </p:cNvPr>
          <p:cNvPicPr>
            <a:picLocks noChangeAspect="1"/>
          </p:cNvPicPr>
          <p:nvPr/>
        </p:nvPicPr>
        <p:blipFill>
          <a:blip r:embed="rId3"/>
          <a:stretch>
            <a:fillRect/>
          </a:stretch>
        </p:blipFill>
        <p:spPr>
          <a:xfrm>
            <a:off x="144260" y="295471"/>
            <a:ext cx="8973802" cy="6477904"/>
          </a:xfrm>
          <a:prstGeom prst="rect">
            <a:avLst/>
          </a:prstGeom>
        </p:spPr>
      </p:pic>
    </p:spTree>
    <p:extLst>
      <p:ext uri="{BB962C8B-B14F-4D97-AF65-F5344CB8AC3E}">
        <p14:creationId xmlns:p14="http://schemas.microsoft.com/office/powerpoint/2010/main" val="2010178368"/>
      </p:ext>
    </p:extLst>
  </p:cSld>
  <p:clrMapOvr>
    <a:masterClrMapping/>
  </p:clrMapOvr>
</p:sld>
</file>

<file path=ppt/theme/theme1.xml><?xml version="1.0" encoding="utf-8"?>
<a:theme xmlns:a="http://schemas.openxmlformats.org/drawingml/2006/main" name="Präsentationstitel">
  <a:themeElements>
    <a:clrScheme name="LMU_PPT">
      <a:dk1>
        <a:srgbClr val="00883A"/>
      </a:dk1>
      <a:lt1>
        <a:sysClr val="window" lastClr="FFFFFF"/>
      </a:lt1>
      <a:dk2>
        <a:srgbClr val="232323"/>
      </a:dk2>
      <a:lt2>
        <a:srgbClr val="626468"/>
      </a:lt2>
      <a:accent1>
        <a:srgbClr val="C0C1C3"/>
      </a:accent1>
      <a:accent2>
        <a:srgbClr val="E6E6E7"/>
      </a:accent2>
      <a:accent3>
        <a:srgbClr val="F5F5F5"/>
      </a:accent3>
      <a:accent4>
        <a:srgbClr val="0F1987"/>
      </a:accent4>
      <a:accent5>
        <a:srgbClr val="009FE3"/>
      </a:accent5>
      <a:accent6>
        <a:srgbClr val="8C4091"/>
      </a:accent6>
      <a:hlink>
        <a:srgbClr val="D71919"/>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räsentationstitel Variante">
  <a:themeElements>
    <a:clrScheme name="LMU_PPT">
      <a:dk1>
        <a:srgbClr val="00883A"/>
      </a:dk1>
      <a:lt1>
        <a:sysClr val="window" lastClr="FFFFFF"/>
      </a:lt1>
      <a:dk2>
        <a:srgbClr val="232323"/>
      </a:dk2>
      <a:lt2>
        <a:srgbClr val="626468"/>
      </a:lt2>
      <a:accent1>
        <a:srgbClr val="C0C1C3"/>
      </a:accent1>
      <a:accent2>
        <a:srgbClr val="E6E6E7"/>
      </a:accent2>
      <a:accent3>
        <a:srgbClr val="F5F5F5"/>
      </a:accent3>
      <a:accent4>
        <a:srgbClr val="0F1987"/>
      </a:accent4>
      <a:accent5>
        <a:srgbClr val="009FE3"/>
      </a:accent5>
      <a:accent6>
        <a:srgbClr val="8C4091"/>
      </a:accent6>
      <a:hlink>
        <a:srgbClr val="D71919"/>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piteltrenner">
  <a:themeElements>
    <a:clrScheme name="LMU">
      <a:dk1>
        <a:srgbClr val="008740"/>
      </a:dk1>
      <a:lt1>
        <a:sysClr val="window" lastClr="FFFFFF"/>
      </a:lt1>
      <a:dk2>
        <a:srgbClr val="000000"/>
      </a:dk2>
      <a:lt2>
        <a:srgbClr val="4A4A4A"/>
      </a:lt2>
      <a:accent1>
        <a:srgbClr val="9D9D9D"/>
      </a:accent1>
      <a:accent2>
        <a:srgbClr val="D0D0D0"/>
      </a:accent2>
      <a:accent3>
        <a:srgbClr val="F4F4F4"/>
      </a:accent3>
      <a:accent4>
        <a:srgbClr val="023E84"/>
      </a:accent4>
      <a:accent5>
        <a:srgbClr val="009FE3"/>
      </a:accent5>
      <a:accent6>
        <a:srgbClr val="8C40A5"/>
      </a:accent6>
      <a:hlink>
        <a:srgbClr val="DC0D15"/>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Inhalt">
  <a:themeElements>
    <a:clrScheme name="LMU_PPT">
      <a:dk1>
        <a:srgbClr val="00883A"/>
      </a:dk1>
      <a:lt1>
        <a:sysClr val="window" lastClr="FFFFFF"/>
      </a:lt1>
      <a:dk2>
        <a:srgbClr val="232323"/>
      </a:dk2>
      <a:lt2>
        <a:srgbClr val="626468"/>
      </a:lt2>
      <a:accent1>
        <a:srgbClr val="C0C1C3"/>
      </a:accent1>
      <a:accent2>
        <a:srgbClr val="E6E6E7"/>
      </a:accent2>
      <a:accent3>
        <a:srgbClr val="F5F5F5"/>
      </a:accent3>
      <a:accent4>
        <a:srgbClr val="0F1987"/>
      </a:accent4>
      <a:accent5>
        <a:srgbClr val="009FE3"/>
      </a:accent5>
      <a:accent6>
        <a:srgbClr val="8C4091"/>
      </a:accent6>
      <a:hlink>
        <a:srgbClr val="D71919"/>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Rücktitel">
  <a:themeElements>
    <a:clrScheme name="Benutzerdefiniert 1">
      <a:dk1>
        <a:srgbClr val="008740"/>
      </a:dk1>
      <a:lt1>
        <a:srgbClr val="FFFFFF"/>
      </a:lt1>
      <a:dk2>
        <a:srgbClr val="000000"/>
      </a:dk2>
      <a:lt2>
        <a:srgbClr val="4A4A4A"/>
      </a:lt2>
      <a:accent1>
        <a:srgbClr val="9D9D9D"/>
      </a:accent1>
      <a:accent2>
        <a:srgbClr val="D0D0D0"/>
      </a:accent2>
      <a:accent3>
        <a:srgbClr val="F4F4F4"/>
      </a:accent3>
      <a:accent4>
        <a:srgbClr val="023E84"/>
      </a:accent4>
      <a:accent5>
        <a:srgbClr val="009FE3"/>
      </a:accent5>
      <a:accent6>
        <a:srgbClr val="8C40A5"/>
      </a:accent6>
      <a:hlink>
        <a:srgbClr val="DC0D15"/>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1834</Words>
  <Application>Microsoft Office PowerPoint</Application>
  <PresentationFormat>Widescreen</PresentationFormat>
  <Paragraphs>186</Paragraphs>
  <Slides>18</Slides>
  <Notes>16</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18</vt:i4>
      </vt:variant>
    </vt:vector>
  </HeadingPairs>
  <TitlesOfParts>
    <vt:vector size="28" baseType="lpstr">
      <vt:lpstr>Arial</vt:lpstr>
      <vt:lpstr>Calibri</vt:lpstr>
      <vt:lpstr>LMU CompatilFact</vt:lpstr>
      <vt:lpstr>Symbol</vt:lpstr>
      <vt:lpstr>Wingdings</vt:lpstr>
      <vt:lpstr>Präsentationstitel</vt:lpstr>
      <vt:lpstr>Präsentationstitel Variante</vt:lpstr>
      <vt:lpstr>Kapiteltrenner</vt:lpstr>
      <vt:lpstr>Inhalt</vt:lpstr>
      <vt:lpstr>Rücktitel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Florian Doeffinger</dc:creator>
  <cp:lastModifiedBy>Dr. Rizqy Amelia Zein</cp:lastModifiedBy>
  <cp:revision>568</cp:revision>
  <cp:lastPrinted>2025-06-26T13:57:21Z</cp:lastPrinted>
  <dcterms:created xsi:type="dcterms:W3CDTF">2020-05-08T07:19:48Z</dcterms:created>
  <dcterms:modified xsi:type="dcterms:W3CDTF">2026-06-25T08:01:26Z</dcterms:modified>
</cp:coreProperties>
</file>