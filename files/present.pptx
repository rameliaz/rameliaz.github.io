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3" r:id="rId5"/>
    <p:sldId id="259" r:id="rId6"/>
    <p:sldId id="264" r:id="rId7"/>
    <p:sldId id="260" r:id="rId8"/>
    <p:sldId id="261" r:id="rId9"/>
    <p:sldId id="265" r:id="rId10"/>
    <p:sldId id="266" r:id="rId11"/>
    <p:sldId id="262" r:id="rId1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498" autoAdjust="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elia Zein" userId="22505ac8-7049-4143-90f5-98e1e84ea902" providerId="ADAL" clId="{71FA4F99-7949-4063-8FE3-4545C08A9460}"/>
    <pc:docChg chg="custSel addSld modSld">
      <pc:chgData name="Amelia Zein" userId="22505ac8-7049-4143-90f5-98e1e84ea902" providerId="ADAL" clId="{71FA4F99-7949-4063-8FE3-4545C08A9460}" dt="2026-01-14T09:45:54.079" v="612" actId="20577"/>
      <pc:docMkLst>
        <pc:docMk/>
      </pc:docMkLst>
      <pc:sldChg chg="modSp mod">
        <pc:chgData name="Amelia Zein" userId="22505ac8-7049-4143-90f5-98e1e84ea902" providerId="ADAL" clId="{71FA4F99-7949-4063-8FE3-4545C08A9460}" dt="2026-01-14T09:44:47.747" v="532" actId="20577"/>
        <pc:sldMkLst>
          <pc:docMk/>
          <pc:sldMk cId="558637772" sldId="258"/>
        </pc:sldMkLst>
        <pc:spChg chg="mod">
          <ac:chgData name="Amelia Zein" userId="22505ac8-7049-4143-90f5-98e1e84ea902" providerId="ADAL" clId="{71FA4F99-7949-4063-8FE3-4545C08A9460}" dt="2026-01-14T09:44:47.747" v="532" actId="20577"/>
          <ac:spMkLst>
            <pc:docMk/>
            <pc:sldMk cId="558637772" sldId="258"/>
            <ac:spMk id="3" creationId="{43537AF5-99F4-CA46-5A58-F6742CAC5F73}"/>
          </ac:spMkLst>
        </pc:spChg>
      </pc:sldChg>
      <pc:sldChg chg="modSp new mod">
        <pc:chgData name="Amelia Zein" userId="22505ac8-7049-4143-90f5-98e1e84ea902" providerId="ADAL" clId="{71FA4F99-7949-4063-8FE3-4545C08A9460}" dt="2026-01-14T07:09:42.141" v="18" actId="20577"/>
        <pc:sldMkLst>
          <pc:docMk/>
          <pc:sldMk cId="1717672173" sldId="259"/>
        </pc:sldMkLst>
        <pc:spChg chg="mod">
          <ac:chgData name="Amelia Zein" userId="22505ac8-7049-4143-90f5-98e1e84ea902" providerId="ADAL" clId="{71FA4F99-7949-4063-8FE3-4545C08A9460}" dt="2026-01-14T07:09:42.141" v="18" actId="20577"/>
          <ac:spMkLst>
            <pc:docMk/>
            <pc:sldMk cId="1717672173" sldId="259"/>
            <ac:spMk id="2" creationId="{FB10C4E2-D862-2194-7C01-15A8C7071ABF}"/>
          </ac:spMkLst>
        </pc:spChg>
      </pc:sldChg>
      <pc:sldChg chg="modSp new mod">
        <pc:chgData name="Amelia Zein" userId="22505ac8-7049-4143-90f5-98e1e84ea902" providerId="ADAL" clId="{71FA4F99-7949-4063-8FE3-4545C08A9460}" dt="2026-01-14T07:10:13.272" v="65" actId="20577"/>
        <pc:sldMkLst>
          <pc:docMk/>
          <pc:sldMk cId="364601776" sldId="260"/>
        </pc:sldMkLst>
        <pc:spChg chg="mod">
          <ac:chgData name="Amelia Zein" userId="22505ac8-7049-4143-90f5-98e1e84ea902" providerId="ADAL" clId="{71FA4F99-7949-4063-8FE3-4545C08A9460}" dt="2026-01-14T07:10:13.272" v="65" actId="20577"/>
          <ac:spMkLst>
            <pc:docMk/>
            <pc:sldMk cId="364601776" sldId="260"/>
            <ac:spMk id="2" creationId="{7522738C-34C5-7DD6-FF4A-ECD0F3AD5569}"/>
          </ac:spMkLst>
        </pc:spChg>
      </pc:sldChg>
      <pc:sldChg chg="modSp new mod">
        <pc:chgData name="Amelia Zein" userId="22505ac8-7049-4143-90f5-98e1e84ea902" providerId="ADAL" clId="{71FA4F99-7949-4063-8FE3-4545C08A9460}" dt="2026-01-14T09:45:29.176" v="540" actId="20577"/>
        <pc:sldMkLst>
          <pc:docMk/>
          <pc:sldMk cId="2368289399" sldId="261"/>
        </pc:sldMkLst>
        <pc:spChg chg="mod">
          <ac:chgData name="Amelia Zein" userId="22505ac8-7049-4143-90f5-98e1e84ea902" providerId="ADAL" clId="{71FA4F99-7949-4063-8FE3-4545C08A9460}" dt="2026-01-14T09:45:29.176" v="540" actId="20577"/>
          <ac:spMkLst>
            <pc:docMk/>
            <pc:sldMk cId="2368289399" sldId="261"/>
            <ac:spMk id="2" creationId="{E2E4DDCD-9F71-6E9E-786D-FA26F9499C2A}"/>
          </ac:spMkLst>
        </pc:spChg>
      </pc:sldChg>
      <pc:sldChg chg="modSp new mod">
        <pc:chgData name="Amelia Zein" userId="22505ac8-7049-4143-90f5-98e1e84ea902" providerId="ADAL" clId="{71FA4F99-7949-4063-8FE3-4545C08A9460}" dt="2026-01-14T09:45:54.079" v="612" actId="20577"/>
        <pc:sldMkLst>
          <pc:docMk/>
          <pc:sldMk cId="7086968" sldId="262"/>
        </pc:sldMkLst>
        <pc:spChg chg="mod">
          <ac:chgData name="Amelia Zein" userId="22505ac8-7049-4143-90f5-98e1e84ea902" providerId="ADAL" clId="{71FA4F99-7949-4063-8FE3-4545C08A9460}" dt="2026-01-14T09:45:54.079" v="612" actId="20577"/>
          <ac:spMkLst>
            <pc:docMk/>
            <pc:sldMk cId="7086968" sldId="262"/>
            <ac:spMk id="2" creationId="{09590660-4057-04E8-0D54-AC6A63D2766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C4ACFB-8343-4FCA-9AE4-45BB9049A28C}" type="datetimeFigureOut">
              <a:rPr lang="en-DE" smtClean="0"/>
              <a:t>01/15/2026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AA56E9-9B44-468A-9330-5FFC563A218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00640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conceptually-irrelevant context is conceptually irrelevant, it can systematically drive heterogeneity in the effect sizes.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AA56E9-9B44-468A-9330-5FFC563A2180}" type="slidenum">
              <a:rPr lang="en-DE" smtClean="0"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45122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points of comparison allows us to estimate what worked in the original study that worked/did not work in the replication studies</a:t>
            </a:r>
          </a:p>
          <a:p>
            <a:r>
              <a:rPr lang="en-US" dirty="0"/>
              <a:t>Problem 1: sharing data, codes and material was not a norm before 2010, thus finding past projects that allowed us doing two points of comparison was super difficult</a:t>
            </a:r>
          </a:p>
          <a:p>
            <a:r>
              <a:rPr lang="en-US" dirty="0"/>
              <a:t>Problem 2: replication projects don’t always implement manipulation checks and/and or item-based measures simultaneously. A lot of studies either don’t have manipulation checks at all or implement non-item-based dv measures (e.g., error rates in cognitive tasks, reaction times, etc.)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AA56E9-9B44-468A-9330-5FFC563A2180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84291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background: RP:P tested 100 effect sizes in psychology where one lab directly replicated one ES. They used materials/analysis pipelines reported in the original studies.</a:t>
            </a:r>
          </a:p>
          <a:p>
            <a:r>
              <a:rPr lang="en-US" dirty="0"/>
              <a:t>ML5 tested 10 ES that failed to replicate in RP:P with two protocols: protocol used in the original study and RP:P and protocol reviewed and modified with the original authors’ input</a:t>
            </a:r>
          </a:p>
          <a:p>
            <a:r>
              <a:rPr lang="en-US" i="0" dirty="0"/>
              <a:t>We used absolute differences for </a:t>
            </a:r>
            <a:r>
              <a:rPr lang="en-US" i="1" dirty="0"/>
              <a:t>b </a:t>
            </a:r>
            <a:r>
              <a:rPr lang="en-US" i="0" dirty="0"/>
              <a:t>and </a:t>
            </a:r>
            <a:r>
              <a:rPr lang="en-US" i="1" dirty="0"/>
              <a:t>e </a:t>
            </a:r>
            <a:r>
              <a:rPr lang="en-US" i="0" dirty="0"/>
              <a:t>because it doesn’t matter if the manipulation was more/less successful or reliability of the dv is worse/better. We are just interested in the variance.</a:t>
            </a:r>
          </a:p>
          <a:p>
            <a:r>
              <a:rPr lang="en-US" i="0" dirty="0"/>
              <a:t>DIF analysis used RP:P as the reference group, and ML5 sites as the focal groups</a:t>
            </a:r>
          </a:p>
          <a:p>
            <a:r>
              <a:rPr lang="en-US" i="0" dirty="0"/>
              <a:t>Marginal reliability takes account error variances of each individual items </a:t>
            </a:r>
            <a:r>
              <a:rPr lang="en-US" i="1" dirty="0"/>
              <a:t>plus</a:t>
            </a:r>
            <a:r>
              <a:rPr lang="en-US" i="0" dirty="0"/>
              <a:t> distribution of the latent trait (e.g., some scales can be more reliable in high scorers than the lower scorers)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AA56E9-9B44-468A-9330-5FFC563A2180}" type="slidenum">
              <a:rPr lang="en-DE" smtClean="0"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08309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Needs-based reconciliation model</a:t>
            </a:r>
          </a:p>
          <a:p>
            <a:r>
              <a:rPr lang="en-US" dirty="0"/>
              <a:t>RP:P failed to replicate the effect maybe because the sample was bachelor students, while the (original) manipulation vignette highlights a professional (workplace) relationship. The vignette also depicts an employee who got promoted due to their colleague being in a military draft or maternity leave --- not relatable to undergrads.</a:t>
            </a:r>
          </a:p>
          <a:p>
            <a:r>
              <a:rPr lang="en-US" dirty="0"/>
              <a:t>Revised ML5 vignette: a bachelor student gets kicked out of their apartment by their roommate after coming back from visiting family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AA56E9-9B44-468A-9330-5FFC563A2180}" type="slidenum">
              <a:rPr lang="en-DE" smtClean="0"/>
              <a:t>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85544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AA56E9-9B44-468A-9330-5FFC563A2180}" type="slidenum">
              <a:rPr lang="en-DE" smtClean="0"/>
              <a:t>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906973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AA56E9-9B44-468A-9330-5FFC563A2180}" type="slidenum">
              <a:rPr lang="en-DE" smtClean="0"/>
              <a:t>11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13543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270E3-1B22-514A-945D-F1F5635F99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D80969-29D7-C58E-5341-1870B8FC3F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9C275-78AF-F161-220F-5B0FEC911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0F6F6-8C29-4FD5-9733-AAADF4F393D7}" type="datetimeFigureOut">
              <a:rPr lang="en-DE" smtClean="0"/>
              <a:t>01/15/2026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B53D4-D8CE-76E8-DAA4-519908261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42650-DF0D-6151-E7C4-00F1B0F79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8673F-4BB9-40CE-B7C3-46910F64F9F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6615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7072B-57C5-8051-9AB0-2E69BDE11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893F2-7FE5-0DF1-5448-282162969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192F3-E602-3EAD-835D-8B978526F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0F6F6-8C29-4FD5-9733-AAADF4F393D7}" type="datetimeFigureOut">
              <a:rPr lang="en-DE" smtClean="0"/>
              <a:t>01/15/2026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088F1-D970-28B5-B90B-2DE4699AF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86976-8274-5AF2-F475-37F975CA9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8673F-4BB9-40CE-B7C3-46910F64F9F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91571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8871A-12DC-C5B8-4F9C-46DDA3859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6CDB5-2F4C-CE8D-AEEC-9CD4628C4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24F26-13E3-163A-0434-708373CCE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0F6F6-8C29-4FD5-9733-AAADF4F393D7}" type="datetimeFigureOut">
              <a:rPr lang="en-DE" smtClean="0"/>
              <a:t>01/15/2026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8566C-AF0C-2AEA-ED5D-7582A9002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66529-8D70-B92C-F9BB-E3910831C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8673F-4BB9-40CE-B7C3-46910F64F9F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41137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D882B-644C-BC26-188B-572EEB3DA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1F9A1-902D-8B01-F223-F0DF50F5C7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F6146-4F9F-6950-50A6-55B521323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0A3117-B626-A5CA-C4DB-25F0D25C7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0F6F6-8C29-4FD5-9733-AAADF4F393D7}" type="datetimeFigureOut">
              <a:rPr lang="en-DE" smtClean="0"/>
              <a:t>01/15/2026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D9A55-562F-6F47-FCE5-971C83236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C0A2D-9873-7F6F-9D2A-80A06EDE4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8673F-4BB9-40CE-B7C3-46910F64F9F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96447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4494F-684C-7B05-5330-983841A98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E51F8-7254-3E6F-6E4B-C77D816FF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EB97FF-D044-E6E1-6920-FD085F16BA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CA7179-A4E7-614D-25AA-38AD8D1DFC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32F2A7-2839-7E4D-821A-034BAC316B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220717-2CEE-C7DF-CE68-C4EF33CB6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0F6F6-8C29-4FD5-9733-AAADF4F393D7}" type="datetimeFigureOut">
              <a:rPr lang="en-DE" smtClean="0"/>
              <a:t>01/15/2026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325496-53AF-5ADF-E826-5A9A529EE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747298-9381-0710-953A-15E529A0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8673F-4BB9-40CE-B7C3-46910F64F9F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67691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D40A9-C809-B361-42D6-7A6D77EAC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9AD5F1-BBBC-BFB0-03E6-0BFB1A55C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0F6F6-8C29-4FD5-9733-AAADF4F393D7}" type="datetimeFigureOut">
              <a:rPr lang="en-DE" smtClean="0"/>
              <a:t>01/15/2026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A2052A-2D7C-3DE7-ECBB-F7635E48D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3D37DE-9A7A-7651-AD89-6C85FE4BE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8673F-4BB9-40CE-B7C3-46910F64F9F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03686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4F71B9-6038-E0F0-8519-0B1821F6B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0F6F6-8C29-4FD5-9733-AAADF4F393D7}" type="datetimeFigureOut">
              <a:rPr lang="en-DE" smtClean="0"/>
              <a:t>01/15/2026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962A78-8EFA-FEC6-2626-1A5681E5E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4DDF2-1D31-EAE8-E2AC-A7EDBCD61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8673F-4BB9-40CE-B7C3-46910F64F9F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45659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65A69-7C29-C79E-0A41-575299058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72AE6-566D-16BD-049F-07BD1C7B1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2951FD-DF2E-C651-8871-7016AAB2C8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2A8771-9689-EA03-CD4B-C401BFF8B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0F6F6-8C29-4FD5-9733-AAADF4F393D7}" type="datetimeFigureOut">
              <a:rPr lang="en-DE" smtClean="0"/>
              <a:t>01/15/2026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30B2D-DB1A-555F-9384-3C0401F0F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D3FBD7-7D49-479D-768C-E9D6D1AD6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8673F-4BB9-40CE-B7C3-46910F64F9F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957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46FDA-E8F6-B7E5-2744-96430614C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80CFF5-3B05-197A-F640-3AC0A4F58F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471CD6-83C5-6DFA-3363-CA8A4D07DF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F1BC8-D401-7410-8150-A99692211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0F6F6-8C29-4FD5-9733-AAADF4F393D7}" type="datetimeFigureOut">
              <a:rPr lang="en-DE" smtClean="0"/>
              <a:t>01/15/2026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377D2-5286-960F-7CE6-4E36A6E4C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03F2F5-6217-1B2C-C12E-B228632D2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8673F-4BB9-40CE-B7C3-46910F64F9F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85882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52F6B-283E-CF6C-B1F0-40371742F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9CD51-3E9C-3204-94AE-A6DD671F02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75F52-F8E0-869D-FD38-2D285BBEC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0F6F6-8C29-4FD5-9733-AAADF4F393D7}" type="datetimeFigureOut">
              <a:rPr lang="en-DE" smtClean="0"/>
              <a:t>01/15/2026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D770A-E2AA-203E-4F2D-D0E6FB58E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D0E68-69D7-C869-BBAF-FB73A734D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8673F-4BB9-40CE-B7C3-46910F64F9F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8002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917A9B-60E5-3911-A22B-5BAEF950D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43ED8-A6DE-F81D-7880-0C9806687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9ECB4-84C5-6453-0768-CA98A47E1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0F6F6-8C29-4FD5-9733-AAADF4F393D7}" type="datetimeFigureOut">
              <a:rPr lang="en-DE" smtClean="0"/>
              <a:t>01/15/2026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C5555-5E6B-64D0-BEA6-9FD8C94E6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EFF8B-5726-99A0-257C-C4CD3690E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8673F-4BB9-40CE-B7C3-46910F64F9F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31720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2EC0C0-1A2B-104F-0E24-C5CEF2E22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DEA1A-108C-A5D4-C435-CB273CF93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07776-26F1-F3E5-D365-F74A16ED53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40F6F6-8C29-4FD5-9733-AAADF4F393D7}" type="datetimeFigureOut">
              <a:rPr lang="en-DE" smtClean="0"/>
              <a:t>01/15/2026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DD1D2-A9D1-EA5E-E0C7-AAEE49B683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BF3F1-FFF5-3FFB-FE35-61DD7C204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C8673F-4BB9-40CE-B7C3-46910F64F9F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90181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03D96-933F-B13E-E0F3-0DB030CCDA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000" b="1" dirty="0"/>
              <a:t>Testing the Role of Context-Dependency in Accounting for the Heterogeneity of Effect Sizes in Replication Studies</a:t>
            </a:r>
            <a:endParaRPr lang="en-DE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B36B25-DD90-4638-9972-F40FF62146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Mario Gollwitzer</a:t>
            </a:r>
          </a:p>
          <a:p>
            <a:r>
              <a:rPr lang="en-US" dirty="0"/>
              <a:t>Amelia Zein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973324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C0573-888D-0F0B-C087-455F2D912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1362A-9068-93BD-A56C-C1744BAF8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Replication studies often yield heterogenous effect sizes (ES), despite the results (success/failure), even after accounting for sampling variability </a:t>
            </a:r>
            <a:r>
              <a:rPr lang="en-US" sz="1800" dirty="0"/>
              <a:t>(Schauer &amp; Hedges, 2020)</a:t>
            </a:r>
            <a:r>
              <a:rPr lang="en-US" dirty="0"/>
              <a:t>.</a:t>
            </a:r>
          </a:p>
          <a:p>
            <a:r>
              <a:rPr lang="en-US" dirty="0"/>
              <a:t>Two explanations of why ES heterogeneity persists:</a:t>
            </a:r>
          </a:p>
          <a:p>
            <a:pPr marL="457200" lvl="1" indent="0">
              <a:buNone/>
            </a:pPr>
            <a:r>
              <a:rPr lang="en-US" dirty="0"/>
              <a:t>(1)</a:t>
            </a:r>
            <a:r>
              <a:rPr lang="en-US" b="1" dirty="0"/>
              <a:t> False</a:t>
            </a:r>
            <a:r>
              <a:rPr lang="en-US" dirty="0"/>
              <a:t> </a:t>
            </a:r>
            <a:r>
              <a:rPr lang="en-US" b="1" dirty="0"/>
              <a:t>positive</a:t>
            </a:r>
            <a:r>
              <a:rPr lang="en-US" dirty="0"/>
              <a:t>, ES never existed in the first place </a:t>
            </a:r>
            <a:r>
              <a:rPr lang="en-US" sz="1800" dirty="0"/>
              <a:t>(John et al., 2012; Simmons et al., 2011; Vadillo et al., 2016; </a:t>
            </a:r>
            <a:r>
              <a:rPr lang="en-US" sz="1800" dirty="0" err="1"/>
              <a:t>Inzlicht</a:t>
            </a:r>
            <a:r>
              <a:rPr lang="en-US" sz="1800" dirty="0"/>
              <a:t> et al., 2015)</a:t>
            </a:r>
            <a:r>
              <a:rPr lang="en-US" dirty="0"/>
              <a:t>.</a:t>
            </a:r>
          </a:p>
          <a:p>
            <a:pPr marL="457200" lvl="1" indent="0">
              <a:buNone/>
            </a:pPr>
            <a:r>
              <a:rPr lang="en-US" dirty="0"/>
              <a:t>(2) ES </a:t>
            </a:r>
            <a:r>
              <a:rPr lang="en-US" i="1" dirty="0"/>
              <a:t>does </a:t>
            </a:r>
            <a:r>
              <a:rPr lang="en-US" dirty="0"/>
              <a:t>exist, but only within </a:t>
            </a:r>
            <a:r>
              <a:rPr lang="en-US" b="1" dirty="0"/>
              <a:t>a specific context</a:t>
            </a:r>
            <a:r>
              <a:rPr lang="en-US" dirty="0"/>
              <a:t> in which it was detected </a:t>
            </a:r>
            <a:r>
              <a:rPr lang="en-US" sz="1600" dirty="0"/>
              <a:t>(Gergen, 1973; Van Bavel et al., 2016; Gelman, 2013, 2018).</a:t>
            </a:r>
            <a:endParaRPr lang="en-US" dirty="0"/>
          </a:p>
          <a:p>
            <a:r>
              <a:rPr lang="en-US" dirty="0"/>
              <a:t>This mini-project scrutinizes the second possibility.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672114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49AC-1BFD-1467-5BD9-890DBD9E0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Gollwitzer &amp; Schwabe (2022)’s Framework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37AF5-99F4-CA46-5A58-F6742CAC5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7499"/>
            <a:ext cx="10515600" cy="4905376"/>
          </a:xfrm>
        </p:spPr>
        <p:txBody>
          <a:bodyPr>
            <a:normAutofit/>
          </a:bodyPr>
          <a:lstStyle/>
          <a:p>
            <a:r>
              <a:rPr lang="en-US" dirty="0"/>
              <a:t>Context that affects the heterogeneity of ES in rep studies (</a:t>
            </a:r>
            <a:r>
              <a:rPr lang="en-US" i="1" dirty="0"/>
              <a:t>a</a:t>
            </a:r>
            <a:r>
              <a:rPr lang="en-US" dirty="0"/>
              <a:t>) can be </a:t>
            </a:r>
            <a:r>
              <a:rPr lang="en-US" i="1" dirty="0"/>
              <a:t>conceptually-relevant </a:t>
            </a:r>
            <a:r>
              <a:rPr lang="en-US" dirty="0"/>
              <a:t>or </a:t>
            </a:r>
            <a:r>
              <a:rPr lang="en-US" i="1" dirty="0"/>
              <a:t>irrelevant.</a:t>
            </a:r>
          </a:p>
          <a:p>
            <a:r>
              <a:rPr lang="en-US" b="1" i="1" dirty="0"/>
              <a:t>Conceptually-relevant</a:t>
            </a:r>
            <a:r>
              <a:rPr lang="en-US" dirty="0"/>
              <a:t> context (</a:t>
            </a:r>
            <a:r>
              <a:rPr lang="en-US" i="1" dirty="0"/>
              <a:t>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Boundary conditions of the theory that should be explicitly modeled/specified as qualifiers (e.g., “</a:t>
            </a:r>
            <a:r>
              <a:rPr lang="en-US" i="1" dirty="0"/>
              <a:t>people with high SES justify social systems more than those with lower SES</a:t>
            </a:r>
            <a:r>
              <a:rPr lang="en-US" dirty="0"/>
              <a:t>”).</a:t>
            </a:r>
          </a:p>
          <a:p>
            <a:r>
              <a:rPr lang="en-US" b="1" i="1" dirty="0"/>
              <a:t>Conceptually-irrelevant</a:t>
            </a:r>
            <a:r>
              <a:rPr lang="en-US" dirty="0"/>
              <a:t> context</a:t>
            </a:r>
          </a:p>
          <a:p>
            <a:pPr lvl="1"/>
            <a:r>
              <a:rPr lang="en-US" dirty="0"/>
              <a:t>Related to the </a:t>
            </a:r>
            <a:r>
              <a:rPr lang="en-US" i="1" dirty="0"/>
              <a:t>construct validity</a:t>
            </a:r>
            <a:r>
              <a:rPr lang="en-US" dirty="0"/>
              <a:t> of the iv and dv.</a:t>
            </a:r>
          </a:p>
          <a:p>
            <a:pPr lvl="1"/>
            <a:r>
              <a:rPr lang="en-US" b="1" dirty="0"/>
              <a:t>Experimental manipulation</a:t>
            </a:r>
            <a:r>
              <a:rPr lang="en-US" dirty="0"/>
              <a:t> (iv) may have worked differently (</a:t>
            </a:r>
            <a:r>
              <a:rPr lang="en-US" i="1" dirty="0"/>
              <a:t>b</a:t>
            </a:r>
            <a:r>
              <a:rPr lang="en-US" dirty="0"/>
              <a:t>).</a:t>
            </a:r>
          </a:p>
          <a:p>
            <a:pPr lvl="1"/>
            <a:r>
              <a:rPr lang="en-US" b="1" dirty="0"/>
              <a:t>The dv measures</a:t>
            </a:r>
            <a:r>
              <a:rPr lang="en-US" dirty="0"/>
              <a:t> may have been </a:t>
            </a:r>
            <a:r>
              <a:rPr lang="en-US" b="1" dirty="0"/>
              <a:t>non-invariant</a:t>
            </a:r>
            <a:r>
              <a:rPr lang="en-US" dirty="0"/>
              <a:t> (</a:t>
            </a:r>
            <a:r>
              <a:rPr lang="en-US" i="1" dirty="0"/>
              <a:t>d</a:t>
            </a:r>
            <a:r>
              <a:rPr lang="en-US" dirty="0"/>
              <a:t>).</a:t>
            </a:r>
          </a:p>
          <a:p>
            <a:pPr lvl="1"/>
            <a:r>
              <a:rPr lang="en-US" b="1" dirty="0"/>
              <a:t>Measurement errors</a:t>
            </a:r>
            <a:r>
              <a:rPr lang="en-US" dirty="0"/>
              <a:t> in the dv measures may have been also different (</a:t>
            </a:r>
            <a:r>
              <a:rPr lang="en-US" i="1" dirty="0"/>
              <a:t>e</a:t>
            </a:r>
            <a:r>
              <a:rPr lang="en-US" dirty="0"/>
              <a:t>).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558637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DE753-556E-4AEB-9DD2-694D0EFC0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225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To what extent do </a:t>
            </a:r>
            <a:r>
              <a:rPr lang="en-US" b="1" i="1" dirty="0"/>
              <a:t>conceptually-relevant</a:t>
            </a:r>
            <a:r>
              <a:rPr lang="en-US" dirty="0"/>
              <a:t> and </a:t>
            </a:r>
            <a:r>
              <a:rPr lang="en-US" b="1" i="1" dirty="0"/>
              <a:t>conceptually-irrelevant</a:t>
            </a:r>
            <a:r>
              <a:rPr lang="en-US" dirty="0"/>
              <a:t> context explain away the </a:t>
            </a:r>
            <a:r>
              <a:rPr lang="en-US" b="1" i="1" dirty="0"/>
              <a:t>heterogeneity of ES </a:t>
            </a:r>
            <a:r>
              <a:rPr lang="en-US" dirty="0"/>
              <a:t>in (multi-sites) replication studies?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035246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0C4E2-D862-2194-7C01-15A8C7071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challenges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95BE6-DC94-1108-0BE4-903E27E7B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83112"/>
            <a:ext cx="10820400" cy="4803775"/>
          </a:xfrm>
        </p:spPr>
        <p:txBody>
          <a:bodyPr>
            <a:normAutofit/>
          </a:bodyPr>
          <a:lstStyle/>
          <a:p>
            <a:r>
              <a:rPr lang="en-US" dirty="0"/>
              <a:t>To address this questions, we reanalyzed past multi-sites replication studies, and thus we needed…</a:t>
            </a:r>
          </a:p>
          <a:p>
            <a:pPr lvl="1"/>
            <a:r>
              <a:rPr lang="en-US" dirty="0"/>
              <a:t>Two points of comparison, ideally between the original study and a (multi-site) replication study.</a:t>
            </a:r>
          </a:p>
          <a:p>
            <a:pPr lvl="1"/>
            <a:r>
              <a:rPr lang="en-US" dirty="0"/>
              <a:t>To identify past replication studies that used </a:t>
            </a:r>
            <a:r>
              <a:rPr lang="en-US" b="1" i="1" dirty="0"/>
              <a:t>both</a:t>
            </a:r>
            <a:r>
              <a:rPr lang="en-US" dirty="0"/>
              <a:t> </a:t>
            </a:r>
            <a:r>
              <a:rPr lang="en-US" i="1" dirty="0"/>
              <a:t>manipulation check </a:t>
            </a:r>
            <a:r>
              <a:rPr lang="en-US" dirty="0"/>
              <a:t>(</a:t>
            </a:r>
            <a:r>
              <a:rPr lang="en-US" i="1" dirty="0"/>
              <a:t>b</a:t>
            </a:r>
            <a:r>
              <a:rPr lang="en-US" dirty="0"/>
              <a:t>) and </a:t>
            </a:r>
            <a:r>
              <a:rPr lang="en-US" i="1" dirty="0"/>
              <a:t>item-based dv measures</a:t>
            </a:r>
            <a:r>
              <a:rPr lang="en-US" dirty="0"/>
              <a:t> (</a:t>
            </a:r>
            <a:r>
              <a:rPr lang="en-US" i="1" dirty="0"/>
              <a:t>d </a:t>
            </a:r>
            <a:r>
              <a:rPr lang="en-US" dirty="0"/>
              <a:t>and </a:t>
            </a:r>
            <a:r>
              <a:rPr lang="en-US" i="1" dirty="0"/>
              <a:t>e</a:t>
            </a:r>
            <a:r>
              <a:rPr lang="en-US" dirty="0"/>
              <a:t>).</a:t>
            </a:r>
          </a:p>
          <a:p>
            <a:r>
              <a:rPr lang="en-US" dirty="0"/>
              <a:t>Technical problems: the replication packages are sometimes challenging/takes time to understand.</a:t>
            </a:r>
          </a:p>
          <a:p>
            <a:pPr lvl="1"/>
            <a:r>
              <a:rPr lang="en-US" dirty="0"/>
              <a:t>Codebook is unclear</a:t>
            </a:r>
          </a:p>
          <a:p>
            <a:pPr lvl="1"/>
            <a:r>
              <a:rPr lang="en-US" dirty="0"/>
              <a:t>Analysis pipeline is rather “cryptic”</a:t>
            </a:r>
          </a:p>
          <a:p>
            <a:pPr lvl="1"/>
            <a:r>
              <a:rPr lang="en-US" dirty="0"/>
              <a:t>Inconsistencies between reported and reproduced analysis (but minor and is solvable)</a:t>
            </a:r>
          </a:p>
        </p:txBody>
      </p:sp>
    </p:spTree>
    <p:extLst>
      <p:ext uri="{BB962C8B-B14F-4D97-AF65-F5344CB8AC3E}">
        <p14:creationId xmlns:p14="http://schemas.microsoft.com/office/powerpoint/2010/main" val="1717672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70D66-5135-9FC5-2B59-21965ABF4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did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FAE1D-C4A3-9838-19E9-2117C93B7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27585"/>
            <a:ext cx="10823089" cy="4965289"/>
          </a:xfrm>
        </p:spPr>
        <p:txBody>
          <a:bodyPr/>
          <a:lstStyle/>
          <a:p>
            <a:r>
              <a:rPr lang="en-US" dirty="0"/>
              <a:t>Identified past multi-site replication studies that have </a:t>
            </a:r>
            <a:r>
              <a:rPr lang="en-US" b="1" i="1" dirty="0"/>
              <a:t>both</a:t>
            </a:r>
            <a:r>
              <a:rPr lang="en-US" i="1" dirty="0"/>
              <a:t> </a:t>
            </a:r>
            <a:r>
              <a:rPr lang="en-US" dirty="0"/>
              <a:t>manipulation checks (</a:t>
            </a:r>
            <a:r>
              <a:rPr lang="en-US" i="1" dirty="0"/>
              <a:t>b</a:t>
            </a:r>
            <a:r>
              <a:rPr lang="en-US" dirty="0"/>
              <a:t>) and item-based measures (</a:t>
            </a:r>
            <a:r>
              <a:rPr lang="en-US" i="1" dirty="0"/>
              <a:t>d </a:t>
            </a:r>
            <a:r>
              <a:rPr lang="en-US" dirty="0"/>
              <a:t>and </a:t>
            </a:r>
            <a:r>
              <a:rPr lang="en-US" i="1" dirty="0"/>
              <a:t>e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We recently also looked at FORRT Replication database (</a:t>
            </a:r>
            <a:r>
              <a:rPr lang="en-US" dirty="0" err="1"/>
              <a:t>FReD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Our best candidates are ES tested in </a:t>
            </a:r>
            <a:r>
              <a:rPr lang="en-US" b="1" dirty="0"/>
              <a:t>RP:P</a:t>
            </a:r>
            <a:r>
              <a:rPr lang="en-US" dirty="0"/>
              <a:t> and </a:t>
            </a:r>
            <a:r>
              <a:rPr lang="en-US" b="1" dirty="0"/>
              <a:t>ML5</a:t>
            </a:r>
            <a:r>
              <a:rPr lang="en-US" dirty="0"/>
              <a:t>, allowing us to do two points comparison.</a:t>
            </a:r>
          </a:p>
          <a:p>
            <a:r>
              <a:rPr lang="en-US" dirty="0"/>
              <a:t>A meta-regression of the ES in multi-sites replications (ML5), where </a:t>
            </a:r>
            <a:r>
              <a:rPr lang="en-US" b="1" i="1" dirty="0"/>
              <a:t>conceptually irrelevant context</a:t>
            </a:r>
            <a:r>
              <a:rPr lang="en-US" i="1" dirty="0"/>
              <a:t> </a:t>
            </a:r>
            <a:r>
              <a:rPr lang="en-US" dirty="0"/>
              <a:t>(</a:t>
            </a:r>
            <a:r>
              <a:rPr lang="en-US" i="1" dirty="0"/>
              <a:t>b</a:t>
            </a:r>
            <a:r>
              <a:rPr lang="en-US" dirty="0"/>
              <a:t>, </a:t>
            </a:r>
            <a:r>
              <a:rPr lang="en-US" i="1" dirty="0"/>
              <a:t>d, </a:t>
            </a:r>
            <a:r>
              <a:rPr lang="en-US" dirty="0"/>
              <a:t>and </a:t>
            </a:r>
            <a:r>
              <a:rPr lang="en-US" i="1" dirty="0"/>
              <a:t>e</a:t>
            </a:r>
            <a:r>
              <a:rPr lang="en-US" dirty="0"/>
              <a:t>) and </a:t>
            </a:r>
            <a:r>
              <a:rPr lang="en-US" b="1" i="1" dirty="0"/>
              <a:t>conceptually relevant</a:t>
            </a:r>
            <a:r>
              <a:rPr lang="en-US" dirty="0"/>
              <a:t> context (</a:t>
            </a:r>
            <a:r>
              <a:rPr lang="en-US" i="1" dirty="0"/>
              <a:t>c</a:t>
            </a:r>
            <a:r>
              <a:rPr lang="en-US" dirty="0"/>
              <a:t>, if any) were specified as moderators. </a:t>
            </a:r>
          </a:p>
          <a:p>
            <a:pPr lvl="1"/>
            <a:r>
              <a:rPr lang="en-US" i="1" dirty="0"/>
              <a:t>b </a:t>
            </a:r>
            <a:r>
              <a:rPr lang="en-US" dirty="0"/>
              <a:t>= absolute diff of manipulation effectiveness </a:t>
            </a:r>
          </a:p>
          <a:p>
            <a:pPr lvl="1"/>
            <a:r>
              <a:rPr lang="en-US" i="1" dirty="0"/>
              <a:t>d </a:t>
            </a:r>
            <a:r>
              <a:rPr lang="en-US" dirty="0"/>
              <a:t>= expected test score standardized difference (ETSSD) from DIF analysis</a:t>
            </a:r>
          </a:p>
          <a:p>
            <a:pPr lvl="1"/>
            <a:r>
              <a:rPr lang="en-US" i="1" dirty="0"/>
              <a:t>e</a:t>
            </a:r>
            <a:r>
              <a:rPr lang="en-US" dirty="0"/>
              <a:t> = absolute diff of marginal reliability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37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2738C-34C5-7DD6-FF4A-ECD0F3AD5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Reanalysis of </a:t>
            </a:r>
            <a:r>
              <a:rPr lang="en-US" dirty="0" err="1"/>
              <a:t>Shnabel</a:t>
            </a:r>
            <a:r>
              <a:rPr lang="en-US" dirty="0"/>
              <a:t> &amp; Nadler’s (2008)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D17F9-A6A3-AC3C-B107-6B951E878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5029835"/>
          </a:xfrm>
        </p:spPr>
        <p:txBody>
          <a:bodyPr>
            <a:normAutofit fontScale="92500" lnSpcReduction="10000"/>
          </a:bodyPr>
          <a:lstStyle/>
          <a:p>
            <a:pPr marL="457200" lvl="1" indent="0" algn="ctr">
              <a:buNone/>
            </a:pPr>
            <a:r>
              <a:rPr lang="en-US" b="1" i="1" dirty="0"/>
              <a:t>“</a:t>
            </a:r>
            <a:r>
              <a:rPr lang="en-DE" altLang="en-DE" b="1" i="1" dirty="0">
                <a:latin typeface="Arial" panose="020B0604020202020204" pitchFamily="34" charset="0"/>
              </a:rPr>
              <a:t>Victims are more likely to reconcile if they feel empowered, while perpetrators are more likely to do so if they feel accepted</a:t>
            </a:r>
            <a:r>
              <a:rPr lang="en-US" b="1" i="1" dirty="0"/>
              <a:t>”</a:t>
            </a:r>
          </a:p>
          <a:p>
            <a:pPr marL="457200" lvl="1" indent="0">
              <a:buNone/>
            </a:pPr>
            <a:endParaRPr lang="en-US" b="1" i="1" dirty="0"/>
          </a:p>
          <a:p>
            <a:r>
              <a:rPr lang="en-US" dirty="0"/>
              <a:t>The only replication package that gives us everything we wanted.</a:t>
            </a:r>
          </a:p>
          <a:p>
            <a:pPr lvl="1"/>
            <a:r>
              <a:rPr lang="en-US" dirty="0"/>
              <a:t>Manipulation checks (2 items) are there for calculating </a:t>
            </a:r>
            <a:r>
              <a:rPr lang="en-US" i="1" dirty="0"/>
              <a:t>b.</a:t>
            </a:r>
          </a:p>
          <a:p>
            <a:pPr lvl="1"/>
            <a:r>
              <a:rPr lang="en-US" dirty="0"/>
              <a:t>Item-based dv measure (</a:t>
            </a:r>
            <a:r>
              <a:rPr lang="en-US" i="1" dirty="0"/>
              <a:t>willingness to </a:t>
            </a:r>
            <a:r>
              <a:rPr lang="en-US" dirty="0"/>
              <a:t>reconcile, 10 items) fits well for calculating </a:t>
            </a:r>
            <a:r>
              <a:rPr lang="en-US" i="1" dirty="0"/>
              <a:t>d</a:t>
            </a:r>
            <a:r>
              <a:rPr lang="en-US" dirty="0"/>
              <a:t> and </a:t>
            </a:r>
            <a:r>
              <a:rPr lang="en-US" i="1" dirty="0"/>
              <a:t>e.</a:t>
            </a:r>
            <a:endParaRPr lang="en-US" dirty="0"/>
          </a:p>
          <a:p>
            <a:r>
              <a:rPr lang="en-US" dirty="0"/>
              <a:t>We compared RP:P and ML5</a:t>
            </a:r>
          </a:p>
          <a:p>
            <a:pPr lvl="1"/>
            <a:r>
              <a:rPr lang="en-US" dirty="0"/>
              <a:t>RP:P – replication was conducted in one site, using the original vignette.</a:t>
            </a:r>
          </a:p>
          <a:p>
            <a:pPr lvl="1"/>
            <a:r>
              <a:rPr lang="en-US" dirty="0"/>
              <a:t>ML5 – 8 sites, all US unis, tested two protocols – the original vs. modified vignette.</a:t>
            </a:r>
          </a:p>
          <a:p>
            <a:pPr lvl="1"/>
            <a:r>
              <a:rPr lang="en-US" i="1" dirty="0"/>
              <a:t>Protocol types</a:t>
            </a:r>
            <a:r>
              <a:rPr lang="en-US" dirty="0"/>
              <a:t> here is used as conceptually-relevant context (</a:t>
            </a:r>
            <a:r>
              <a:rPr lang="en-US" i="1" dirty="0"/>
              <a:t>c</a:t>
            </a:r>
            <a:r>
              <a:rPr lang="en-US" dirty="0"/>
              <a:t>).</a:t>
            </a:r>
            <a:endParaRPr lang="en-US" i="1" dirty="0"/>
          </a:p>
          <a:p>
            <a:r>
              <a:rPr lang="en-US" dirty="0"/>
              <a:t>We decomposed the interaction effect into two contrasts: effects for victims and effects for perpetrators.</a:t>
            </a: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64601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4DDCD-9F71-6E9E-786D-FA26F9499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DE" dirty="0"/>
          </a:p>
        </p:txBody>
      </p:sp>
      <p:pic>
        <p:nvPicPr>
          <p:cNvPr id="5" name="Content Placeholder 4" descr="A graph of a graph with black and white lines&#10;&#10;AI-generated content may be incorrect.">
            <a:extLst>
              <a:ext uri="{FF2B5EF4-FFF2-40B4-BE49-F238E27FC236}">
                <a16:creationId xmlns:a16="http://schemas.microsoft.com/office/drawing/2014/main" id="{021BDC9E-8D41-1107-DDBD-19608F9042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336" y="1363046"/>
            <a:ext cx="8120340" cy="455366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825E5D-56E6-4016-FED7-9426B50752BC}"/>
              </a:ext>
            </a:extLst>
          </p:cNvPr>
          <p:cNvSpPr txBox="1"/>
          <p:nvPr/>
        </p:nvSpPr>
        <p:spPr>
          <a:xfrm>
            <a:off x="8893995" y="1768029"/>
            <a:ext cx="295660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Heterogeneity was low </a:t>
            </a:r>
          </a:p>
          <a:p>
            <a:r>
              <a:rPr lang="en-US" dirty="0"/>
              <a:t>(</a:t>
            </a:r>
            <a:r>
              <a:rPr lang="en-US" i="1" dirty="0"/>
              <a:t>I</a:t>
            </a:r>
            <a:r>
              <a:rPr lang="en-US" baseline="30000" dirty="0"/>
              <a:t>2</a:t>
            </a:r>
            <a:r>
              <a:rPr lang="en-US" dirty="0"/>
              <a:t> = 5.15%). </a:t>
            </a:r>
          </a:p>
          <a:p>
            <a:endParaRPr lang="en-US" dirty="0"/>
          </a:p>
          <a:p>
            <a:r>
              <a:rPr lang="en-US" dirty="0"/>
              <a:t>Conceptually-relevant (protocol types) and conceptually-irrelevant context (</a:t>
            </a:r>
            <a:r>
              <a:rPr lang="en-US" i="1" dirty="0"/>
              <a:t>b, d</a:t>
            </a:r>
            <a:r>
              <a:rPr lang="en-US" dirty="0"/>
              <a:t> and </a:t>
            </a:r>
            <a:r>
              <a:rPr lang="en-US" i="1" dirty="0"/>
              <a:t>e</a:t>
            </a:r>
            <a:r>
              <a:rPr lang="en-US" dirty="0"/>
              <a:t>) failed to explain ES heterogeneity.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0842F5-D7E8-6F17-F1D9-B776456E42D2}"/>
              </a:ext>
            </a:extLst>
          </p:cNvPr>
          <p:cNvSpPr txBox="1"/>
          <p:nvPr/>
        </p:nvSpPr>
        <p:spPr>
          <a:xfrm>
            <a:off x="8893995" y="4377553"/>
            <a:ext cx="29566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DE" dirty="0">
                <a:solidFill>
                  <a:srgbClr val="FF0000"/>
                </a:solidFill>
              </a:rPr>
              <a:t>he </a:t>
            </a:r>
            <a:r>
              <a:rPr lang="en-DE" b="1" i="1" dirty="0">
                <a:solidFill>
                  <a:srgbClr val="FF0000"/>
                </a:solidFill>
              </a:rPr>
              <a:t>victims</a:t>
            </a:r>
            <a:r>
              <a:rPr lang="en-DE" dirty="0">
                <a:solidFill>
                  <a:srgbClr val="FF0000"/>
                </a:solidFill>
              </a:rPr>
              <a:t> </a:t>
            </a:r>
            <a:r>
              <a:rPr lang="en-DE" b="1" i="1" dirty="0">
                <a:solidFill>
                  <a:srgbClr val="FF0000"/>
                </a:solidFill>
              </a:rPr>
              <a:t>effect failed to replicate </a:t>
            </a:r>
            <a:r>
              <a:rPr lang="en-DE" dirty="0">
                <a:solidFill>
                  <a:srgbClr val="FF0000"/>
                </a:solidFill>
              </a:rPr>
              <a:t>regardless of context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8289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BC94D-CF37-A54F-88B8-801AB10B1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DE" dirty="0"/>
          </a:p>
        </p:txBody>
      </p:sp>
      <p:pic>
        <p:nvPicPr>
          <p:cNvPr id="5" name="Content Placeholder 4" descr="A graph of a graph with black and white text&#10;&#10;AI-generated content may be incorrect.">
            <a:extLst>
              <a:ext uri="{FF2B5EF4-FFF2-40B4-BE49-F238E27FC236}">
                <a16:creationId xmlns:a16="http://schemas.microsoft.com/office/drawing/2014/main" id="{36507A2C-3E80-EBA5-65E9-1AA82694B3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50839"/>
            <a:ext cx="7556351" cy="457205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346A42-3F60-9562-F72F-4FB66A037C0D}"/>
              </a:ext>
            </a:extLst>
          </p:cNvPr>
          <p:cNvSpPr txBox="1"/>
          <p:nvPr/>
        </p:nvSpPr>
        <p:spPr>
          <a:xfrm>
            <a:off x="8474446" y="2047728"/>
            <a:ext cx="317608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Heterogeneity was moderate (</a:t>
            </a:r>
            <a:r>
              <a:rPr lang="en-US" i="1" dirty="0"/>
              <a:t>I</a:t>
            </a:r>
            <a:r>
              <a:rPr lang="en-US" baseline="30000" dirty="0"/>
              <a:t>2</a:t>
            </a:r>
            <a:r>
              <a:rPr lang="en-US" dirty="0"/>
              <a:t> = 25.67%). </a:t>
            </a:r>
          </a:p>
          <a:p>
            <a:endParaRPr lang="en-US" dirty="0"/>
          </a:p>
          <a:p>
            <a:r>
              <a:rPr lang="en-US" dirty="0"/>
              <a:t>Conceptually-irrelevant context (</a:t>
            </a:r>
            <a:r>
              <a:rPr lang="en-US" i="1" dirty="0"/>
              <a:t>b, d</a:t>
            </a:r>
            <a:r>
              <a:rPr lang="en-US" dirty="0"/>
              <a:t> and </a:t>
            </a:r>
            <a:r>
              <a:rPr lang="en-US" i="1" dirty="0"/>
              <a:t>e</a:t>
            </a:r>
            <a:r>
              <a:rPr lang="en-US" dirty="0"/>
              <a:t>) failed to explain ES heterogeneity, </a:t>
            </a:r>
            <a:r>
              <a:rPr lang="en-US" b="1" i="1" dirty="0"/>
              <a:t>but</a:t>
            </a:r>
            <a:r>
              <a:rPr lang="en-US" dirty="0"/>
              <a:t> </a:t>
            </a:r>
            <a:r>
              <a:rPr lang="en-US" b="1" i="1" dirty="0"/>
              <a:t>protocol types </a:t>
            </a:r>
            <a:r>
              <a:rPr lang="en-US" dirty="0"/>
              <a:t>significantly moderated the ES (</a:t>
            </a:r>
            <a:r>
              <a:rPr lang="en-US" i="1" dirty="0"/>
              <a:t>B</a:t>
            </a:r>
            <a:r>
              <a:rPr lang="en-US" dirty="0"/>
              <a:t> = 0.32, </a:t>
            </a:r>
            <a:r>
              <a:rPr lang="en-US" i="1" dirty="0"/>
              <a:t>p</a:t>
            </a:r>
            <a:r>
              <a:rPr lang="en-US" dirty="0"/>
              <a:t> = .002) and explained the heterogeneity entirely (</a:t>
            </a:r>
            <a:r>
              <a:rPr lang="en-US" i="1" dirty="0"/>
              <a:t>R</a:t>
            </a:r>
            <a:r>
              <a:rPr lang="en-US" baseline="30000" dirty="0"/>
              <a:t>2</a:t>
            </a:r>
            <a:r>
              <a:rPr lang="en-US" dirty="0"/>
              <a:t> = 100%).</a:t>
            </a:r>
          </a:p>
        </p:txBody>
      </p:sp>
    </p:spTree>
    <p:extLst>
      <p:ext uri="{BB962C8B-B14F-4D97-AF65-F5344CB8AC3E}">
        <p14:creationId xmlns:p14="http://schemas.microsoft.com/office/powerpoint/2010/main" val="959102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F028B-47F2-AB08-242D-D0D87AA0E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DE" dirty="0"/>
          </a:p>
        </p:txBody>
      </p:sp>
      <p:pic>
        <p:nvPicPr>
          <p:cNvPr id="5" name="Content Placeholder 4" descr="A graph with lines and dots&#10;&#10;AI-generated content may be incorrect.">
            <a:extLst>
              <a:ext uri="{FF2B5EF4-FFF2-40B4-BE49-F238E27FC236}">
                <a16:creationId xmlns:a16="http://schemas.microsoft.com/office/drawing/2014/main" id="{2153F46A-0C9C-92CA-920B-D84C4621F0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75" y="1481381"/>
            <a:ext cx="8585499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B30134-770E-ECEB-8F28-9CA7E5E709C8}"/>
              </a:ext>
            </a:extLst>
          </p:cNvPr>
          <p:cNvSpPr txBox="1"/>
          <p:nvPr/>
        </p:nvSpPr>
        <p:spPr>
          <a:xfrm>
            <a:off x="9048307" y="2307891"/>
            <a:ext cx="28326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ML5 samples that used </a:t>
            </a:r>
            <a:r>
              <a:rPr lang="en-US" b="1" dirty="0">
                <a:solidFill>
                  <a:srgbClr val="FF0000"/>
                </a:solidFill>
              </a:rPr>
              <a:t>original protocol</a:t>
            </a:r>
            <a:r>
              <a:rPr lang="en-US" dirty="0"/>
              <a:t> led to more random ES, while the ES from </a:t>
            </a:r>
            <a:r>
              <a:rPr lang="en-US" b="1" dirty="0">
                <a:solidFill>
                  <a:srgbClr val="002060"/>
                </a:solidFill>
              </a:rPr>
              <a:t>revised protocol</a:t>
            </a:r>
            <a:r>
              <a:rPr lang="en-US" dirty="0"/>
              <a:t> were consistently positive.</a:t>
            </a:r>
            <a:endParaRPr lang="en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993269-7B19-1553-284E-FFF95D521AD9}"/>
              </a:ext>
            </a:extLst>
          </p:cNvPr>
          <p:cNvSpPr txBox="1"/>
          <p:nvPr/>
        </p:nvSpPr>
        <p:spPr>
          <a:xfrm>
            <a:off x="9048307" y="3913407"/>
            <a:ext cx="28326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</a:t>
            </a:r>
            <a:r>
              <a:rPr lang="en-DE" b="1" dirty="0">
                <a:solidFill>
                  <a:srgbClr val="FF0000"/>
                </a:solidFill>
              </a:rPr>
              <a:t>he perpetrator effect replicated depending on the protocol used</a:t>
            </a:r>
            <a:r>
              <a:rPr lang="en-US" b="1" dirty="0">
                <a:solidFill>
                  <a:srgbClr val="FF0000"/>
                </a:solidFill>
              </a:rPr>
              <a:t>.</a:t>
            </a:r>
            <a:endParaRPr lang="en-DE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28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90660-4057-04E8-0D54-AC6A63D27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 and what’s next?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25370-335D-5DEF-E4F0-611FB2A7A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didn’t find evidence that </a:t>
            </a:r>
            <a:r>
              <a:rPr lang="en-US" i="1" dirty="0"/>
              <a:t>conceptually-irrelevant</a:t>
            </a:r>
            <a:r>
              <a:rPr lang="en-US" dirty="0"/>
              <a:t> context (</a:t>
            </a:r>
            <a:r>
              <a:rPr lang="en-US" i="1" dirty="0"/>
              <a:t>b, d</a:t>
            </a:r>
            <a:r>
              <a:rPr lang="en-US" dirty="0"/>
              <a:t> and </a:t>
            </a:r>
            <a:r>
              <a:rPr lang="en-US" i="1" dirty="0"/>
              <a:t>e</a:t>
            </a:r>
            <a:r>
              <a:rPr lang="en-US" dirty="0"/>
              <a:t>) can explain ES heterogeneity.</a:t>
            </a:r>
          </a:p>
          <a:p>
            <a:r>
              <a:rPr lang="en-US" dirty="0"/>
              <a:t>…but find a bit of evidence that conceptually-relevant context (protocol types) did explain ES heterogeneity.</a:t>
            </a:r>
          </a:p>
          <a:p>
            <a:pPr lvl="1"/>
            <a:r>
              <a:rPr lang="en-US" dirty="0"/>
              <a:t>Maybe the need of acceptance for perpetrators are more pronounced in certain types of interpersonal (e.g., roommates) relationships but not in others (e.g., professional relationship in a workplace setting)?</a:t>
            </a:r>
          </a:p>
          <a:p>
            <a:r>
              <a:rPr lang="en-US" dirty="0"/>
              <a:t>How do we proceed from here?</a:t>
            </a:r>
          </a:p>
        </p:txBody>
      </p:sp>
    </p:spTree>
    <p:extLst>
      <p:ext uri="{BB962C8B-B14F-4D97-AF65-F5344CB8AC3E}">
        <p14:creationId xmlns:p14="http://schemas.microsoft.com/office/powerpoint/2010/main" val="7086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1228</Words>
  <Application>Microsoft Office PowerPoint</Application>
  <PresentationFormat>Widescreen</PresentationFormat>
  <Paragraphs>83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Testing the Role of Context-Dependency in Accounting for the Heterogeneity of Effect Sizes in Replication Studies</vt:lpstr>
      <vt:lpstr>Background</vt:lpstr>
      <vt:lpstr>Gollwitzer &amp; Schwabe (2022)’s Framework</vt:lpstr>
      <vt:lpstr>To what extent do conceptually-relevant and conceptually-irrelevant context explain away the heterogeneity of ES in (multi-sites) replication studies?</vt:lpstr>
      <vt:lpstr>The challenges</vt:lpstr>
      <vt:lpstr>What we did</vt:lpstr>
      <vt:lpstr>Reanalysis of Shnabel &amp; Nadler’s (2008)</vt:lpstr>
      <vt:lpstr>Results</vt:lpstr>
      <vt:lpstr>Results</vt:lpstr>
      <vt:lpstr>Results</vt:lpstr>
      <vt:lpstr>Takeaways and what’s next?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Amelia Zein</dc:creator>
  <cp:lastModifiedBy>Amelia Zein</cp:lastModifiedBy>
  <cp:revision>84</cp:revision>
  <dcterms:created xsi:type="dcterms:W3CDTF">2026-01-14T06:52:33Z</dcterms:created>
  <dcterms:modified xsi:type="dcterms:W3CDTF">2026-01-15T07:25:12Z</dcterms:modified>
</cp:coreProperties>
</file>